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8c81e89a-fc55-7cb2-6e34-63ac013e6b02}">
          <p14:sldIdLst>
            <p14:sldId id="256"/>
          </p14:sldIdLst>
        </p14:section>
        <p14:section name="Problem Statement" id="{d5ccb034-9065-f390-8e6b-bb2d55f8b711}">
          <p14:sldIdLst>
            <p14:sldId id="257"/>
            <p14:sldId id="258"/>
          </p14:sldIdLst>
        </p14:section>
        <p14:section name="Proposed Solution" id="{84081da4-9abd-c47f-4411-36f7d2f73b98}">
          <p14:sldIdLst>
            <p14:sldId id="259"/>
            <p14:sldId id="260"/>
            <p14:sldId id="261"/>
            <p14:sldId id="262"/>
          </p14:sldIdLst>
        </p14:section>
        <p14:section name="Technology / Tech Stack" id="{9a78d142-f870-16ff-1826-1514efe5b176}">
          <p14:sldIdLst>
            <p14:sldId id="263"/>
          </p14:sldIdLst>
        </p14:section>
        <p14:section name="USP" id="{72afe650-131d-0ace-5703-f5ea16892b5e}">
          <p14:sldIdLst>
            <p14:sldId id="264"/>
            <p14:sldId id="265"/>
            <p14:sldId id="266"/>
          </p14:sldIdLst>
        </p14:section>
        <p14:section name="Impact &amp; Benefits" id="{0ce2509f-7a12-438c-10bd-cc38b7d7d80d}">
          <p14:sldIdLst>
            <p14:sldId id="267"/>
          </p14:sldIdLst>
        </p14:section>
        <p14:section name="Business Model" id="{f7b03933-4767-cac2-2e56-aee7eaa64a15}">
          <p14:sldIdLst>
            <p14:sldId id="268"/>
          </p14:sldIdLst>
        </p14:section>
        <p14:section name="Roadmap &amp; Ask" id="{6c7cf144-69b3-d96c-c325-66efaf46b08a}">
          <p14:sldIdLst>
            <p14:sldId id="269"/>
          </p14:sldIdLst>
        </p14:section>
        <p14:section name="Close" id="{220536b2-9141-d37d-b6ad-0b0099cd0671}">
          <p14:sldIdLst>
            <p14:sldId id="270"/>
          </p14:sldIdLst>
        </p14:section>
        <p14:section name="Appendix" id="{8d719554-be34-2df0-845a-de54645c1db4}">
          <p14:sldIdLst>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(15s): "Every day a shop owner looks at their payments and asks one question: what should I do about this? DukaanPulse AI answers that question with evidence — and leaves the decision with the merchant."
QUALIFY: Say early and plainly that this runs on synthetic data for a fictional bakery and is not connected to Paytm.
TRANSITION: "Let me show you the decision our bakery is facing."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(30s): "Sunrise Bakery is our fictional merchant. Revenue is down 13 percent in a month, and mornings are down almost 22 percent. Thirty-four of its 209 regular customers have been away about a month, when they normally come every two to three days. The instinct is a storewide discount. Is that the right call?"
QUALIFY: These are observed figures in SYNTHETIC data (seeded generator, 180 days). Do not imply a real shop.
TRANSITION: "Today a merchant has two kinds of tools for this — and neither answers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(30s): "A dashboard tells the owner revenue fell — then leaves them alone with it. A generic AI chatbot will happily answer, but it can make up a number, mix up which customers it is talking about, or state a cause it cannot know. For money decisions, that is dangerous. DukaanPulse is built to decide safely: it finds who changed, prices every option including doing nothing, checks its own claims, and never acts without the merchant."
QUALIFY: Do not claim competitors lack these features; describe categories of tools, not named products.
TRANSITION: "Here is the whole product on one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(40s): "DukaanPulse is one loop. The merchant asks a question. Specialist AI agents investigate the payment data. The app prices each possible response — including doing nothing. The merchant edits and approves, or walks away. Then we measure against customers who were deliberately held back, and that result feeds the next decision."
QUALIFY: "Measure" is a SIMULATED run in this prototype — no messages are sent.
TRANSITION: "Let me show you this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Ask "Should I give everyone a discount?" in Ask DukaanPulse (local model). While it runs (about 25–45 s), narrate the timeline: plan, parallel specialists, tool calls, Risk Reviewer verdict.
If it passes ~45 s: press Stop, switch to "Rules only" (or the /ask?engine=rules tab) and re-ask — answers are instant and labelled rule-based.
SCRIPT: "I asked whether to discount everyone. Two specialist agents investigated in parallel — you can see every tool they called. The answer is a decision card: what to do, for whom, what it costs, and the alternatives."
QUALIFY: Latency averaged 24.8 s and peaked at 44.3 s in the latest 12-case live run; say it is a local model running on our own hardware.
TRANSITION: "Let us look at the numbers behind that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(45s): "Here is why the answer says target, not blanket. A ₹30 discount for everyone would give away about ₹92,700 a month on orders the bakery gets anyway — and orders would need to grow 27 percent just to break even. Instead: ₹30 off on ₹200 or more, for the 27 regulars who have gone quiet, with 7 held back to measure. Expected cost about ₹213, expected net about ₹1,133, it breaks even if 11 percent come back against an assumed 30 — and it stays positive even if it works half as well."
HOW THE NUMBERS ARE COMPUTED (if asked): ₹92,700 = 3,090 orders (last 30 days, observed) × ₹30, assuming every order redeems (upper bound). Break-even: each extra order earns ₹256 × 55% − ₹30 = ₹110.78; ₹92,700 ÷ ₹110.78 ≈ 837 extra orders = 27.1% of 3,090. Targeted economics: deterministic expected-value model (campaignEconomics) with baseline 10%, uplift +20 pts, redemption 85%, margin 55%, 1 follow-on visit, ₹0.25 per message.
QUALIFY: Different scopes (30-day all orders vs 27 customers / 14 days). These are estimates, not results. Do NOT say "saves ₹92,700".
TRANSITION: "And once the merchant acts, we measure it honestly."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(optional): click "Prepare this as a draft" → "Create draft in Campaign Studio" → tick the simulation acknowledgement → Approve → Run simulation → Skip to the end → View results.
SCRIPT (40s): "When the merchant acts, they approve the exact offer — the message has to state the real terms, and nothing can change after approval. We then run it against customers who were held back. In our rehearsed run, 4 of 27 came back with the offer versus 0 of 7 without — but with groups this small, the app refuses to call that a win. It says: repeat with a larger test, about 62 per group."
QUALIFY: Results are SIMULATED from stated assumptions, not real customers. Rehearsed run: 4/27 vs 0/7, net +₹863 vs +₹1,133 estimated; power ~13%; 62 per group for 80% power.
TRANSITION: "Here is how it works under the hood."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(45s): "Under the hood: an orchestrator plans the investigation and runs only the specialists it needs, in parallel. Specialists cannot compute numbers themselves — they call allowlisted, tested business tools, and every result carries its unit, the customers it describes, its time window and its provenance. Before anything reaches the merchant, an independent Risk Reviewer — pure rules, no model, no tools — checks every claim. The Action Planner can only propose; the merchant creates and approves the campaign."
TECH DETAIL (if asked): custom TypeScript orchestrator; local Qwen 3.6 35B via Ollama behind a two-route server endpoint (status + chat, model fixed server-side); budgets: 2 rounds, 14 tool calls, 12 model calls, 120 s; per-agent fallback to rules.
TRANSITION: "So what makes this different?"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(35s): "What makes DukaanPulse different is not any single feature — it is that the whole loop is checkable. It prices every option before you act, measures against customers who were held back, checks what the AI claims actually mean, binds approval to the exact offer, and runs on a local model with an instant rule-based fallback."
QUALIFY: Do NOT say "unique" or "the only one". If asked about other teams: "Approval gates, evidence lists and rules fallbacks exist in other projects; we have not seen all five combined with holdout measurement and claim-level semantic checks in the public projects we looked at — but we have not seen every team's work."
TRANSITION: "Let me make the trust part concrete."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(40s): "Three design rules. One: numbers only come from tools — agents insert references and the app fills in the figures. Two: claims are checked for meaning, not just for numbers. Here is a real example from our local model: it wrote 209 regular morning customers. The 209 is a real number — but it counts all regulars, not morning ones. Our reviewer catches that kind of mistake and removes it. Three: the merchant stays in control — agents cannot approve, send or pay."
QUALIFY: The semantic checks are deterministic word-level rules over typed evidence — they catch qualifiers next to numbers, windows, direction, evidence type and causation, not every possible misreading. Do not call them perfect.
TRANSITION: "And we test all of this like software that handles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(35s): "We test this like software that handles money: 414 unit tests, 73 browser tests run three times in a row, and a live evaluation where our local model passed 12 of 12 cases with every displayed claim traced to evidence. We also attack it — ten kinds of misleading claims, from wrong customer segments to fake approvals — and all of them are rejected. What this does NOT prove is that the recommendations make real merchants more money. That is the next milestone."
QUALIFY: Counts were re-verified on the current commit before the pitch (see Pitch_Sources_and_Claims.md). The 12/12 live result is on synthetic scenarios.
TRANSITION: "So what is the impact?"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(35s): "The impact we can show today: the merchant avoids a blind storewide discount — ₹30 off for everyone would need 27 percent more orders just to break even — and gets one clear decision with its cost, risk and alternatives. Customers get fewer, more relevant offers: 27 lapsed regulars instead of everyone. For the platform, we expect a weekly reason for merchants to return and a growing record of which offers actually work. What we have not shown yet is revenue impact for real merchants — that is exactly what the pilot is for."
QUALIFY: +27% is an estimate (assumes 55% margin and that every existing order redeems). "Shown" = demonstrated on synthetic data. No revenue, retention or conversion figures for real merchants are claimed.
TRANSITION: "How would this become a business?"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(35s): "Where would this live? Our hypothesis: inside the payment app merchants already use, as a weekly decision — one thing worth doing, with the evidence. We would start with repeat-visit businesses like bakeries and cafés, where regulars drive revenue. How it could earn — and these are options to test, not validated pricing: a free weekly insight that drives engagement, a paid campaign-and-measurement tier, or a fee linked to measured incremental profit. And it is cheap to run, because tested code does the maths and the model only writes the narrative."
QUALIFY: Everything on this slide is a HYPOTHESIS. No market size, pricing, partnership or revenue figure is claimed. The 91% figure is from synthetic data.
TRANSITION: "Which brings me to what we would do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(35s): "Our next milestone is not more features — it is evidence. With consented data from a few repeat-visit merchants, our tools run unchanged. We would run real randomized offers with holdouts, sized properly — about 62 customers per group or more — with the merchant approving every campaign. Then we measure incremental return and margin, and we report no-effect results too. Our ask: a small pilot, guidance on consented data access, and mentors on experiment design."
QUALIFY: Timelines are the team's plan. 62 per group is for the assumed 10%→30% lift at 80% power; smaller real effects need more.
TRANSITION: "To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(15s): "DukaanPulse turns payment signals into decisions a merchant can trust: every number from tested calculations, every claim checked, every action approved by the merchant. Evidence, not guesses. Decisions, not dashboards. Thank you — we would love to show you anything in more depth."
TRANSITION: Open for questions; keep the app on the Ask page with the rules-only tab 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for judges who ask where a figure comes from. Every row maps to code or a rehearsed run in Pitch_Sources_and_Claims.md.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P_TITLE">
    <p:bg>
      <p:bgPr>
        <a:solidFill>
          <a:srgbClr val="0A0F1E"/>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P_CONTENT">
    <p:bg>
      <p:bgPr>
        <a:solidFill>
          <a:srgbClr val="0A0F1E"/>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77240"/>
          </a:xfrm>
          <a:prstGeom prst="rect">
            <a:avLst/>
          </a:prstGeom>
          <a:noFill/>
          <a:ln/>
        </p:spPr>
        <p:txBody>
          <a:bodyPr wrap="square" rtlCol="0"/>
          <a:lstStyle>
            <a:lvl1pPr algn="l" indent="0" marL="0">
              <a:buNone/>
              <a:defRPr lang="en-US" sz="2800" b="1" dirty="0">
                <a:solidFill>
                  <a:srgbClr val="E7EBF3"/>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3" name="Text 0"/>
          <p:cNvSpPr/>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9AA4BD"/>
                </a:solidFill>
                <a:latin typeface="Calibri" pitchFamily="34" charset="0"/>
                <a:ea typeface="Calibri" pitchFamily="34" charset="-122"/>
                <a:cs typeface="Calibri" pitchFamily="34" charset="-120"/>
              </a:rPr>
              <a:t>DukaanPulse AI  ·  prototype on synthetic data  ·  not affiliated with Paytm</a:t>
            </a:r>
            <a:endParaRPr lang="en-US" sz="1000" dirty="0"/>
          </a:p>
        </p:txBody>
      </p:sp>
      <p:sp>
        <p:nvSpPr>
          <p:cNvPr id="25" name="Slide Number Placeholder 0"/>
          <p:cNvSpPr>
            <a:spLocks noGrp="1"/>
          </p:cNvSpPr>
          <p:nvPr>
            <p:ph type="sldNum" sz="quarter" idx="4294967295"/>
          </p:nvPr>
        </p:nvSpPr>
        <p:spPr>
          <a:xfrm>
            <a:off x="11185855" y="647395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AA4BD"/>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7395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AA4BD"/>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3.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3.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DukaanPulse AI banner: Turn payment signals into profitable merchant actions">    </p:cNvPr>
          <p:cNvPicPr>
            <a:picLocks noChangeAspect="1"/>
          </p:cNvPicPr>
          <p:nvPr/>
        </p:nvPicPr>
        <p:blipFill>
          <a:blip r:embed="rId1"/>
          <a:stretch>
            <a:fillRect/>
          </a:stretch>
        </p:blipFill>
        <p:spPr>
          <a:xfrm>
            <a:off x="0" y="502920"/>
            <a:ext cx="12191695" cy="3809905"/>
          </a:xfrm>
          <a:prstGeom prst="rect">
            <a:avLst/>
          </a:prstGeom>
        </p:spPr>
      </p:pic>
      <p:sp>
        <p:nvSpPr>
          <p:cNvPr id="3" name="Text 0"/>
          <p:cNvSpPr txBox="1"/>
          <p:nvPr/>
        </p:nvSpPr>
        <p:spPr>
          <a:xfrm>
            <a:off x="868680" y="4526280"/>
            <a:ext cx="10972800" cy="457200"/>
          </a:xfrm>
          <a:prstGeom prst="rect">
            <a:avLst/>
          </a:prstGeom>
          <a:noFill/>
          <a:ln/>
        </p:spPr>
        <p:txBody>
          <a:bodyPr wrap="square" lIns="0" tIns="0" rIns="0" bIns="0" rtlCol="0" anchor="t"/>
          <a:lstStyle/>
          <a:p>
            <a:pPr indent="0" marL="0">
              <a:buNone/>
            </a:pPr>
            <a:r>
              <a:rPr lang="en-US" sz="2200" dirty="0">
                <a:solidFill>
                  <a:srgbClr val="E7EBF3"/>
                </a:solidFill>
                <a:latin typeface="Calibri" pitchFamily="34" charset="0"/>
                <a:ea typeface="Calibri" pitchFamily="34" charset="-122"/>
                <a:cs typeface="Calibri" pitchFamily="34" charset="-120"/>
              </a:rPr>
              <a:t>Evidence-backed decisions for small merchants — with the merchant in control</a:t>
            </a:r>
            <a:endParaRPr lang="en-US" sz="2200" dirty="0"/>
          </a:p>
        </p:txBody>
      </p:sp>
      <p:sp>
        <p:nvSpPr>
          <p:cNvPr id="4" name="Text 1"/>
          <p:cNvSpPr txBox="1"/>
          <p:nvPr/>
        </p:nvSpPr>
        <p:spPr>
          <a:xfrm>
            <a:off x="868680" y="5120640"/>
            <a:ext cx="10972800" cy="320040"/>
          </a:xfrm>
          <a:prstGeom prst="rect">
            <a:avLst/>
          </a:prstGeom>
          <a:noFill/>
          <a:ln/>
        </p:spPr>
        <p:txBody>
          <a:bodyPr wrap="square" lIns="0" tIns="0" rIns="0" bIns="0" rtlCol="0" anchor="t"/>
          <a:lstStyle/>
          <a:p>
            <a:pPr indent="0" marL="0">
              <a:buNone/>
            </a:pPr>
            <a:r>
              <a:rPr lang="en-US" sz="1500" dirty="0">
                <a:solidFill>
                  <a:srgbClr val="9AA4BD"/>
                </a:solidFill>
                <a:latin typeface="Calibri" pitchFamily="34" charset="0"/>
                <a:ea typeface="Calibri" pitchFamily="34" charset="-122"/>
                <a:cs typeface="Calibri" pitchFamily="34" charset="-120"/>
              </a:rPr>
              <a:t>Paytm Build for India AI Hackathon  ·  Merchant Growth AI track</a:t>
            </a:r>
            <a:endParaRPr lang="en-US" sz="1500" dirty="0"/>
          </a:p>
        </p:txBody>
      </p:sp>
      <p:sp>
        <p:nvSpPr>
          <p:cNvPr id="5" name="Text 2"/>
          <p:cNvSpPr txBox="1"/>
          <p:nvPr/>
        </p:nvSpPr>
        <p:spPr>
          <a:xfrm>
            <a:off x="868680" y="6080760"/>
            <a:ext cx="10058400" cy="274320"/>
          </a:xfrm>
          <a:prstGeom prst="rect">
            <a:avLst/>
          </a:prstGeom>
          <a:noFill/>
          <a:ln/>
        </p:spPr>
        <p:txBody>
          <a:bodyPr wrap="square" lIns="0" tIns="0" rIns="0" bIns="0" rtlCol="0" anchor="t"/>
          <a:lstStyle/>
          <a:p>
            <a:pPr indent="0" marL="0">
              <a:buNone/>
            </a:pPr>
            <a:r>
              <a:rPr lang="en-US" sz="1100" i="1" dirty="0">
                <a:solidFill>
                  <a:srgbClr val="9AA4BD"/>
                </a:solidFill>
                <a:latin typeface="Calibri" pitchFamily="34" charset="0"/>
                <a:ea typeface="Calibri" pitchFamily="34" charset="-122"/>
                <a:cs typeface="Calibri" pitchFamily="34" charset="-120"/>
              </a:rPr>
              <a:t>Working prototype on synthetic data for a fictional bakery. Not affiliated with or endorsed by Paytm.</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146304"/>
            <a:ext cx="7315200" cy="219456"/>
          </a:xfrm>
          <a:prstGeom prst="rect">
            <a:avLst/>
          </a:prstGeom>
          <a:noFill/>
          <a:ln/>
        </p:spPr>
        <p:txBody>
          <a:bodyPr wrap="square" lIns="0" tIns="0" rIns="0" bIns="0" rtlCol="0" anchor="t"/>
          <a:lstStyle/>
          <a:p>
            <a:pPr indent="0" marL="0">
              <a:buNone/>
            </a:pPr>
            <a:r>
              <a:rPr lang="en-US" sz="1000" b="1" spc="200" kern="0" dirty="0">
                <a:solidFill>
                  <a:srgbClr val="4C8DFF"/>
                </a:solidFill>
                <a:latin typeface="Calibri" pitchFamily="34" charset="0"/>
                <a:ea typeface="Calibri" pitchFamily="34" charset="-122"/>
                <a:cs typeface="Calibri" pitchFamily="34" charset="-120"/>
              </a:rPr>
              <a:t>PROBLEM STATEMENT</a:t>
            </a:r>
            <a:endParaRPr lang="en-US" sz="1000" dirty="0"/>
          </a:p>
        </p:txBody>
      </p:sp>
      <p:sp>
        <p:nvSpPr>
          <p:cNvPr id="3" name="Text 0"/>
          <p:cNvSpPr/>
          <p:nvPr>
            <p:ph idx="100" type="title" hasCustomPrompt="1"/>
          </p:nvPr>
        </p:nvSpPr>
        <p:spPr>
          <a:xfrm>
            <a:off x="548640" y="384048"/>
            <a:ext cx="11094415" cy="777240"/>
          </a:xfrm>
          <a:prstGeom prst="rect">
            <a:avLst/>
          </a:prstGeom>
          <a:noFill/>
          <a:ln/>
        </p:spPr>
        <p:txBody>
          <a:bodyPr wrap="square" lIns="0" tIns="0" rIns="0" bIns="0" rtlCol="0" anchor="t"/>
          <a:lstStyle/>
          <a:p>
            <a:pPr algn="l" indent="0" marL="0">
              <a:buNone/>
            </a:pPr>
            <a:r>
              <a:rPr lang="en-US" sz="2800" b="1" dirty="0">
                <a:solidFill>
                  <a:srgbClr val="E7EBF3"/>
                </a:solidFill>
                <a:latin typeface="Cambria" pitchFamily="34" charset="0"/>
                <a:ea typeface="Cambria" pitchFamily="34" charset="-122"/>
                <a:cs typeface="Cambria" pitchFamily="34" charset="-120"/>
              </a:rPr>
              <a:t>Sales are slipping. Should the bakery discount everything?</a:t>
            </a:r>
            <a:endParaRPr lang="en-US" sz="2800" dirty="0"/>
          </a:p>
        </p:txBody>
      </p:sp>
      <p:sp>
        <p:nvSpPr>
          <p:cNvPr id="4" name="stat-0"/>
          <p:cNvSpPr/>
          <p:nvPr/>
        </p:nvSpPr>
        <p:spPr>
          <a:xfrm>
            <a:off x="548640" y="1463040"/>
            <a:ext cx="3520440" cy="2331720"/>
          </a:xfrm>
          <a:prstGeom prst="roundRect">
            <a:avLst>
              <a:gd name="adj" fmla="val 4706"/>
            </a:avLst>
          </a:prstGeom>
          <a:solidFill>
            <a:srgbClr val="111831"/>
          </a:solidFill>
          <a:ln w="12700">
            <a:solidFill>
              <a:srgbClr val="26314F"/>
            </a:solidFill>
            <a:prstDash val="solid"/>
          </a:ln>
        </p:spPr>
      </p:sp>
      <p:sp>
        <p:nvSpPr>
          <p:cNvPr id="5" name="Text 3"/>
          <p:cNvSpPr txBox="1"/>
          <p:nvPr/>
        </p:nvSpPr>
        <p:spPr>
          <a:xfrm>
            <a:off x="822960" y="1691640"/>
            <a:ext cx="3017520" cy="868680"/>
          </a:xfrm>
          <a:prstGeom prst="rect">
            <a:avLst/>
          </a:prstGeom>
          <a:noFill/>
          <a:ln/>
        </p:spPr>
        <p:txBody>
          <a:bodyPr wrap="square" lIns="0" tIns="0" rIns="0" bIns="0" rtlCol="0" anchor="t"/>
          <a:lstStyle/>
          <a:p>
            <a:pPr indent="0" marL="0">
              <a:buNone/>
            </a:pPr>
            <a:r>
              <a:rPr lang="en-US" sz="4400" b="1" dirty="0">
                <a:solidFill>
                  <a:srgbClr val="E7EBF3"/>
                </a:solidFill>
                <a:latin typeface="Cambria" pitchFamily="34" charset="0"/>
                <a:ea typeface="Cambria" pitchFamily="34" charset="-122"/>
                <a:cs typeface="Cambria" pitchFamily="34" charset="-120"/>
              </a:rPr>
              <a:t>−13.0%</a:t>
            </a:r>
            <a:endParaRPr lang="en-US" sz="4400" dirty="0"/>
          </a:p>
        </p:txBody>
      </p:sp>
      <p:sp>
        <p:nvSpPr>
          <p:cNvPr id="6" name="Text 4"/>
          <p:cNvSpPr txBox="1"/>
          <p:nvPr/>
        </p:nvSpPr>
        <p:spPr>
          <a:xfrm>
            <a:off x="822960" y="2606040"/>
            <a:ext cx="3017520" cy="594360"/>
          </a:xfrm>
          <a:prstGeom prst="rect">
            <a:avLst/>
          </a:prstGeom>
          <a:noFill/>
          <a:ln/>
        </p:spPr>
        <p:txBody>
          <a:bodyPr wrap="square" lIns="0" tIns="0" rIns="0" bIns="0" rtlCol="0" anchor="t"/>
          <a:lstStyle/>
          <a:p>
            <a:pPr indent="0" marL="0">
              <a:buNone/>
            </a:pPr>
            <a:r>
              <a:rPr lang="en-US" sz="1500" dirty="0">
                <a:solidFill>
                  <a:srgbClr val="E7EBF3"/>
                </a:solidFill>
                <a:latin typeface="Calibri" pitchFamily="34" charset="0"/>
                <a:ea typeface="Calibri" pitchFamily="34" charset="-122"/>
                <a:cs typeface="Calibri" pitchFamily="34" charset="-120"/>
              </a:rPr>
              <a:t>revenue, last 30 days vs the 30 before</a:t>
            </a:r>
            <a:endParaRPr lang="en-US" sz="1500" dirty="0"/>
          </a:p>
        </p:txBody>
      </p:sp>
      <p:sp>
        <p:nvSpPr>
          <p:cNvPr id="7" name="Text 5"/>
          <p:cNvSpPr txBox="1"/>
          <p:nvPr/>
        </p:nvSpPr>
        <p:spPr>
          <a:xfrm>
            <a:off x="822960" y="3246120"/>
            <a:ext cx="3017520" cy="274320"/>
          </a:xfrm>
          <a:prstGeom prst="rect">
            <a:avLst/>
          </a:prstGeom>
          <a:noFill/>
          <a:ln/>
        </p:spPr>
        <p:txBody>
          <a:bodyPr wrap="square" lIns="0" tIns="0" rIns="0" bIns="0" rtlCol="0" anchor="t"/>
          <a:lstStyle/>
          <a:p>
            <a:pPr indent="0" marL="0">
              <a:buNone/>
            </a:pPr>
            <a:r>
              <a:rPr lang="en-US" sz="1200" dirty="0">
                <a:solidFill>
                  <a:srgbClr val="9AA4BD"/>
                </a:solidFill>
                <a:latin typeface="Calibri" pitchFamily="34" charset="0"/>
                <a:ea typeface="Calibri" pitchFamily="34" charset="-122"/>
                <a:cs typeface="Calibri" pitchFamily="34" charset="-120"/>
              </a:rPr>
              <a:t>₹7.91L vs ₹9.09L</a:t>
            </a:r>
            <a:endParaRPr lang="en-US" sz="1200" dirty="0"/>
          </a:p>
        </p:txBody>
      </p:sp>
      <p:sp>
        <p:nvSpPr>
          <p:cNvPr id="8" name="stat-1"/>
          <p:cNvSpPr/>
          <p:nvPr/>
        </p:nvSpPr>
        <p:spPr>
          <a:xfrm>
            <a:off x="4297680" y="1463040"/>
            <a:ext cx="3520440" cy="2331720"/>
          </a:xfrm>
          <a:prstGeom prst="roundRect">
            <a:avLst>
              <a:gd name="adj" fmla="val 4706"/>
            </a:avLst>
          </a:prstGeom>
          <a:solidFill>
            <a:srgbClr val="111831"/>
          </a:solidFill>
          <a:ln w="12700">
            <a:solidFill>
              <a:srgbClr val="26314F"/>
            </a:solidFill>
            <a:prstDash val="solid"/>
          </a:ln>
        </p:spPr>
      </p:sp>
      <p:sp>
        <p:nvSpPr>
          <p:cNvPr id="9" name="Text 7"/>
          <p:cNvSpPr txBox="1"/>
          <p:nvPr/>
        </p:nvSpPr>
        <p:spPr>
          <a:xfrm>
            <a:off x="4572000" y="1691640"/>
            <a:ext cx="3017520" cy="868680"/>
          </a:xfrm>
          <a:prstGeom prst="rect">
            <a:avLst/>
          </a:prstGeom>
          <a:noFill/>
          <a:ln/>
        </p:spPr>
        <p:txBody>
          <a:bodyPr wrap="square" lIns="0" tIns="0" rIns="0" bIns="0" rtlCol="0" anchor="t"/>
          <a:lstStyle/>
          <a:p>
            <a:pPr indent="0" marL="0">
              <a:buNone/>
            </a:pPr>
            <a:r>
              <a:rPr lang="en-US" sz="4400" b="1" dirty="0">
                <a:solidFill>
                  <a:srgbClr val="E7EBF3"/>
                </a:solidFill>
                <a:latin typeface="Cambria" pitchFamily="34" charset="0"/>
                <a:ea typeface="Cambria" pitchFamily="34" charset="-122"/>
                <a:cs typeface="Cambria" pitchFamily="34" charset="-120"/>
              </a:rPr>
              <a:t>−21.6%</a:t>
            </a:r>
            <a:endParaRPr lang="en-US" sz="4400" dirty="0"/>
          </a:p>
        </p:txBody>
      </p:sp>
      <p:sp>
        <p:nvSpPr>
          <p:cNvPr id="10" name="Text 8"/>
          <p:cNvSpPr txBox="1"/>
          <p:nvPr/>
        </p:nvSpPr>
        <p:spPr>
          <a:xfrm>
            <a:off x="4572000" y="2606040"/>
            <a:ext cx="3017520" cy="594360"/>
          </a:xfrm>
          <a:prstGeom prst="rect">
            <a:avLst/>
          </a:prstGeom>
          <a:noFill/>
          <a:ln/>
        </p:spPr>
        <p:txBody>
          <a:bodyPr wrap="square" lIns="0" tIns="0" rIns="0" bIns="0" rtlCol="0" anchor="t"/>
          <a:lstStyle/>
          <a:p>
            <a:pPr indent="0" marL="0">
              <a:buNone/>
            </a:pPr>
            <a:r>
              <a:rPr lang="en-US" sz="1500" dirty="0">
                <a:solidFill>
                  <a:srgbClr val="E7EBF3"/>
                </a:solidFill>
                <a:latin typeface="Calibri" pitchFamily="34" charset="0"/>
                <a:ea typeface="Calibri" pitchFamily="34" charset="-122"/>
                <a:cs typeface="Calibri" pitchFamily="34" charset="-120"/>
              </a:rPr>
              <a:t>morning revenue — the biggest fall</a:t>
            </a:r>
            <a:endParaRPr lang="en-US" sz="1500" dirty="0"/>
          </a:p>
        </p:txBody>
      </p:sp>
      <p:sp>
        <p:nvSpPr>
          <p:cNvPr id="11" name="Text 9"/>
          <p:cNvSpPr txBox="1"/>
          <p:nvPr/>
        </p:nvSpPr>
        <p:spPr>
          <a:xfrm>
            <a:off x="4572000" y="3246120"/>
            <a:ext cx="3017520" cy="274320"/>
          </a:xfrm>
          <a:prstGeom prst="rect">
            <a:avLst/>
          </a:prstGeom>
          <a:noFill/>
          <a:ln/>
        </p:spPr>
        <p:txBody>
          <a:bodyPr wrap="square" lIns="0" tIns="0" rIns="0" bIns="0" rtlCol="0" anchor="t"/>
          <a:lstStyle/>
          <a:p>
            <a:pPr indent="0" marL="0">
              <a:buNone/>
            </a:pPr>
            <a:r>
              <a:rPr lang="en-US" sz="1200" dirty="0">
                <a:solidFill>
                  <a:srgbClr val="9AA4BD"/>
                </a:solidFill>
                <a:latin typeface="Calibri" pitchFamily="34" charset="0"/>
                <a:ea typeface="Calibri" pitchFamily="34" charset="-122"/>
                <a:cs typeface="Calibri" pitchFamily="34" charset="-120"/>
              </a:rPr>
              <a:t>20 Sep – 19 Oct</a:t>
            </a:r>
            <a:endParaRPr lang="en-US" sz="1200" dirty="0"/>
          </a:p>
        </p:txBody>
      </p:sp>
      <p:sp>
        <p:nvSpPr>
          <p:cNvPr id="12" name="stat-2"/>
          <p:cNvSpPr/>
          <p:nvPr/>
        </p:nvSpPr>
        <p:spPr>
          <a:xfrm>
            <a:off x="8046720" y="1463040"/>
            <a:ext cx="3520440" cy="2331720"/>
          </a:xfrm>
          <a:prstGeom prst="roundRect">
            <a:avLst>
              <a:gd name="adj" fmla="val 4706"/>
            </a:avLst>
          </a:prstGeom>
          <a:solidFill>
            <a:srgbClr val="111831"/>
          </a:solidFill>
          <a:ln w="12700">
            <a:solidFill>
              <a:srgbClr val="26314F"/>
            </a:solidFill>
            <a:prstDash val="solid"/>
          </a:ln>
        </p:spPr>
      </p:sp>
      <p:sp>
        <p:nvSpPr>
          <p:cNvPr id="13" name="Text 11"/>
          <p:cNvSpPr txBox="1"/>
          <p:nvPr/>
        </p:nvSpPr>
        <p:spPr>
          <a:xfrm>
            <a:off x="8321040" y="1691640"/>
            <a:ext cx="3017520" cy="868680"/>
          </a:xfrm>
          <a:prstGeom prst="rect">
            <a:avLst/>
          </a:prstGeom>
          <a:noFill/>
          <a:ln/>
        </p:spPr>
        <p:txBody>
          <a:bodyPr wrap="square" lIns="0" tIns="0" rIns="0" bIns="0" rtlCol="0" anchor="t"/>
          <a:lstStyle/>
          <a:p>
            <a:pPr indent="0" marL="0">
              <a:buNone/>
            </a:pPr>
            <a:r>
              <a:rPr lang="en-US" sz="4400" b="1" dirty="0">
                <a:solidFill>
                  <a:srgbClr val="4C8DFF"/>
                </a:solidFill>
                <a:latin typeface="Cambria" pitchFamily="34" charset="0"/>
                <a:ea typeface="Cambria" pitchFamily="34" charset="-122"/>
                <a:cs typeface="Cambria" pitchFamily="34" charset="-120"/>
              </a:rPr>
              <a:t>34 of 209</a:t>
            </a:r>
            <a:endParaRPr lang="en-US" sz="4400" dirty="0"/>
          </a:p>
        </p:txBody>
      </p:sp>
      <p:sp>
        <p:nvSpPr>
          <p:cNvPr id="14" name="Text 12"/>
          <p:cNvSpPr txBox="1"/>
          <p:nvPr/>
        </p:nvSpPr>
        <p:spPr>
          <a:xfrm>
            <a:off x="8321040" y="2606040"/>
            <a:ext cx="3017520" cy="594360"/>
          </a:xfrm>
          <a:prstGeom prst="rect">
            <a:avLst/>
          </a:prstGeom>
          <a:noFill/>
          <a:ln/>
        </p:spPr>
        <p:txBody>
          <a:bodyPr wrap="square" lIns="0" tIns="0" rIns="0" bIns="0" rtlCol="0" anchor="t"/>
          <a:lstStyle/>
          <a:p>
            <a:pPr indent="0" marL="0">
              <a:buNone/>
            </a:pPr>
            <a:r>
              <a:rPr lang="en-US" sz="1500" dirty="0">
                <a:solidFill>
                  <a:srgbClr val="E7EBF3"/>
                </a:solidFill>
                <a:latin typeface="Calibri" pitchFamily="34" charset="0"/>
                <a:ea typeface="Calibri" pitchFamily="34" charset="-122"/>
                <a:cs typeface="Calibri" pitchFamily="34" charset="-120"/>
              </a:rPr>
              <a:t>regulars away far longer than their own habit</a:t>
            </a:r>
            <a:endParaRPr lang="en-US" sz="1500" dirty="0"/>
          </a:p>
        </p:txBody>
      </p:sp>
      <p:sp>
        <p:nvSpPr>
          <p:cNvPr id="15" name="Text 13"/>
          <p:cNvSpPr txBox="1"/>
          <p:nvPr/>
        </p:nvSpPr>
        <p:spPr>
          <a:xfrm>
            <a:off x="8321040" y="3246120"/>
            <a:ext cx="3017520" cy="274320"/>
          </a:xfrm>
          <a:prstGeom prst="rect">
            <a:avLst/>
          </a:prstGeom>
          <a:noFill/>
          <a:ln/>
        </p:spPr>
        <p:txBody>
          <a:bodyPr wrap="square" lIns="0" tIns="0" rIns="0" bIns="0" rtlCol="0" anchor="t"/>
          <a:lstStyle/>
          <a:p>
            <a:pPr indent="0" marL="0">
              <a:buNone/>
            </a:pPr>
            <a:r>
              <a:rPr lang="en-US" sz="1200" dirty="0">
                <a:solidFill>
                  <a:srgbClr val="9AA4BD"/>
                </a:solidFill>
                <a:latin typeface="Calibri" pitchFamily="34" charset="0"/>
                <a:ea typeface="Calibri" pitchFamily="34" charset="-122"/>
                <a:cs typeface="Calibri" pitchFamily="34" charset="-120"/>
              </a:rPr>
              <a:t>median 30 days vs 2.4 usual</a:t>
            </a:r>
            <a:endParaRPr lang="en-US" sz="1200" dirty="0"/>
          </a:p>
        </p:txBody>
      </p:sp>
      <p:sp>
        <p:nvSpPr>
          <p:cNvPr id="16" name="Shape 14"/>
          <p:cNvSpPr/>
          <p:nvPr/>
        </p:nvSpPr>
        <p:spPr>
          <a:xfrm>
            <a:off x="548640" y="4069080"/>
            <a:ext cx="1143000" cy="256032"/>
          </a:xfrm>
          <a:prstGeom prst="roundRect">
            <a:avLst>
              <a:gd name="adj" fmla="val 50000"/>
            </a:avLst>
          </a:prstGeom>
          <a:solidFill>
            <a:srgbClr val="0A0F1E"/>
          </a:solidFill>
          <a:ln w="12700">
            <a:solidFill>
              <a:srgbClr val="4C8DFF"/>
            </a:solidFill>
            <a:prstDash val="solid"/>
          </a:ln>
        </p:spPr>
      </p:sp>
      <p:sp>
        <p:nvSpPr>
          <p:cNvPr id="17" name="Text 15"/>
          <p:cNvSpPr txBox="1"/>
          <p:nvPr/>
        </p:nvSpPr>
        <p:spPr>
          <a:xfrm>
            <a:off x="548640" y="4101084"/>
            <a:ext cx="1143000" cy="201168"/>
          </a:xfrm>
          <a:prstGeom prst="rect">
            <a:avLst/>
          </a:prstGeom>
          <a:noFill/>
          <a:ln/>
        </p:spPr>
        <p:txBody>
          <a:bodyPr wrap="square" lIns="0" tIns="0" rIns="0" bIns="0" rtlCol="0" anchor="t"/>
          <a:lstStyle/>
          <a:p>
            <a:pPr algn="ctr" indent="0" marL="0">
              <a:buNone/>
            </a:pPr>
            <a:r>
              <a:rPr lang="en-US" sz="900" b="1" spc="150" kern="0" dirty="0">
                <a:solidFill>
                  <a:srgbClr val="4C8DFF"/>
                </a:solidFill>
                <a:latin typeface="Calibri" pitchFamily="34" charset="0"/>
                <a:ea typeface="Calibri" pitchFamily="34" charset="-122"/>
                <a:cs typeface="Calibri" pitchFamily="34" charset="-120"/>
              </a:rPr>
              <a:t>OBSERVED</a:t>
            </a:r>
            <a:endParaRPr lang="en-US" sz="900" dirty="0"/>
          </a:p>
        </p:txBody>
      </p:sp>
      <p:sp>
        <p:nvSpPr>
          <p:cNvPr id="18" name="Text 16"/>
          <p:cNvSpPr txBox="1"/>
          <p:nvPr/>
        </p:nvSpPr>
        <p:spPr>
          <a:xfrm>
            <a:off x="1828800" y="4087368"/>
            <a:ext cx="8229600" cy="274320"/>
          </a:xfrm>
          <a:prstGeom prst="rect">
            <a:avLst/>
          </a:prstGeom>
          <a:noFill/>
          <a:ln/>
        </p:spPr>
        <p:txBody>
          <a:bodyPr wrap="square" lIns="0" tIns="0" rIns="0" bIns="0" rtlCol="0" anchor="t"/>
          <a:lstStyle/>
          <a:p>
            <a:pPr indent="0" marL="0">
              <a:buNone/>
            </a:pPr>
            <a:r>
              <a:rPr lang="en-US" sz="1200" dirty="0">
                <a:solidFill>
                  <a:srgbClr val="9AA4BD"/>
                </a:solidFill>
                <a:latin typeface="Calibri" pitchFamily="34" charset="0"/>
                <a:ea typeface="Calibri" pitchFamily="34" charset="-122"/>
                <a:cs typeface="Calibri" pitchFamily="34" charset="-120"/>
              </a:rPr>
              <a:t>All figures come from the app’s synthetic payment data for a fictional bakery.</a:t>
            </a:r>
            <a:endParaRPr lang="en-US" sz="1200" dirty="0"/>
          </a:p>
        </p:txBody>
      </p:sp>
      <p:sp>
        <p:nvSpPr>
          <p:cNvPr id="19" name="Shape 17"/>
          <p:cNvSpPr/>
          <p:nvPr/>
        </p:nvSpPr>
        <p:spPr>
          <a:xfrm>
            <a:off x="548640" y="4572000"/>
            <a:ext cx="11094415" cy="1417320"/>
          </a:xfrm>
          <a:prstGeom prst="roundRect">
            <a:avLst>
              <a:gd name="adj" fmla="val 7742"/>
            </a:avLst>
          </a:prstGeom>
          <a:solidFill>
            <a:srgbClr val="18213F"/>
          </a:solidFill>
          <a:ln w="12700">
            <a:solidFill>
              <a:srgbClr val="26314F"/>
            </a:solidFill>
            <a:prstDash val="solid"/>
          </a:ln>
        </p:spPr>
      </p:sp>
      <p:sp>
        <p:nvSpPr>
          <p:cNvPr id="20" name="Shape 18"/>
          <p:cNvSpPr/>
          <p:nvPr/>
        </p:nvSpPr>
        <p:spPr>
          <a:xfrm>
            <a:off x="822960" y="4800600"/>
            <a:ext cx="603504" cy="603504"/>
          </a:xfrm>
          <a:prstGeom prst="ellipse">
            <a:avLst/>
          </a:prstGeom>
          <a:solidFill>
            <a:srgbClr val="18213F"/>
          </a:solidFill>
          <a:ln w="12700">
            <a:solidFill>
              <a:srgbClr val="26314F"/>
            </a:solidFill>
            <a:prstDash val="solid"/>
          </a:ln>
        </p:spPr>
      </p:sp>
      <p:pic>
        <p:nvPicPr>
          <p:cNvPr id="21" name="Image 0" descr="store icon">    </p:cNvPr>
          <p:cNvPicPr>
            <a:picLocks noChangeAspect="1"/>
          </p:cNvPicPr>
          <p:nvPr/>
        </p:nvPicPr>
        <p:blipFill>
          <a:blip r:embed="rId1"/>
          <a:stretch>
            <a:fillRect/>
          </a:stretch>
        </p:blipFill>
        <p:spPr>
          <a:xfrm>
            <a:off x="932688" y="4910328"/>
            <a:ext cx="384048" cy="384048"/>
          </a:xfrm>
          <a:prstGeom prst="rect">
            <a:avLst/>
          </a:prstGeom>
        </p:spPr>
      </p:pic>
      <p:sp>
        <p:nvSpPr>
          <p:cNvPr id="22" name="Text 19"/>
          <p:cNvSpPr txBox="1"/>
          <p:nvPr/>
        </p:nvSpPr>
        <p:spPr>
          <a:xfrm>
            <a:off x="1691640" y="4846320"/>
            <a:ext cx="9692640" cy="868680"/>
          </a:xfrm>
          <a:prstGeom prst="rect">
            <a:avLst/>
          </a:prstGeom>
          <a:noFill/>
          <a:ln/>
        </p:spPr>
        <p:txBody>
          <a:bodyPr wrap="square" lIns="0" tIns="0" rIns="0" bIns="0" rtlCol="0" anchor="ctr"/>
          <a:lstStyle/>
          <a:p>
            <a:pPr indent="0" marL="0">
              <a:buNone/>
            </a:pPr>
            <a:r>
              <a:rPr lang="en-US" sz="2000" i="1" dirty="0">
                <a:solidFill>
                  <a:srgbClr val="E7EBF3"/>
                </a:solidFill>
                <a:latin typeface="Cambria" pitchFamily="34" charset="0"/>
                <a:ea typeface="Cambria" pitchFamily="34" charset="-122"/>
                <a:cs typeface="Cambria" pitchFamily="34" charset="-120"/>
              </a:rPr>
              <a:t>The owner has the data. What they lack is a trustworthy answer to: “What is worth doing, for whom, and what will it cost?”</a:t>
            </a:r>
            <a:endParaRPr lang="en-US" sz="2000" dirty="0"/>
          </a:p>
        </p:txBody>
      </p:sp>
      <p:sp>
        <p:nvSpPr>
          <p:cNvPr id="25" name="Slide Number Placeholder 0"/>
          <p:cNvSpPr>
            <a:spLocks noGrp="1"/>
          </p:cNvSpPr>
          <p:nvPr>
            <p:ph type="sldNum" sz="quarter" idx="4294967295"/>
          </p:nvPr>
        </p:nvSpPr>
        <p:spPr>
          <a:xfrm>
            <a:off x="11185855" y="647395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AA4BD"/>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146304"/>
            <a:ext cx="7315200" cy="219456"/>
          </a:xfrm>
          <a:prstGeom prst="rect">
            <a:avLst/>
          </a:prstGeom>
          <a:noFill/>
          <a:ln/>
        </p:spPr>
        <p:txBody>
          <a:bodyPr wrap="square" lIns="0" tIns="0" rIns="0" bIns="0" rtlCol="0" anchor="t"/>
          <a:lstStyle/>
          <a:p>
            <a:pPr indent="0" marL="0">
              <a:buNone/>
            </a:pPr>
            <a:r>
              <a:rPr lang="en-US" sz="1000" b="1" spc="200" kern="0" dirty="0">
                <a:solidFill>
                  <a:srgbClr val="4C8DFF"/>
                </a:solidFill>
                <a:latin typeface="Calibri" pitchFamily="34" charset="0"/>
                <a:ea typeface="Calibri" pitchFamily="34" charset="-122"/>
                <a:cs typeface="Calibri" pitchFamily="34" charset="-120"/>
              </a:rPr>
              <a:t>PROBLEM STATEMENT</a:t>
            </a:r>
            <a:endParaRPr lang="en-US" sz="1000" dirty="0"/>
          </a:p>
        </p:txBody>
      </p:sp>
      <p:sp>
        <p:nvSpPr>
          <p:cNvPr id="3" name="Text 0"/>
          <p:cNvSpPr/>
          <p:nvPr>
            <p:ph idx="100" type="title" hasCustomPrompt="1"/>
          </p:nvPr>
        </p:nvSpPr>
        <p:spPr>
          <a:xfrm>
            <a:off x="548640" y="384048"/>
            <a:ext cx="11094415" cy="777240"/>
          </a:xfrm>
          <a:prstGeom prst="rect">
            <a:avLst/>
          </a:prstGeom>
          <a:noFill/>
          <a:ln/>
        </p:spPr>
        <p:txBody>
          <a:bodyPr wrap="square" lIns="0" tIns="0" rIns="0" bIns="0" rtlCol="0" anchor="t"/>
          <a:lstStyle/>
          <a:p>
            <a:pPr algn="l" indent="0" marL="0">
              <a:buNone/>
            </a:pPr>
            <a:r>
              <a:rPr lang="en-US" sz="2800" b="1" dirty="0">
                <a:solidFill>
                  <a:srgbClr val="E7EBF3"/>
                </a:solidFill>
                <a:latin typeface="Cambria" pitchFamily="34" charset="0"/>
                <a:ea typeface="Cambria" pitchFamily="34" charset="-122"/>
                <a:cs typeface="Cambria" pitchFamily="34" charset="-120"/>
              </a:rPr>
              <a:t>Dashboards show change. Chatbots sound sure. Neither decides.</a:t>
            </a:r>
            <a:endParaRPr lang="en-US" sz="2800" dirty="0"/>
          </a:p>
        </p:txBody>
      </p:sp>
      <p:sp>
        <p:nvSpPr>
          <p:cNvPr id="4" name="Shape 2"/>
          <p:cNvSpPr/>
          <p:nvPr/>
        </p:nvSpPr>
        <p:spPr>
          <a:xfrm>
            <a:off x="548640" y="1417320"/>
            <a:ext cx="3520440" cy="3566160"/>
          </a:xfrm>
          <a:prstGeom prst="roundRect">
            <a:avLst>
              <a:gd name="adj" fmla="val 3117"/>
            </a:avLst>
          </a:prstGeom>
          <a:solidFill>
            <a:srgbClr val="111831"/>
          </a:solidFill>
          <a:ln w="12700">
            <a:solidFill>
              <a:srgbClr val="26314F"/>
            </a:solidFill>
            <a:prstDash val="solid"/>
          </a:ln>
        </p:spPr>
      </p:sp>
      <p:sp>
        <p:nvSpPr>
          <p:cNvPr id="5" name="Shape 3"/>
          <p:cNvSpPr/>
          <p:nvPr/>
        </p:nvSpPr>
        <p:spPr>
          <a:xfrm>
            <a:off x="822960" y="1645920"/>
            <a:ext cx="603504" cy="603504"/>
          </a:xfrm>
          <a:prstGeom prst="ellipse">
            <a:avLst/>
          </a:prstGeom>
          <a:solidFill>
            <a:srgbClr val="18213F"/>
          </a:solidFill>
          <a:ln w="12700">
            <a:solidFill>
              <a:srgbClr val="26314F"/>
            </a:solidFill>
            <a:prstDash val="solid"/>
          </a:ln>
        </p:spPr>
      </p:sp>
      <p:pic>
        <p:nvPicPr>
          <p:cNvPr id="6" name="Image 0" descr="layout icon">    </p:cNvPr>
          <p:cNvPicPr>
            <a:picLocks noChangeAspect="1"/>
          </p:cNvPicPr>
          <p:nvPr/>
        </p:nvPicPr>
        <p:blipFill>
          <a:blip r:embed="rId1"/>
          <a:stretch>
            <a:fillRect/>
          </a:stretch>
        </p:blipFill>
        <p:spPr>
          <a:xfrm>
            <a:off x="932688" y="1755648"/>
            <a:ext cx="384048" cy="384048"/>
          </a:xfrm>
          <a:prstGeom prst="rect">
            <a:avLst/>
          </a:prstGeom>
        </p:spPr>
      </p:pic>
      <p:sp>
        <p:nvSpPr>
          <p:cNvPr id="7" name="Text 4"/>
          <p:cNvSpPr txBox="1"/>
          <p:nvPr/>
        </p:nvSpPr>
        <p:spPr>
          <a:xfrm>
            <a:off x="1645920" y="1783080"/>
            <a:ext cx="2286000" cy="365760"/>
          </a:xfrm>
          <a:prstGeom prst="rect">
            <a:avLst/>
          </a:prstGeom>
          <a:noFill/>
          <a:ln/>
        </p:spPr>
        <p:txBody>
          <a:bodyPr wrap="square" lIns="0" tIns="0" rIns="0" bIns="0" rtlCol="0" anchor="t"/>
          <a:lstStyle/>
          <a:p>
            <a:pPr indent="0" marL="0">
              <a:buNone/>
            </a:pPr>
            <a:r>
              <a:rPr lang="en-US" sz="2000" b="1" dirty="0">
                <a:solidFill>
                  <a:srgbClr val="9AA4BD"/>
                </a:solidFill>
                <a:latin typeface="Cambria" pitchFamily="34" charset="0"/>
                <a:ea typeface="Cambria" pitchFamily="34" charset="-122"/>
                <a:cs typeface="Cambria" pitchFamily="34" charset="-120"/>
              </a:rPr>
              <a:t>Analytics dashboard</a:t>
            </a:r>
            <a:endParaRPr lang="en-US" sz="2000" dirty="0"/>
          </a:p>
        </p:txBody>
      </p:sp>
      <p:sp>
        <p:nvSpPr>
          <p:cNvPr id="8" name="Text 5"/>
          <p:cNvSpPr txBox="1"/>
          <p:nvPr/>
        </p:nvSpPr>
        <p:spPr>
          <a:xfrm>
            <a:off x="822960" y="2514600"/>
            <a:ext cx="3017520" cy="2286000"/>
          </a:xfrm>
          <a:prstGeom prst="rect">
            <a:avLst/>
          </a:prstGeom>
          <a:noFill/>
          <a:ln/>
        </p:spPr>
        <p:txBody>
          <a:bodyPr wrap="square" lIns="0" tIns="0" rIns="0" bIns="0" rtlCol="0" anchor="t"/>
          <a:lstStyle/>
          <a:p>
            <a:pPr marL="203200" indent="-203200">
              <a:spcAft>
                <a:spcPts val="1200"/>
              </a:spcAft>
              <a:buSzPct val="100000"/>
              <a:buChar char="•"/>
            </a:pPr>
            <a:r>
              <a:rPr lang="en-US" sz="1600" dirty="0">
                <a:solidFill>
                  <a:srgbClr val="9AA4BD"/>
                </a:solidFill>
                <a:latin typeface="Calibri" pitchFamily="34" charset="0"/>
                <a:ea typeface="Calibri" pitchFamily="34" charset="-122"/>
                <a:cs typeface="Calibri" pitchFamily="34" charset="-120"/>
              </a:rPr>
              <a:t>Shows revenue fell</a:t>
            </a:r>
            <a:endParaRPr lang="en-US" sz="1600" dirty="0"/>
          </a:p>
          <a:p>
            <a:pPr marL="203200" indent="-203200">
              <a:spcAft>
                <a:spcPts val="1200"/>
              </a:spcAft>
              <a:buSzPct val="100000"/>
              <a:buChar char="•"/>
            </a:pPr>
            <a:r>
              <a:rPr lang="en-US" sz="1600" dirty="0">
                <a:solidFill>
                  <a:srgbClr val="9AA4BD"/>
                </a:solidFill>
                <a:latin typeface="Calibri" pitchFamily="34" charset="0"/>
                <a:ea typeface="Calibri" pitchFamily="34" charset="-122"/>
                <a:cs typeface="Calibri" pitchFamily="34" charset="-120"/>
              </a:rPr>
              <a:t>Leaves the “so what?” to the owner</a:t>
            </a:r>
            <a:endParaRPr lang="en-US" sz="1600" dirty="0"/>
          </a:p>
          <a:p>
            <a:pPr marL="203200" indent="-203200">
              <a:spcAft>
                <a:spcPts val="1200"/>
              </a:spcAft>
              <a:buSzPct val="100000"/>
              <a:buChar char="•"/>
            </a:pPr>
            <a:r>
              <a:rPr lang="en-US" sz="1600" dirty="0">
                <a:solidFill>
                  <a:srgbClr val="9AA4BD"/>
                </a:solidFill>
                <a:latin typeface="Calibri" pitchFamily="34" charset="0"/>
                <a:ea typeface="Calibri" pitchFamily="34" charset="-122"/>
                <a:cs typeface="Calibri" pitchFamily="34" charset="-120"/>
              </a:rPr>
              <a:t>No cost or trade-off of acting</a:t>
            </a:r>
            <a:endParaRPr lang="en-US" sz="1600" dirty="0"/>
          </a:p>
        </p:txBody>
      </p:sp>
      <p:sp>
        <p:nvSpPr>
          <p:cNvPr id="9" name="Shape 6"/>
          <p:cNvSpPr/>
          <p:nvPr/>
        </p:nvSpPr>
        <p:spPr>
          <a:xfrm>
            <a:off x="4297680" y="1417320"/>
            <a:ext cx="3520440" cy="3566160"/>
          </a:xfrm>
          <a:prstGeom prst="roundRect">
            <a:avLst>
              <a:gd name="adj" fmla="val 3117"/>
            </a:avLst>
          </a:prstGeom>
          <a:solidFill>
            <a:srgbClr val="111831"/>
          </a:solidFill>
          <a:ln w="12700">
            <a:solidFill>
              <a:srgbClr val="26314F"/>
            </a:solidFill>
            <a:prstDash val="solid"/>
          </a:ln>
        </p:spPr>
      </p:sp>
      <p:sp>
        <p:nvSpPr>
          <p:cNvPr id="10" name="Shape 7"/>
          <p:cNvSpPr/>
          <p:nvPr/>
        </p:nvSpPr>
        <p:spPr>
          <a:xfrm>
            <a:off x="4572000" y="1645920"/>
            <a:ext cx="603504" cy="603504"/>
          </a:xfrm>
          <a:prstGeom prst="ellipse">
            <a:avLst/>
          </a:prstGeom>
          <a:solidFill>
            <a:srgbClr val="18213F"/>
          </a:solidFill>
          <a:ln w="12700">
            <a:solidFill>
              <a:srgbClr val="26314F"/>
            </a:solidFill>
            <a:prstDash val="solid"/>
          </a:ln>
        </p:spPr>
      </p:sp>
      <p:pic>
        <p:nvPicPr>
          <p:cNvPr id="11" name="Image 1" descr="message icon">    </p:cNvPr>
          <p:cNvPicPr>
            <a:picLocks noChangeAspect="1"/>
          </p:cNvPicPr>
          <p:nvPr/>
        </p:nvPicPr>
        <p:blipFill>
          <a:blip r:embed="rId2"/>
          <a:stretch>
            <a:fillRect/>
          </a:stretch>
        </p:blipFill>
        <p:spPr>
          <a:xfrm>
            <a:off x="4681728" y="1755648"/>
            <a:ext cx="384048" cy="384048"/>
          </a:xfrm>
          <a:prstGeom prst="rect">
            <a:avLst/>
          </a:prstGeom>
        </p:spPr>
      </p:pic>
      <p:sp>
        <p:nvSpPr>
          <p:cNvPr id="12" name="Text 8"/>
          <p:cNvSpPr txBox="1"/>
          <p:nvPr/>
        </p:nvSpPr>
        <p:spPr>
          <a:xfrm>
            <a:off x="5394960" y="1783080"/>
            <a:ext cx="2286000" cy="365760"/>
          </a:xfrm>
          <a:prstGeom prst="rect">
            <a:avLst/>
          </a:prstGeom>
          <a:noFill/>
          <a:ln/>
        </p:spPr>
        <p:txBody>
          <a:bodyPr wrap="square" lIns="0" tIns="0" rIns="0" bIns="0" rtlCol="0" anchor="t"/>
          <a:lstStyle/>
          <a:p>
            <a:pPr indent="0" marL="0">
              <a:buNone/>
            </a:pPr>
            <a:r>
              <a:rPr lang="en-US" sz="2000" b="1" dirty="0">
                <a:solidFill>
                  <a:srgbClr val="9AA4BD"/>
                </a:solidFill>
                <a:latin typeface="Cambria" pitchFamily="34" charset="0"/>
                <a:ea typeface="Cambria" pitchFamily="34" charset="-122"/>
                <a:cs typeface="Cambria" pitchFamily="34" charset="-120"/>
              </a:rPr>
              <a:t>Generic AI chat</a:t>
            </a:r>
            <a:endParaRPr lang="en-US" sz="2000" dirty="0"/>
          </a:p>
        </p:txBody>
      </p:sp>
      <p:sp>
        <p:nvSpPr>
          <p:cNvPr id="13" name="Text 9"/>
          <p:cNvSpPr txBox="1"/>
          <p:nvPr/>
        </p:nvSpPr>
        <p:spPr>
          <a:xfrm>
            <a:off x="4572000" y="2514600"/>
            <a:ext cx="3017520" cy="2286000"/>
          </a:xfrm>
          <a:prstGeom prst="rect">
            <a:avLst/>
          </a:prstGeom>
          <a:noFill/>
          <a:ln/>
        </p:spPr>
        <p:txBody>
          <a:bodyPr wrap="square" lIns="0" tIns="0" rIns="0" bIns="0" rtlCol="0" anchor="t"/>
          <a:lstStyle/>
          <a:p>
            <a:pPr marL="203200" indent="-203200">
              <a:spcAft>
                <a:spcPts val="1200"/>
              </a:spcAft>
              <a:buSzPct val="100000"/>
              <a:buChar char="•"/>
            </a:pPr>
            <a:r>
              <a:rPr lang="en-US" sz="1600" dirty="0">
                <a:solidFill>
                  <a:srgbClr val="9AA4BD"/>
                </a:solidFill>
                <a:latin typeface="Calibri" pitchFamily="34" charset="0"/>
                <a:ea typeface="Calibri" pitchFamily="34" charset="-122"/>
                <a:cs typeface="Calibri" pitchFamily="34" charset="-120"/>
              </a:rPr>
              <a:t>Fluent, confident answers</a:t>
            </a:r>
            <a:endParaRPr lang="en-US" sz="1600" dirty="0"/>
          </a:p>
          <a:p>
            <a:pPr marL="203200" indent="-203200">
              <a:spcAft>
                <a:spcPts val="1200"/>
              </a:spcAft>
              <a:buSzPct val="100000"/>
              <a:buChar char="•"/>
            </a:pPr>
            <a:r>
              <a:rPr lang="en-US" sz="1600" dirty="0">
                <a:solidFill>
                  <a:srgbClr val="9AA4BD"/>
                </a:solidFill>
                <a:latin typeface="Calibri" pitchFamily="34" charset="0"/>
                <a:ea typeface="Calibri" pitchFamily="34" charset="-122"/>
                <a:cs typeface="Calibri" pitchFamily="34" charset="-120"/>
              </a:rPr>
              <a:t>Can invent numbers, segments or causes</a:t>
            </a:r>
            <a:endParaRPr lang="en-US" sz="1600" dirty="0"/>
          </a:p>
          <a:p>
            <a:pPr marL="203200" indent="-203200">
              <a:spcAft>
                <a:spcPts val="1200"/>
              </a:spcAft>
              <a:buSzPct val="100000"/>
              <a:buChar char="•"/>
            </a:pPr>
            <a:r>
              <a:rPr lang="en-US" sz="1600" dirty="0">
                <a:solidFill>
                  <a:srgbClr val="9AA4BD"/>
                </a:solidFill>
                <a:latin typeface="Calibri" pitchFamily="34" charset="0"/>
                <a:ea typeface="Calibri" pitchFamily="34" charset="-122"/>
                <a:cs typeface="Calibri" pitchFamily="34" charset="-120"/>
              </a:rPr>
              <a:t>Can be pushed to “just send it”</a:t>
            </a:r>
            <a:endParaRPr lang="en-US" sz="1600" dirty="0"/>
          </a:p>
        </p:txBody>
      </p:sp>
      <p:sp>
        <p:nvSpPr>
          <p:cNvPr id="14" name="Shape 10"/>
          <p:cNvSpPr/>
          <p:nvPr/>
        </p:nvSpPr>
        <p:spPr>
          <a:xfrm>
            <a:off x="8046720" y="1417320"/>
            <a:ext cx="3520440" cy="3566160"/>
          </a:xfrm>
          <a:prstGeom prst="roundRect">
            <a:avLst>
              <a:gd name="adj" fmla="val 3117"/>
            </a:avLst>
          </a:prstGeom>
          <a:solidFill>
            <a:srgbClr val="18213F"/>
          </a:solidFill>
          <a:ln w="19050">
            <a:solidFill>
              <a:srgbClr val="4C8DFF"/>
            </a:solidFill>
            <a:prstDash val="solid"/>
          </a:ln>
        </p:spPr>
      </p:sp>
      <p:sp>
        <p:nvSpPr>
          <p:cNvPr id="15" name="Shape 11"/>
          <p:cNvSpPr/>
          <p:nvPr/>
        </p:nvSpPr>
        <p:spPr>
          <a:xfrm>
            <a:off x="8321040" y="1645920"/>
            <a:ext cx="603504" cy="603504"/>
          </a:xfrm>
          <a:prstGeom prst="ellipse">
            <a:avLst/>
          </a:prstGeom>
          <a:solidFill>
            <a:srgbClr val="18213F"/>
          </a:solidFill>
          <a:ln w="12700">
            <a:solidFill>
              <a:srgbClr val="26314F"/>
            </a:solidFill>
            <a:prstDash val="solid"/>
          </a:ln>
        </p:spPr>
      </p:sp>
      <p:pic>
        <p:nvPicPr>
          <p:cNvPr id="16" name="Image 2" descr="target icon">    </p:cNvPr>
          <p:cNvPicPr>
            <a:picLocks noChangeAspect="1"/>
          </p:cNvPicPr>
          <p:nvPr/>
        </p:nvPicPr>
        <p:blipFill>
          <a:blip r:embed="rId3"/>
          <a:stretch>
            <a:fillRect/>
          </a:stretch>
        </p:blipFill>
        <p:spPr>
          <a:xfrm>
            <a:off x="8430768" y="1755648"/>
            <a:ext cx="384048" cy="384048"/>
          </a:xfrm>
          <a:prstGeom prst="rect">
            <a:avLst/>
          </a:prstGeom>
        </p:spPr>
      </p:pic>
      <p:sp>
        <p:nvSpPr>
          <p:cNvPr id="17" name="Text 12"/>
          <p:cNvSpPr txBox="1"/>
          <p:nvPr/>
        </p:nvSpPr>
        <p:spPr>
          <a:xfrm>
            <a:off x="9144000" y="1783080"/>
            <a:ext cx="2286000" cy="365760"/>
          </a:xfrm>
          <a:prstGeom prst="rect">
            <a:avLst/>
          </a:prstGeom>
          <a:noFill/>
          <a:ln/>
        </p:spPr>
        <p:txBody>
          <a:bodyPr wrap="square" lIns="0" tIns="0" rIns="0" bIns="0" rtlCol="0" anchor="t"/>
          <a:lstStyle/>
          <a:p>
            <a:pPr indent="0" marL="0">
              <a:buNone/>
            </a:pPr>
            <a:r>
              <a:rPr lang="en-US" sz="2000" b="1" dirty="0">
                <a:solidFill>
                  <a:srgbClr val="E7EBF3"/>
                </a:solidFill>
                <a:latin typeface="Cambria" pitchFamily="34" charset="0"/>
                <a:ea typeface="Cambria" pitchFamily="34" charset="-122"/>
                <a:cs typeface="Cambria" pitchFamily="34" charset="-120"/>
              </a:rPr>
              <a:t>DukaanPulse AI</a:t>
            </a:r>
            <a:endParaRPr lang="en-US" sz="2000" dirty="0"/>
          </a:p>
        </p:txBody>
      </p:sp>
      <p:sp>
        <p:nvSpPr>
          <p:cNvPr id="18" name="Text 13"/>
          <p:cNvSpPr txBox="1"/>
          <p:nvPr/>
        </p:nvSpPr>
        <p:spPr>
          <a:xfrm>
            <a:off x="8321040" y="2514600"/>
            <a:ext cx="3017520" cy="2286000"/>
          </a:xfrm>
          <a:prstGeom prst="rect">
            <a:avLst/>
          </a:prstGeom>
          <a:noFill/>
          <a:ln/>
        </p:spPr>
        <p:txBody>
          <a:bodyPr wrap="square" lIns="0" tIns="0" rIns="0" bIns="0" rtlCol="0" anchor="t"/>
          <a:lstStyle/>
          <a:p>
            <a:pPr marL="203200" indent="-203200">
              <a:spcAft>
                <a:spcPts val="1200"/>
              </a:spcAft>
              <a:buSzPct val="100000"/>
              <a:buChar char="•"/>
            </a:pPr>
            <a:r>
              <a:rPr lang="en-US" sz="1600" dirty="0">
                <a:solidFill>
                  <a:srgbClr val="E7EBF3"/>
                </a:solidFill>
                <a:latin typeface="Calibri" pitchFamily="34" charset="0"/>
                <a:ea typeface="Calibri" pitchFamily="34" charset="-122"/>
                <a:cs typeface="Calibri" pitchFamily="34" charset="-120"/>
              </a:rPr>
              <a:t>Finds who changed and why it matters</a:t>
            </a:r>
            <a:endParaRPr lang="en-US" sz="1600" dirty="0"/>
          </a:p>
          <a:p>
            <a:pPr marL="203200" indent="-203200">
              <a:spcAft>
                <a:spcPts val="1200"/>
              </a:spcAft>
              <a:buSzPct val="100000"/>
              <a:buChar char="•"/>
            </a:pPr>
            <a:r>
              <a:rPr lang="en-US" sz="1600" dirty="0">
                <a:solidFill>
                  <a:srgbClr val="E7EBF3"/>
                </a:solidFill>
                <a:latin typeface="Calibri" pitchFamily="34" charset="0"/>
                <a:ea typeface="Calibri" pitchFamily="34" charset="-122"/>
                <a:cs typeface="Calibri" pitchFamily="34" charset="-120"/>
              </a:rPr>
              <a:t>Prices each response, incl. doing nothing</a:t>
            </a:r>
            <a:endParaRPr lang="en-US" sz="1600" dirty="0"/>
          </a:p>
          <a:p>
            <a:pPr marL="203200" indent="-203200">
              <a:spcAft>
                <a:spcPts val="1200"/>
              </a:spcAft>
              <a:buSzPct val="100000"/>
              <a:buChar char="•"/>
            </a:pPr>
            <a:r>
              <a:rPr lang="en-US" sz="1600" dirty="0">
                <a:solidFill>
                  <a:srgbClr val="E7EBF3"/>
                </a:solidFill>
                <a:latin typeface="Calibri" pitchFamily="34" charset="0"/>
                <a:ea typeface="Calibri" pitchFamily="34" charset="-122"/>
                <a:cs typeface="Calibri" pitchFamily="34" charset="-120"/>
              </a:rPr>
              <a:t>Every claim checked; merchant approves</a:t>
            </a:r>
            <a:endParaRPr lang="en-US" sz="1600" dirty="0"/>
          </a:p>
        </p:txBody>
      </p:sp>
      <p:sp>
        <p:nvSpPr>
          <p:cNvPr id="19" name="Shape 14"/>
          <p:cNvSpPr/>
          <p:nvPr/>
        </p:nvSpPr>
        <p:spPr>
          <a:xfrm>
            <a:off x="548640" y="5257800"/>
            <a:ext cx="11094415" cy="777240"/>
          </a:xfrm>
          <a:prstGeom prst="roundRect">
            <a:avLst>
              <a:gd name="adj" fmla="val 14118"/>
            </a:avLst>
          </a:prstGeom>
          <a:solidFill>
            <a:srgbClr val="18213F"/>
          </a:solidFill>
          <a:ln w="12700">
            <a:solidFill>
              <a:srgbClr val="26314F"/>
            </a:solidFill>
            <a:prstDash val="solid"/>
          </a:ln>
        </p:spPr>
      </p:sp>
      <p:sp>
        <p:nvSpPr>
          <p:cNvPr id="20" name="Text 15"/>
          <p:cNvSpPr txBox="1"/>
          <p:nvPr/>
        </p:nvSpPr>
        <p:spPr>
          <a:xfrm>
            <a:off x="868680" y="5257800"/>
            <a:ext cx="10454335" cy="777240"/>
          </a:xfrm>
          <a:prstGeom prst="rect">
            <a:avLst/>
          </a:prstGeom>
          <a:noFill/>
          <a:ln/>
        </p:spPr>
        <p:txBody>
          <a:bodyPr wrap="square" lIns="0" tIns="0" rIns="0" bIns="0" rtlCol="0" anchor="ctr"/>
          <a:lstStyle/>
          <a:p>
            <a:pPr indent="0" marL="0">
              <a:buNone/>
            </a:pPr>
            <a:r>
              <a:rPr lang="en-US" sz="1700" i="1" dirty="0">
                <a:solidFill>
                  <a:srgbClr val="E7EBF3"/>
                </a:solidFill>
                <a:latin typeface="Cambria" pitchFamily="34" charset="0"/>
                <a:ea typeface="Cambria" pitchFamily="34" charset="-122"/>
                <a:cs typeface="Cambria" pitchFamily="34" charset="-120"/>
              </a:rPr>
              <a:t>For a decision that costs real money, “sounds right” is not good enough — every number and claim must be traceable.</a:t>
            </a:r>
            <a:endParaRPr lang="en-US" sz="1700" dirty="0"/>
          </a:p>
        </p:txBody>
      </p:sp>
      <p:sp>
        <p:nvSpPr>
          <p:cNvPr id="25" name="Slide Number Placeholder 0"/>
          <p:cNvSpPr>
            <a:spLocks noGrp="1"/>
          </p:cNvSpPr>
          <p:nvPr>
            <p:ph type="sldNum" sz="quarter" idx="4294967295"/>
          </p:nvPr>
        </p:nvSpPr>
        <p:spPr>
          <a:xfrm>
            <a:off x="11185855" y="647395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AA4BD"/>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146304"/>
            <a:ext cx="7315200" cy="219456"/>
          </a:xfrm>
          <a:prstGeom prst="rect">
            <a:avLst/>
          </a:prstGeom>
          <a:noFill/>
          <a:ln/>
        </p:spPr>
        <p:txBody>
          <a:bodyPr wrap="square" lIns="0" tIns="0" rIns="0" bIns="0" rtlCol="0" anchor="t"/>
          <a:lstStyle/>
          <a:p>
            <a:pPr indent="0" marL="0">
              <a:buNone/>
            </a:pPr>
            <a:r>
              <a:rPr lang="en-US" sz="1000" b="1" spc="200" kern="0" dirty="0">
                <a:solidFill>
                  <a:srgbClr val="4C8DFF"/>
                </a:solidFill>
                <a:latin typeface="Calibri" pitchFamily="34" charset="0"/>
                <a:ea typeface="Calibri" pitchFamily="34" charset="-122"/>
                <a:cs typeface="Calibri" pitchFamily="34" charset="-120"/>
              </a:rPr>
              <a:t>PROPOSED SOLUTION</a:t>
            </a:r>
            <a:endParaRPr lang="en-US" sz="1000" dirty="0"/>
          </a:p>
        </p:txBody>
      </p:sp>
      <p:sp>
        <p:nvSpPr>
          <p:cNvPr id="3" name="Text 0"/>
          <p:cNvSpPr/>
          <p:nvPr>
            <p:ph idx="100" type="title" hasCustomPrompt="1"/>
          </p:nvPr>
        </p:nvSpPr>
        <p:spPr>
          <a:xfrm>
            <a:off x="548640" y="384048"/>
            <a:ext cx="11094415" cy="777240"/>
          </a:xfrm>
          <a:prstGeom prst="rect">
            <a:avLst/>
          </a:prstGeom>
          <a:noFill/>
          <a:ln/>
        </p:spPr>
        <p:txBody>
          <a:bodyPr wrap="square" lIns="0" tIns="0" rIns="0" bIns="0" rtlCol="0" anchor="t"/>
          <a:lstStyle/>
          <a:p>
            <a:pPr algn="l" indent="0" marL="0">
              <a:buNone/>
            </a:pPr>
            <a:r>
              <a:rPr lang="en-US" sz="2800" b="1" dirty="0">
                <a:solidFill>
                  <a:srgbClr val="E7EBF3"/>
                </a:solidFill>
                <a:latin typeface="Cambria" pitchFamily="34" charset="0"/>
                <a:ea typeface="Cambria" pitchFamily="34" charset="-122"/>
                <a:cs typeface="Cambria" pitchFamily="34" charset="-120"/>
              </a:rPr>
              <a:t>One loop: from a payment signal to a measured decision</a:t>
            </a:r>
            <a:endParaRPr lang="en-US" sz="2800" dirty="0"/>
          </a:p>
        </p:txBody>
      </p:sp>
      <p:sp>
        <p:nvSpPr>
          <p:cNvPr id="4" name="Shape 2"/>
          <p:cNvSpPr/>
          <p:nvPr/>
        </p:nvSpPr>
        <p:spPr>
          <a:xfrm>
            <a:off x="548640" y="1874520"/>
            <a:ext cx="1920240" cy="2148840"/>
          </a:xfrm>
          <a:prstGeom prst="roundRect">
            <a:avLst>
              <a:gd name="adj" fmla="val 5714"/>
            </a:avLst>
          </a:prstGeom>
          <a:solidFill>
            <a:srgbClr val="111831"/>
          </a:solidFill>
          <a:ln w="12700">
            <a:solidFill>
              <a:srgbClr val="26314F"/>
            </a:solidFill>
            <a:prstDash val="solid"/>
          </a:ln>
        </p:spPr>
      </p:sp>
      <p:sp>
        <p:nvSpPr>
          <p:cNvPr id="5" name="Shape 3"/>
          <p:cNvSpPr/>
          <p:nvPr/>
        </p:nvSpPr>
        <p:spPr>
          <a:xfrm>
            <a:off x="1207008" y="2103120"/>
            <a:ext cx="603504" cy="603504"/>
          </a:xfrm>
          <a:prstGeom prst="ellipse">
            <a:avLst/>
          </a:prstGeom>
          <a:solidFill>
            <a:srgbClr val="18213F"/>
          </a:solidFill>
          <a:ln w="12700">
            <a:solidFill>
              <a:srgbClr val="26314F"/>
            </a:solidFill>
            <a:prstDash val="solid"/>
          </a:ln>
        </p:spPr>
      </p:sp>
      <p:pic>
        <p:nvPicPr>
          <p:cNvPr id="6" name="Image 0" descr="ask icon">    </p:cNvPr>
          <p:cNvPicPr>
            <a:picLocks noChangeAspect="1"/>
          </p:cNvPicPr>
          <p:nvPr/>
        </p:nvPicPr>
        <p:blipFill>
          <a:blip r:embed="rId1"/>
          <a:stretch>
            <a:fillRect/>
          </a:stretch>
        </p:blipFill>
        <p:spPr>
          <a:xfrm>
            <a:off x="1316736" y="2212848"/>
            <a:ext cx="384048" cy="384048"/>
          </a:xfrm>
          <a:prstGeom prst="rect">
            <a:avLst/>
          </a:prstGeom>
        </p:spPr>
      </p:pic>
      <p:sp>
        <p:nvSpPr>
          <p:cNvPr id="7" name="Text 4"/>
          <p:cNvSpPr txBox="1"/>
          <p:nvPr/>
        </p:nvSpPr>
        <p:spPr>
          <a:xfrm>
            <a:off x="548640" y="2834640"/>
            <a:ext cx="1920240" cy="365760"/>
          </a:xfrm>
          <a:prstGeom prst="rect">
            <a:avLst/>
          </a:prstGeom>
          <a:noFill/>
          <a:ln/>
        </p:spPr>
        <p:txBody>
          <a:bodyPr wrap="square" lIns="0" tIns="0" rIns="0" bIns="0" rtlCol="0" anchor="t"/>
          <a:lstStyle/>
          <a:p>
            <a:pPr algn="ctr" indent="0" marL="0">
              <a:buNone/>
            </a:pPr>
            <a:r>
              <a:rPr lang="en-US" sz="1900" b="1" dirty="0">
                <a:solidFill>
                  <a:srgbClr val="E7EBF3"/>
                </a:solidFill>
                <a:latin typeface="Cambria" pitchFamily="34" charset="0"/>
                <a:ea typeface="Cambria" pitchFamily="34" charset="-122"/>
                <a:cs typeface="Cambria" pitchFamily="34" charset="-120"/>
              </a:rPr>
              <a:t>Ask</a:t>
            </a:r>
            <a:endParaRPr lang="en-US" sz="1900" dirty="0"/>
          </a:p>
        </p:txBody>
      </p:sp>
      <p:sp>
        <p:nvSpPr>
          <p:cNvPr id="8" name="Text 5"/>
          <p:cNvSpPr txBox="1"/>
          <p:nvPr/>
        </p:nvSpPr>
        <p:spPr>
          <a:xfrm>
            <a:off x="685800" y="3246120"/>
            <a:ext cx="1645920" cy="640080"/>
          </a:xfrm>
          <a:prstGeom prst="rect">
            <a:avLst/>
          </a:prstGeom>
          <a:noFill/>
          <a:ln/>
        </p:spPr>
        <p:txBody>
          <a:bodyPr wrap="square" lIns="0" tIns="0" rIns="0" bIns="0" rtlCol="0" anchor="t"/>
          <a:lstStyle/>
          <a:p>
            <a:pPr algn="ctr" indent="0" marL="0">
              <a:buNone/>
            </a:pPr>
            <a:r>
              <a:rPr lang="en-US" sz="1300" dirty="0">
                <a:solidFill>
                  <a:srgbClr val="9AA4BD"/>
                </a:solidFill>
                <a:latin typeface="Calibri" pitchFamily="34" charset="0"/>
                <a:ea typeface="Calibri" pitchFamily="34" charset="-122"/>
                <a:cs typeface="Calibri" pitchFamily="34" charset="-120"/>
              </a:rPr>
              <a:t>Merchant asks in plain words</a:t>
            </a:r>
            <a:endParaRPr lang="en-US" sz="1300" dirty="0"/>
          </a:p>
        </p:txBody>
      </p:sp>
      <p:sp>
        <p:nvSpPr>
          <p:cNvPr id="9" name="Shape 6"/>
          <p:cNvSpPr/>
          <p:nvPr/>
        </p:nvSpPr>
        <p:spPr>
          <a:xfrm>
            <a:off x="2505456" y="2944368"/>
            <a:ext cx="300152" cy="914"/>
          </a:xfrm>
          <a:prstGeom prst="line">
            <a:avLst/>
          </a:prstGeom>
          <a:noFill/>
          <a:ln w="19050">
            <a:solidFill>
              <a:srgbClr val="4C8DFF"/>
            </a:solidFill>
            <a:prstDash val="solid"/>
            <a:tailEnd type="triangle"/>
          </a:ln>
        </p:spPr>
      </p:sp>
      <p:sp>
        <p:nvSpPr>
          <p:cNvPr id="10" name="Shape 7"/>
          <p:cNvSpPr/>
          <p:nvPr/>
        </p:nvSpPr>
        <p:spPr>
          <a:xfrm>
            <a:off x="2842184" y="1874520"/>
            <a:ext cx="1920240" cy="2148840"/>
          </a:xfrm>
          <a:prstGeom prst="roundRect">
            <a:avLst>
              <a:gd name="adj" fmla="val 5714"/>
            </a:avLst>
          </a:prstGeom>
          <a:solidFill>
            <a:srgbClr val="111831"/>
          </a:solidFill>
          <a:ln w="12700">
            <a:solidFill>
              <a:srgbClr val="26314F"/>
            </a:solidFill>
            <a:prstDash val="solid"/>
          </a:ln>
        </p:spPr>
      </p:sp>
      <p:sp>
        <p:nvSpPr>
          <p:cNvPr id="11" name="Shape 8"/>
          <p:cNvSpPr/>
          <p:nvPr/>
        </p:nvSpPr>
        <p:spPr>
          <a:xfrm>
            <a:off x="3500552" y="2103120"/>
            <a:ext cx="603504" cy="603504"/>
          </a:xfrm>
          <a:prstGeom prst="ellipse">
            <a:avLst/>
          </a:prstGeom>
          <a:solidFill>
            <a:srgbClr val="18213F"/>
          </a:solidFill>
          <a:ln w="12700">
            <a:solidFill>
              <a:srgbClr val="26314F"/>
            </a:solidFill>
            <a:prstDash val="solid"/>
          </a:ln>
        </p:spPr>
      </p:sp>
      <p:pic>
        <p:nvPicPr>
          <p:cNvPr id="12" name="Image 1" descr="search icon">    </p:cNvPr>
          <p:cNvPicPr>
            <a:picLocks noChangeAspect="1"/>
          </p:cNvPicPr>
          <p:nvPr/>
        </p:nvPicPr>
        <p:blipFill>
          <a:blip r:embed="rId2"/>
          <a:stretch>
            <a:fillRect/>
          </a:stretch>
        </p:blipFill>
        <p:spPr>
          <a:xfrm>
            <a:off x="3610280" y="2212848"/>
            <a:ext cx="384048" cy="384048"/>
          </a:xfrm>
          <a:prstGeom prst="rect">
            <a:avLst/>
          </a:prstGeom>
        </p:spPr>
      </p:pic>
      <p:sp>
        <p:nvSpPr>
          <p:cNvPr id="13" name="Text 9"/>
          <p:cNvSpPr txBox="1"/>
          <p:nvPr/>
        </p:nvSpPr>
        <p:spPr>
          <a:xfrm>
            <a:off x="2842184" y="2834640"/>
            <a:ext cx="1920240" cy="365760"/>
          </a:xfrm>
          <a:prstGeom prst="rect">
            <a:avLst/>
          </a:prstGeom>
          <a:noFill/>
          <a:ln/>
        </p:spPr>
        <p:txBody>
          <a:bodyPr wrap="square" lIns="0" tIns="0" rIns="0" bIns="0" rtlCol="0" anchor="t"/>
          <a:lstStyle/>
          <a:p>
            <a:pPr algn="ctr" indent="0" marL="0">
              <a:buNone/>
            </a:pPr>
            <a:r>
              <a:rPr lang="en-US" sz="1900" b="1" dirty="0">
                <a:solidFill>
                  <a:srgbClr val="E7EBF3"/>
                </a:solidFill>
                <a:latin typeface="Cambria" pitchFamily="34" charset="0"/>
                <a:ea typeface="Cambria" pitchFamily="34" charset="-122"/>
                <a:cs typeface="Cambria" pitchFamily="34" charset="-120"/>
              </a:rPr>
              <a:t>Investigate</a:t>
            </a:r>
            <a:endParaRPr lang="en-US" sz="1900" dirty="0"/>
          </a:p>
        </p:txBody>
      </p:sp>
      <p:sp>
        <p:nvSpPr>
          <p:cNvPr id="14" name="Text 10"/>
          <p:cNvSpPr txBox="1"/>
          <p:nvPr/>
        </p:nvSpPr>
        <p:spPr>
          <a:xfrm>
            <a:off x="2979344" y="3246120"/>
            <a:ext cx="1645920" cy="640080"/>
          </a:xfrm>
          <a:prstGeom prst="rect">
            <a:avLst/>
          </a:prstGeom>
          <a:noFill/>
          <a:ln/>
        </p:spPr>
        <p:txBody>
          <a:bodyPr wrap="square" lIns="0" tIns="0" rIns="0" bIns="0" rtlCol="0" anchor="t"/>
          <a:lstStyle/>
          <a:p>
            <a:pPr algn="ctr" indent="0" marL="0">
              <a:buNone/>
            </a:pPr>
            <a:r>
              <a:rPr lang="en-US" sz="1300" dirty="0">
                <a:solidFill>
                  <a:srgbClr val="9AA4BD"/>
                </a:solidFill>
                <a:latin typeface="Calibri" pitchFamily="34" charset="0"/>
                <a:ea typeface="Calibri" pitchFamily="34" charset="-122"/>
                <a:cs typeface="Calibri" pitchFamily="34" charset="-120"/>
              </a:rPr>
              <a:t>Specialist agents gather evidence</a:t>
            </a:r>
            <a:endParaRPr lang="en-US" sz="1300" dirty="0"/>
          </a:p>
        </p:txBody>
      </p:sp>
      <p:sp>
        <p:nvSpPr>
          <p:cNvPr id="15" name="Shape 11"/>
          <p:cNvSpPr/>
          <p:nvPr/>
        </p:nvSpPr>
        <p:spPr>
          <a:xfrm>
            <a:off x="4799000" y="2944368"/>
            <a:ext cx="300152" cy="914"/>
          </a:xfrm>
          <a:prstGeom prst="line">
            <a:avLst/>
          </a:prstGeom>
          <a:noFill/>
          <a:ln w="19050">
            <a:solidFill>
              <a:srgbClr val="4C8DFF"/>
            </a:solidFill>
            <a:prstDash val="solid"/>
            <a:tailEnd type="triangle"/>
          </a:ln>
        </p:spPr>
      </p:sp>
      <p:sp>
        <p:nvSpPr>
          <p:cNvPr id="16" name="Shape 12"/>
          <p:cNvSpPr/>
          <p:nvPr/>
        </p:nvSpPr>
        <p:spPr>
          <a:xfrm>
            <a:off x="5135728" y="1874520"/>
            <a:ext cx="1920240" cy="2148840"/>
          </a:xfrm>
          <a:prstGeom prst="roundRect">
            <a:avLst>
              <a:gd name="adj" fmla="val 5714"/>
            </a:avLst>
          </a:prstGeom>
          <a:solidFill>
            <a:srgbClr val="111831"/>
          </a:solidFill>
          <a:ln w="12700">
            <a:solidFill>
              <a:srgbClr val="26314F"/>
            </a:solidFill>
            <a:prstDash val="solid"/>
          </a:ln>
        </p:spPr>
      </p:sp>
      <p:sp>
        <p:nvSpPr>
          <p:cNvPr id="17" name="Shape 13"/>
          <p:cNvSpPr/>
          <p:nvPr/>
        </p:nvSpPr>
        <p:spPr>
          <a:xfrm>
            <a:off x="5794096" y="2103120"/>
            <a:ext cx="603504" cy="603504"/>
          </a:xfrm>
          <a:prstGeom prst="ellipse">
            <a:avLst/>
          </a:prstGeom>
          <a:solidFill>
            <a:srgbClr val="18213F"/>
          </a:solidFill>
          <a:ln w="12700">
            <a:solidFill>
              <a:srgbClr val="26314F"/>
            </a:solidFill>
            <a:prstDash val="solid"/>
          </a:ln>
        </p:spPr>
      </p:sp>
      <p:pic>
        <p:nvPicPr>
          <p:cNvPr id="18" name="Image 2" descr="scale icon">    </p:cNvPr>
          <p:cNvPicPr>
            <a:picLocks noChangeAspect="1"/>
          </p:cNvPicPr>
          <p:nvPr/>
        </p:nvPicPr>
        <p:blipFill>
          <a:blip r:embed="rId3"/>
          <a:stretch>
            <a:fillRect/>
          </a:stretch>
        </p:blipFill>
        <p:spPr>
          <a:xfrm>
            <a:off x="5903824" y="2212848"/>
            <a:ext cx="384048" cy="384048"/>
          </a:xfrm>
          <a:prstGeom prst="rect">
            <a:avLst/>
          </a:prstGeom>
        </p:spPr>
      </p:pic>
      <p:sp>
        <p:nvSpPr>
          <p:cNvPr id="19" name="Text 14"/>
          <p:cNvSpPr txBox="1"/>
          <p:nvPr/>
        </p:nvSpPr>
        <p:spPr>
          <a:xfrm>
            <a:off x="5135728" y="2834640"/>
            <a:ext cx="1920240" cy="365760"/>
          </a:xfrm>
          <a:prstGeom prst="rect">
            <a:avLst/>
          </a:prstGeom>
          <a:noFill/>
          <a:ln/>
        </p:spPr>
        <p:txBody>
          <a:bodyPr wrap="square" lIns="0" tIns="0" rIns="0" bIns="0" rtlCol="0" anchor="t"/>
          <a:lstStyle/>
          <a:p>
            <a:pPr algn="ctr" indent="0" marL="0">
              <a:buNone/>
            </a:pPr>
            <a:r>
              <a:rPr lang="en-US" sz="1900" b="1" dirty="0">
                <a:solidFill>
                  <a:srgbClr val="E7EBF3"/>
                </a:solidFill>
                <a:latin typeface="Cambria" pitchFamily="34" charset="0"/>
                <a:ea typeface="Cambria" pitchFamily="34" charset="-122"/>
                <a:cs typeface="Cambria" pitchFamily="34" charset="-120"/>
              </a:rPr>
              <a:t>Compare</a:t>
            </a:r>
            <a:endParaRPr lang="en-US" sz="1900" dirty="0"/>
          </a:p>
        </p:txBody>
      </p:sp>
      <p:sp>
        <p:nvSpPr>
          <p:cNvPr id="20" name="Text 15"/>
          <p:cNvSpPr txBox="1"/>
          <p:nvPr/>
        </p:nvSpPr>
        <p:spPr>
          <a:xfrm>
            <a:off x="5272888" y="3246120"/>
            <a:ext cx="1645920" cy="640080"/>
          </a:xfrm>
          <a:prstGeom prst="rect">
            <a:avLst/>
          </a:prstGeom>
          <a:noFill/>
          <a:ln/>
        </p:spPr>
        <p:txBody>
          <a:bodyPr wrap="square" lIns="0" tIns="0" rIns="0" bIns="0" rtlCol="0" anchor="t"/>
          <a:lstStyle/>
          <a:p>
            <a:pPr algn="ctr" indent="0" marL="0">
              <a:buNone/>
            </a:pPr>
            <a:r>
              <a:rPr lang="en-US" sz="1300" dirty="0">
                <a:solidFill>
                  <a:srgbClr val="9AA4BD"/>
                </a:solidFill>
                <a:latin typeface="Calibri" pitchFamily="34" charset="0"/>
                <a:ea typeface="Calibri" pitchFamily="34" charset="-122"/>
                <a:cs typeface="Calibri" pitchFamily="34" charset="-120"/>
              </a:rPr>
              <a:t>Price each option, incl. doing nothing</a:t>
            </a:r>
            <a:endParaRPr lang="en-US" sz="1300" dirty="0"/>
          </a:p>
        </p:txBody>
      </p:sp>
      <p:sp>
        <p:nvSpPr>
          <p:cNvPr id="21" name="Shape 16"/>
          <p:cNvSpPr/>
          <p:nvPr/>
        </p:nvSpPr>
        <p:spPr>
          <a:xfrm>
            <a:off x="7092544" y="2944368"/>
            <a:ext cx="300152" cy="914"/>
          </a:xfrm>
          <a:prstGeom prst="line">
            <a:avLst/>
          </a:prstGeom>
          <a:noFill/>
          <a:ln w="19050">
            <a:solidFill>
              <a:srgbClr val="4C8DFF"/>
            </a:solidFill>
            <a:prstDash val="solid"/>
            <a:tailEnd type="triangle"/>
          </a:ln>
        </p:spPr>
      </p:sp>
      <p:sp>
        <p:nvSpPr>
          <p:cNvPr id="22" name="Shape 17"/>
          <p:cNvSpPr/>
          <p:nvPr/>
        </p:nvSpPr>
        <p:spPr>
          <a:xfrm>
            <a:off x="7429271" y="1874520"/>
            <a:ext cx="1920240" cy="2148840"/>
          </a:xfrm>
          <a:prstGeom prst="roundRect">
            <a:avLst>
              <a:gd name="adj" fmla="val 5714"/>
            </a:avLst>
          </a:prstGeom>
          <a:solidFill>
            <a:srgbClr val="18213F"/>
          </a:solidFill>
          <a:ln w="12700">
            <a:solidFill>
              <a:srgbClr val="34D399"/>
            </a:solidFill>
            <a:prstDash val="solid"/>
          </a:ln>
        </p:spPr>
      </p:sp>
      <p:sp>
        <p:nvSpPr>
          <p:cNvPr id="23" name="Shape 18"/>
          <p:cNvSpPr/>
          <p:nvPr/>
        </p:nvSpPr>
        <p:spPr>
          <a:xfrm>
            <a:off x="8087639" y="2103120"/>
            <a:ext cx="603504" cy="603504"/>
          </a:xfrm>
          <a:prstGeom prst="ellipse">
            <a:avLst/>
          </a:prstGeom>
          <a:solidFill>
            <a:srgbClr val="18213F"/>
          </a:solidFill>
          <a:ln w="12700">
            <a:solidFill>
              <a:srgbClr val="26314F"/>
            </a:solidFill>
            <a:prstDash val="solid"/>
          </a:ln>
        </p:spPr>
      </p:sp>
      <p:pic>
        <p:nvPicPr>
          <p:cNvPr id="24" name="Image 3" descr="user icon">    </p:cNvPr>
          <p:cNvPicPr>
            <a:picLocks noChangeAspect="1"/>
          </p:cNvPicPr>
          <p:nvPr/>
        </p:nvPicPr>
        <p:blipFill>
          <a:blip r:embed="rId4"/>
          <a:stretch>
            <a:fillRect/>
          </a:stretch>
        </p:blipFill>
        <p:spPr>
          <a:xfrm>
            <a:off x="8197367" y="2212848"/>
            <a:ext cx="384048" cy="384048"/>
          </a:xfrm>
          <a:prstGeom prst="rect">
            <a:avLst/>
          </a:prstGeom>
        </p:spPr>
      </p:pic>
      <p:sp>
        <p:nvSpPr>
          <p:cNvPr id="25" name="Text 19"/>
          <p:cNvSpPr txBox="1"/>
          <p:nvPr/>
        </p:nvSpPr>
        <p:spPr>
          <a:xfrm>
            <a:off x="7429271" y="2834640"/>
            <a:ext cx="1920240" cy="365760"/>
          </a:xfrm>
          <a:prstGeom prst="rect">
            <a:avLst/>
          </a:prstGeom>
          <a:noFill/>
          <a:ln/>
        </p:spPr>
        <p:txBody>
          <a:bodyPr wrap="square" lIns="0" tIns="0" rIns="0" bIns="0" rtlCol="0" anchor="t"/>
          <a:lstStyle/>
          <a:p>
            <a:pPr algn="ctr" indent="0" marL="0">
              <a:buNone/>
            </a:pPr>
            <a:r>
              <a:rPr lang="en-US" sz="1900" b="1" dirty="0">
                <a:solidFill>
                  <a:srgbClr val="E7EBF3"/>
                </a:solidFill>
                <a:latin typeface="Cambria" pitchFamily="34" charset="0"/>
                <a:ea typeface="Cambria" pitchFamily="34" charset="-122"/>
                <a:cs typeface="Cambria" pitchFamily="34" charset="-120"/>
              </a:rPr>
              <a:t>Approve</a:t>
            </a:r>
            <a:endParaRPr lang="en-US" sz="1900" dirty="0"/>
          </a:p>
        </p:txBody>
      </p:sp>
      <p:sp>
        <p:nvSpPr>
          <p:cNvPr id="26" name="Text 20"/>
          <p:cNvSpPr txBox="1"/>
          <p:nvPr/>
        </p:nvSpPr>
        <p:spPr>
          <a:xfrm>
            <a:off x="7566431" y="3246120"/>
            <a:ext cx="1645920" cy="640080"/>
          </a:xfrm>
          <a:prstGeom prst="rect">
            <a:avLst/>
          </a:prstGeom>
          <a:noFill/>
          <a:ln/>
        </p:spPr>
        <p:txBody>
          <a:bodyPr wrap="square" lIns="0" tIns="0" rIns="0" bIns="0" rtlCol="0" anchor="t"/>
          <a:lstStyle/>
          <a:p>
            <a:pPr algn="ctr" indent="0" marL="0">
              <a:buNone/>
            </a:pPr>
            <a:r>
              <a:rPr lang="en-US" sz="1300" dirty="0">
                <a:solidFill>
                  <a:srgbClr val="9AA4BD"/>
                </a:solidFill>
                <a:latin typeface="Calibri" pitchFamily="34" charset="0"/>
                <a:ea typeface="Calibri" pitchFamily="34" charset="-122"/>
                <a:cs typeface="Calibri" pitchFamily="34" charset="-120"/>
              </a:rPr>
              <a:t>Merchant edits and approves — or not</a:t>
            </a:r>
            <a:endParaRPr lang="en-US" sz="1300" dirty="0"/>
          </a:p>
        </p:txBody>
      </p:sp>
      <p:sp>
        <p:nvSpPr>
          <p:cNvPr id="27" name="Shape 21"/>
          <p:cNvSpPr/>
          <p:nvPr/>
        </p:nvSpPr>
        <p:spPr>
          <a:xfrm>
            <a:off x="9386087" y="2944368"/>
            <a:ext cx="300152" cy="914"/>
          </a:xfrm>
          <a:prstGeom prst="line">
            <a:avLst/>
          </a:prstGeom>
          <a:noFill/>
          <a:ln w="19050">
            <a:solidFill>
              <a:srgbClr val="4C8DFF"/>
            </a:solidFill>
            <a:prstDash val="solid"/>
            <a:tailEnd type="triangle"/>
          </a:ln>
        </p:spPr>
      </p:sp>
      <p:sp>
        <p:nvSpPr>
          <p:cNvPr id="28" name="Shape 22"/>
          <p:cNvSpPr/>
          <p:nvPr/>
        </p:nvSpPr>
        <p:spPr>
          <a:xfrm>
            <a:off x="9722815" y="1874520"/>
            <a:ext cx="1920240" cy="2148840"/>
          </a:xfrm>
          <a:prstGeom prst="roundRect">
            <a:avLst>
              <a:gd name="adj" fmla="val 5714"/>
            </a:avLst>
          </a:prstGeom>
          <a:solidFill>
            <a:srgbClr val="111831"/>
          </a:solidFill>
          <a:ln w="12700">
            <a:solidFill>
              <a:srgbClr val="26314F"/>
            </a:solidFill>
            <a:prstDash val="solid"/>
          </a:ln>
        </p:spPr>
      </p:sp>
      <p:sp>
        <p:nvSpPr>
          <p:cNvPr id="29" name="Shape 23"/>
          <p:cNvSpPr/>
          <p:nvPr/>
        </p:nvSpPr>
        <p:spPr>
          <a:xfrm>
            <a:off x="10381183" y="2103120"/>
            <a:ext cx="603504" cy="603504"/>
          </a:xfrm>
          <a:prstGeom prst="ellipse">
            <a:avLst/>
          </a:prstGeom>
          <a:solidFill>
            <a:srgbClr val="18213F"/>
          </a:solidFill>
          <a:ln w="12700">
            <a:solidFill>
              <a:srgbClr val="26314F"/>
            </a:solidFill>
            <a:prstDash val="solid"/>
          </a:ln>
        </p:spPr>
      </p:sp>
      <p:pic>
        <p:nvPicPr>
          <p:cNvPr id="30" name="Image 4" descr="flask icon">    </p:cNvPr>
          <p:cNvPicPr>
            <a:picLocks noChangeAspect="1"/>
          </p:cNvPicPr>
          <p:nvPr/>
        </p:nvPicPr>
        <p:blipFill>
          <a:blip r:embed="rId5"/>
          <a:stretch>
            <a:fillRect/>
          </a:stretch>
        </p:blipFill>
        <p:spPr>
          <a:xfrm>
            <a:off x="10490911" y="2212848"/>
            <a:ext cx="384048" cy="384048"/>
          </a:xfrm>
          <a:prstGeom prst="rect">
            <a:avLst/>
          </a:prstGeom>
        </p:spPr>
      </p:pic>
      <p:sp>
        <p:nvSpPr>
          <p:cNvPr id="31" name="Text 24"/>
          <p:cNvSpPr txBox="1"/>
          <p:nvPr/>
        </p:nvSpPr>
        <p:spPr>
          <a:xfrm>
            <a:off x="9722815" y="2834640"/>
            <a:ext cx="1920240" cy="365760"/>
          </a:xfrm>
          <a:prstGeom prst="rect">
            <a:avLst/>
          </a:prstGeom>
          <a:noFill/>
          <a:ln/>
        </p:spPr>
        <p:txBody>
          <a:bodyPr wrap="square" lIns="0" tIns="0" rIns="0" bIns="0" rtlCol="0" anchor="t"/>
          <a:lstStyle/>
          <a:p>
            <a:pPr algn="ctr" indent="0" marL="0">
              <a:buNone/>
            </a:pPr>
            <a:r>
              <a:rPr lang="en-US" sz="1900" b="1" dirty="0">
                <a:solidFill>
                  <a:srgbClr val="E7EBF3"/>
                </a:solidFill>
                <a:latin typeface="Cambria" pitchFamily="34" charset="0"/>
                <a:ea typeface="Cambria" pitchFamily="34" charset="-122"/>
                <a:cs typeface="Cambria" pitchFamily="34" charset="-120"/>
              </a:rPr>
              <a:t>Measure</a:t>
            </a:r>
            <a:endParaRPr lang="en-US" sz="1900" dirty="0"/>
          </a:p>
        </p:txBody>
      </p:sp>
      <p:sp>
        <p:nvSpPr>
          <p:cNvPr id="32" name="Text 25"/>
          <p:cNvSpPr txBox="1"/>
          <p:nvPr/>
        </p:nvSpPr>
        <p:spPr>
          <a:xfrm>
            <a:off x="9859975" y="3246120"/>
            <a:ext cx="1645920" cy="640080"/>
          </a:xfrm>
          <a:prstGeom prst="rect">
            <a:avLst/>
          </a:prstGeom>
          <a:noFill/>
          <a:ln/>
        </p:spPr>
        <p:txBody>
          <a:bodyPr wrap="square" lIns="0" tIns="0" rIns="0" bIns="0" rtlCol="0" anchor="t"/>
          <a:lstStyle/>
          <a:p>
            <a:pPr algn="ctr" indent="0" marL="0">
              <a:buNone/>
            </a:pPr>
            <a:r>
              <a:rPr lang="en-US" sz="1300" dirty="0">
                <a:solidFill>
                  <a:srgbClr val="9AA4BD"/>
                </a:solidFill>
                <a:latin typeface="Calibri" pitchFamily="34" charset="0"/>
                <a:ea typeface="Calibri" pitchFamily="34" charset="-122"/>
                <a:cs typeface="Calibri" pitchFamily="34" charset="-120"/>
              </a:rPr>
              <a:t>Simulated run vs a held-back group</a:t>
            </a:r>
            <a:endParaRPr lang="en-US" sz="1300" dirty="0"/>
          </a:p>
        </p:txBody>
      </p:sp>
      <p:sp>
        <p:nvSpPr>
          <p:cNvPr id="33" name="Shape 26"/>
          <p:cNvSpPr/>
          <p:nvPr/>
        </p:nvSpPr>
        <p:spPr>
          <a:xfrm>
            <a:off x="10682935" y="4069080"/>
            <a:ext cx="914" cy="411480"/>
          </a:xfrm>
          <a:prstGeom prst="line">
            <a:avLst/>
          </a:prstGeom>
          <a:noFill/>
          <a:ln w="19050">
            <a:solidFill>
              <a:srgbClr val="9AA4BD"/>
            </a:solidFill>
            <a:prstDash val="solid"/>
            <a:tailEnd type="triangle"/>
          </a:ln>
        </p:spPr>
      </p:sp>
      <p:sp>
        <p:nvSpPr>
          <p:cNvPr id="34" name="Shape 27"/>
          <p:cNvSpPr/>
          <p:nvPr/>
        </p:nvSpPr>
        <p:spPr>
          <a:xfrm>
            <a:off x="1508760" y="4480560"/>
            <a:ext cx="9174175" cy="0"/>
          </a:xfrm>
          <a:prstGeom prst="line">
            <a:avLst/>
          </a:prstGeom>
          <a:noFill/>
          <a:ln w="19050">
            <a:solidFill>
              <a:srgbClr val="9AA4BD"/>
            </a:solidFill>
            <a:prstDash val="solid"/>
          </a:ln>
        </p:spPr>
      </p:sp>
      <p:sp>
        <p:nvSpPr>
          <p:cNvPr id="35" name="Shape 28"/>
          <p:cNvSpPr/>
          <p:nvPr/>
        </p:nvSpPr>
        <p:spPr>
          <a:xfrm flipV="1">
            <a:off x="1508760" y="4069080"/>
            <a:ext cx="914" cy="411480"/>
          </a:xfrm>
          <a:prstGeom prst="line">
            <a:avLst/>
          </a:prstGeom>
          <a:noFill/>
          <a:ln w="19050">
            <a:solidFill>
              <a:srgbClr val="9AA4BD"/>
            </a:solidFill>
            <a:prstDash val="solid"/>
            <a:tailEnd type="triangle"/>
          </a:ln>
        </p:spPr>
      </p:sp>
      <p:sp>
        <p:nvSpPr>
          <p:cNvPr id="36" name="Text 29"/>
          <p:cNvSpPr txBox="1"/>
          <p:nvPr/>
        </p:nvSpPr>
        <p:spPr>
          <a:xfrm>
            <a:off x="2560320" y="4572000"/>
            <a:ext cx="7863840" cy="320040"/>
          </a:xfrm>
          <a:prstGeom prst="rect">
            <a:avLst/>
          </a:prstGeom>
          <a:noFill/>
          <a:ln/>
        </p:spPr>
        <p:txBody>
          <a:bodyPr wrap="square" lIns="0" tIns="0" rIns="0" bIns="0" rtlCol="0" anchor="t"/>
          <a:lstStyle/>
          <a:p>
            <a:pPr algn="ctr" indent="0" marL="0">
              <a:buNone/>
            </a:pPr>
            <a:r>
              <a:rPr lang="en-US" sz="1400" i="1" dirty="0">
                <a:solidFill>
                  <a:srgbClr val="9AA4BD"/>
                </a:solidFill>
                <a:latin typeface="Calibri" pitchFamily="34" charset="0"/>
                <a:ea typeface="Calibri" pitchFamily="34" charset="-122"/>
                <a:cs typeface="Calibri" pitchFamily="34" charset="-120"/>
              </a:rPr>
              <a:t>Results feed the next decision: repeat with a larger test, revise the offer, or stop</a:t>
            </a:r>
            <a:endParaRPr lang="en-US" sz="1400" dirty="0"/>
          </a:p>
        </p:txBody>
      </p:sp>
      <p:sp>
        <p:nvSpPr>
          <p:cNvPr id="37" name="Shape 30"/>
          <p:cNvSpPr/>
          <p:nvPr/>
        </p:nvSpPr>
        <p:spPr>
          <a:xfrm>
            <a:off x="548640" y="5349240"/>
            <a:ext cx="11094415" cy="777240"/>
          </a:xfrm>
          <a:prstGeom prst="roundRect">
            <a:avLst>
              <a:gd name="adj" fmla="val 14118"/>
            </a:avLst>
          </a:prstGeom>
          <a:solidFill>
            <a:srgbClr val="18213F"/>
          </a:solidFill>
          <a:ln w="12700">
            <a:solidFill>
              <a:srgbClr val="26314F"/>
            </a:solidFill>
            <a:prstDash val="solid"/>
          </a:ln>
        </p:spPr>
      </p:sp>
      <p:sp>
        <p:nvSpPr>
          <p:cNvPr id="38" name="Text 31"/>
          <p:cNvSpPr txBox="1"/>
          <p:nvPr/>
        </p:nvSpPr>
        <p:spPr>
          <a:xfrm>
            <a:off x="868680" y="5349240"/>
            <a:ext cx="10454335" cy="777240"/>
          </a:xfrm>
          <a:prstGeom prst="rect">
            <a:avLst/>
          </a:prstGeom>
          <a:noFill/>
          <a:ln/>
        </p:spPr>
        <p:txBody>
          <a:bodyPr wrap="square" lIns="0" tIns="0" rIns="0" bIns="0" rtlCol="0" anchor="ctr"/>
          <a:lstStyle/>
          <a:p>
            <a:pPr indent="0" marL="0">
              <a:buNone/>
            </a:pPr>
            <a:r>
              <a:rPr lang="en-US" sz="1800" b="1" dirty="0">
                <a:solidFill>
                  <a:srgbClr val="E7EBF3"/>
                </a:solidFill>
                <a:latin typeface="Cambria" pitchFamily="34" charset="0"/>
                <a:ea typeface="Cambria" pitchFamily="34" charset="-122"/>
                <a:cs typeface="Cambria" pitchFamily="34" charset="-120"/>
              </a:rPr>
              <a:t>Agents reason. </a:t>
            </a:r>
            <a:pPr indent="0" marL="0">
              <a:buNone/>
            </a:pPr>
            <a:r>
              <a:rPr lang="en-US" sz="1800" dirty="0">
                <a:solidFill>
                  <a:srgbClr val="E7EBF3"/>
                </a:solidFill>
                <a:latin typeface="Cambria" pitchFamily="34" charset="0"/>
                <a:ea typeface="Cambria" pitchFamily="34" charset="-122"/>
                <a:cs typeface="Cambria" pitchFamily="34" charset="-120"/>
              </a:rPr>
              <a:t>Tested calculations produce every number. </a:t>
            </a:r>
            <a:pPr indent="0" marL="0">
              <a:buNone/>
            </a:pPr>
            <a:r>
              <a:rPr lang="en-US" sz="1800" b="1" dirty="0">
                <a:solidFill>
                  <a:srgbClr val="34D399"/>
                </a:solidFill>
                <a:latin typeface="Cambria" pitchFamily="34" charset="0"/>
                <a:ea typeface="Cambria" pitchFamily="34" charset="-122"/>
                <a:cs typeface="Cambria" pitchFamily="34" charset="-120"/>
              </a:rPr>
              <a:t>The merchant decides.</a:t>
            </a:r>
            <a:endParaRPr lang="en-US" sz="1800" dirty="0"/>
          </a:p>
        </p:txBody>
      </p:sp>
      <p:sp>
        <p:nvSpPr>
          <p:cNvPr id="25" name="Slide Number Placeholder 0"/>
          <p:cNvSpPr>
            <a:spLocks noGrp="1"/>
          </p:cNvSpPr>
          <p:nvPr>
            <p:ph type="sldNum" sz="quarter" idx="4294967295"/>
          </p:nvPr>
        </p:nvSpPr>
        <p:spPr>
          <a:xfrm>
            <a:off x="11185855" y="647395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AA4BD"/>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146304"/>
            <a:ext cx="7315200" cy="219456"/>
          </a:xfrm>
          <a:prstGeom prst="rect">
            <a:avLst/>
          </a:prstGeom>
          <a:noFill/>
          <a:ln/>
        </p:spPr>
        <p:txBody>
          <a:bodyPr wrap="square" lIns="0" tIns="0" rIns="0" bIns="0" rtlCol="0" anchor="t"/>
          <a:lstStyle/>
          <a:p>
            <a:pPr indent="0" marL="0">
              <a:buNone/>
            </a:pPr>
            <a:r>
              <a:rPr lang="en-US" sz="1000" b="1" spc="200" kern="0" dirty="0">
                <a:solidFill>
                  <a:srgbClr val="4C8DFF"/>
                </a:solidFill>
                <a:latin typeface="Calibri" pitchFamily="34" charset="0"/>
                <a:ea typeface="Calibri" pitchFamily="34" charset="-122"/>
                <a:cs typeface="Calibri" pitchFamily="34" charset="-120"/>
              </a:rPr>
              <a:t>PROPOSED SOLUTION</a:t>
            </a:r>
            <a:endParaRPr lang="en-US" sz="1000" dirty="0"/>
          </a:p>
        </p:txBody>
      </p:sp>
      <p:sp>
        <p:nvSpPr>
          <p:cNvPr id="3" name="Text 0"/>
          <p:cNvSpPr/>
          <p:nvPr>
            <p:ph idx="100" type="title" hasCustomPrompt="1"/>
          </p:nvPr>
        </p:nvSpPr>
        <p:spPr>
          <a:xfrm>
            <a:off x="548640" y="384048"/>
            <a:ext cx="11094415" cy="777240"/>
          </a:xfrm>
          <a:prstGeom prst="rect">
            <a:avLst/>
          </a:prstGeom>
          <a:noFill/>
          <a:ln/>
        </p:spPr>
        <p:txBody>
          <a:bodyPr wrap="square" lIns="0" tIns="0" rIns="0" bIns="0" rtlCol="0" anchor="t"/>
          <a:lstStyle/>
          <a:p>
            <a:pPr algn="l" indent="0" marL="0">
              <a:buNone/>
            </a:pPr>
            <a:r>
              <a:rPr lang="en-US" sz="2800" b="1" dirty="0">
                <a:solidFill>
                  <a:srgbClr val="E7EBF3"/>
                </a:solidFill>
                <a:latin typeface="Cambria" pitchFamily="34" charset="0"/>
                <a:ea typeface="Cambria" pitchFamily="34" charset="-122"/>
                <a:cs typeface="Cambria" pitchFamily="34" charset="-120"/>
              </a:rPr>
              <a:t>Live: “Should I give everyone a discount?”</a:t>
            </a:r>
            <a:endParaRPr lang="en-US" sz="2800" dirty="0"/>
          </a:p>
        </p:txBody>
      </p:sp>
      <p:sp>
        <p:nvSpPr>
          <p:cNvPr id="4" name="Shape 2"/>
          <p:cNvSpPr/>
          <p:nvPr/>
        </p:nvSpPr>
        <p:spPr>
          <a:xfrm>
            <a:off x="493776" y="1271016"/>
            <a:ext cx="7059168" cy="4453128"/>
          </a:xfrm>
          <a:prstGeom prst="roundRect">
            <a:avLst>
              <a:gd name="adj" fmla="val 1643"/>
            </a:avLst>
          </a:prstGeom>
          <a:solidFill>
            <a:srgbClr val="111831"/>
          </a:solidFill>
          <a:ln w="12700">
            <a:solidFill>
              <a:srgbClr val="26314F"/>
            </a:solidFill>
            <a:prstDash val="solid"/>
          </a:ln>
          <a:effectLst>
            <a:outerShdw sx="100000" sy="100000" kx="0" ky="0" algn="bl" rotWithShape="0" blurRad="152400" dist="50800" dir="5400000">
              <a:srgbClr val="000000">
                <a:alpha val="45000"/>
              </a:srgbClr>
            </a:outerShdw>
          </a:effectLst>
        </p:spPr>
      </p:sp>
      <p:pic>
        <p:nvPicPr>
          <p:cNvPr id="5" name="Image 0" descr="Ask DukaanPulse answer with recommendation card, agents and investigation timeline (local model)">    </p:cNvPr>
          <p:cNvPicPr>
            <a:picLocks noChangeAspect="1"/>
          </p:cNvPicPr>
          <p:nvPr/>
        </p:nvPicPr>
        <p:blipFill>
          <a:blip r:embed="rId1"/>
          <a:stretch>
            <a:fillRect/>
          </a:stretch>
        </p:blipFill>
        <p:spPr>
          <a:xfrm>
            <a:off x="548640" y="1325880"/>
            <a:ext cx="6949440" cy="4343400"/>
          </a:xfrm>
          <a:prstGeom prst="rect">
            <a:avLst/>
          </a:prstGeom>
        </p:spPr>
      </p:pic>
      <p:sp>
        <p:nvSpPr>
          <p:cNvPr id="6" name="Shape 3"/>
          <p:cNvSpPr/>
          <p:nvPr/>
        </p:nvSpPr>
        <p:spPr>
          <a:xfrm>
            <a:off x="8001000" y="1371600"/>
            <a:ext cx="603504" cy="603504"/>
          </a:xfrm>
          <a:prstGeom prst="ellipse">
            <a:avLst/>
          </a:prstGeom>
          <a:solidFill>
            <a:srgbClr val="18213F"/>
          </a:solidFill>
          <a:ln w="12700">
            <a:solidFill>
              <a:srgbClr val="26314F"/>
            </a:solidFill>
            <a:prstDash val="solid"/>
          </a:ln>
        </p:spPr>
      </p:sp>
      <p:pic>
        <p:nvPicPr>
          <p:cNvPr id="7" name="Image 1" descr="bot icon">    </p:cNvPr>
          <p:cNvPicPr>
            <a:picLocks noChangeAspect="1"/>
          </p:cNvPicPr>
          <p:nvPr/>
        </p:nvPicPr>
        <p:blipFill>
          <a:blip r:embed="rId2"/>
          <a:stretch>
            <a:fillRect/>
          </a:stretch>
        </p:blipFill>
        <p:spPr>
          <a:xfrm>
            <a:off x="8110728" y="1481328"/>
            <a:ext cx="384048" cy="384048"/>
          </a:xfrm>
          <a:prstGeom prst="rect">
            <a:avLst/>
          </a:prstGeom>
        </p:spPr>
      </p:pic>
      <p:sp>
        <p:nvSpPr>
          <p:cNvPr id="8" name="Text 4"/>
          <p:cNvSpPr txBox="1"/>
          <p:nvPr/>
        </p:nvSpPr>
        <p:spPr>
          <a:xfrm>
            <a:off x="8778240" y="1389888"/>
            <a:ext cx="2880360" cy="320040"/>
          </a:xfrm>
          <a:prstGeom prst="rect">
            <a:avLst/>
          </a:prstGeom>
          <a:noFill/>
          <a:ln/>
        </p:spPr>
        <p:txBody>
          <a:bodyPr wrap="square" lIns="0" tIns="0" rIns="0" bIns="0" rtlCol="0" anchor="t"/>
          <a:lstStyle/>
          <a:p>
            <a:pPr indent="0" marL="0">
              <a:buNone/>
            </a:pPr>
            <a:r>
              <a:rPr lang="en-US" sz="1600" b="1" dirty="0">
                <a:solidFill>
                  <a:srgbClr val="E7EBF3"/>
                </a:solidFill>
                <a:latin typeface="Calibri" pitchFamily="34" charset="0"/>
                <a:ea typeface="Calibri" pitchFamily="34" charset="-122"/>
                <a:cs typeface="Calibri" pitchFamily="34" charset="-120"/>
              </a:rPr>
              <a:t>Agents work in parallel</a:t>
            </a:r>
            <a:endParaRPr lang="en-US" sz="1600" dirty="0"/>
          </a:p>
        </p:txBody>
      </p:sp>
      <p:sp>
        <p:nvSpPr>
          <p:cNvPr id="9" name="Text 5"/>
          <p:cNvSpPr txBox="1"/>
          <p:nvPr/>
        </p:nvSpPr>
        <p:spPr>
          <a:xfrm>
            <a:off x="8778240" y="1755648"/>
            <a:ext cx="2880360" cy="914400"/>
          </a:xfrm>
          <a:prstGeom prst="rect">
            <a:avLst/>
          </a:prstGeom>
          <a:noFill/>
          <a:ln/>
        </p:spPr>
        <p:txBody>
          <a:bodyPr wrap="square" lIns="0" tIns="0" rIns="0" bIns="0" rtlCol="0" anchor="t"/>
          <a:lstStyle/>
          <a:p>
            <a:pPr indent="0" marL="0">
              <a:buNone/>
            </a:pPr>
            <a:r>
              <a:rPr lang="en-US" sz="1300" dirty="0">
                <a:solidFill>
                  <a:srgbClr val="9AA4BD"/>
                </a:solidFill>
                <a:latin typeface="Calibri" pitchFamily="34" charset="0"/>
                <a:ea typeface="Calibri" pitchFamily="34" charset="-122"/>
                <a:cs typeface="Calibri" pitchFamily="34" charset="-120"/>
              </a:rPr>
              <a:t>Growth Strategist and Customer Intelligence investigate together; the timeline shows each tool call.</a:t>
            </a:r>
            <a:endParaRPr lang="en-US" sz="1300" dirty="0"/>
          </a:p>
        </p:txBody>
      </p:sp>
      <p:sp>
        <p:nvSpPr>
          <p:cNvPr id="10" name="Shape 6"/>
          <p:cNvSpPr/>
          <p:nvPr/>
        </p:nvSpPr>
        <p:spPr>
          <a:xfrm>
            <a:off x="8001000" y="2834640"/>
            <a:ext cx="603504" cy="603504"/>
          </a:xfrm>
          <a:prstGeom prst="ellipse">
            <a:avLst/>
          </a:prstGeom>
          <a:solidFill>
            <a:srgbClr val="18213F"/>
          </a:solidFill>
          <a:ln w="12700">
            <a:solidFill>
              <a:srgbClr val="26314F"/>
            </a:solidFill>
            <a:prstDash val="solid"/>
          </a:ln>
        </p:spPr>
      </p:sp>
      <p:pic>
        <p:nvPicPr>
          <p:cNvPr id="11" name="Image 2" descr="target icon">    </p:cNvPr>
          <p:cNvPicPr>
            <a:picLocks noChangeAspect="1"/>
          </p:cNvPicPr>
          <p:nvPr/>
        </p:nvPicPr>
        <p:blipFill>
          <a:blip r:embed="rId3"/>
          <a:stretch>
            <a:fillRect/>
          </a:stretch>
        </p:blipFill>
        <p:spPr>
          <a:xfrm>
            <a:off x="8110728" y="2944368"/>
            <a:ext cx="384048" cy="384048"/>
          </a:xfrm>
          <a:prstGeom prst="rect">
            <a:avLst/>
          </a:prstGeom>
        </p:spPr>
      </p:pic>
      <p:sp>
        <p:nvSpPr>
          <p:cNvPr id="12" name="Text 7"/>
          <p:cNvSpPr txBox="1"/>
          <p:nvPr/>
        </p:nvSpPr>
        <p:spPr>
          <a:xfrm>
            <a:off x="8778240" y="2852928"/>
            <a:ext cx="2880360" cy="320040"/>
          </a:xfrm>
          <a:prstGeom prst="rect">
            <a:avLst/>
          </a:prstGeom>
          <a:noFill/>
          <a:ln/>
        </p:spPr>
        <p:txBody>
          <a:bodyPr wrap="square" lIns="0" tIns="0" rIns="0" bIns="0" rtlCol="0" anchor="t"/>
          <a:lstStyle/>
          <a:p>
            <a:pPr indent="0" marL="0">
              <a:buNone/>
            </a:pPr>
            <a:r>
              <a:rPr lang="en-US" sz="1600" b="1" dirty="0">
                <a:solidFill>
                  <a:srgbClr val="E7EBF3"/>
                </a:solidFill>
                <a:latin typeface="Calibri" pitchFamily="34" charset="0"/>
                <a:ea typeface="Calibri" pitchFamily="34" charset="-122"/>
                <a:cs typeface="Calibri" pitchFamily="34" charset="-120"/>
              </a:rPr>
              <a:t>A decision, not a chart</a:t>
            </a:r>
            <a:endParaRPr lang="en-US" sz="1600" dirty="0"/>
          </a:p>
        </p:txBody>
      </p:sp>
      <p:sp>
        <p:nvSpPr>
          <p:cNvPr id="13" name="Text 8"/>
          <p:cNvSpPr txBox="1"/>
          <p:nvPr/>
        </p:nvSpPr>
        <p:spPr>
          <a:xfrm>
            <a:off x="8778240" y="3218688"/>
            <a:ext cx="2880360" cy="914400"/>
          </a:xfrm>
          <a:prstGeom prst="rect">
            <a:avLst/>
          </a:prstGeom>
          <a:noFill/>
          <a:ln/>
        </p:spPr>
        <p:txBody>
          <a:bodyPr wrap="square" lIns="0" tIns="0" rIns="0" bIns="0" rtlCol="0" anchor="t"/>
          <a:lstStyle/>
          <a:p>
            <a:pPr indent="0" marL="0">
              <a:buNone/>
            </a:pPr>
            <a:r>
              <a:rPr lang="en-US" sz="1300" dirty="0">
                <a:solidFill>
                  <a:srgbClr val="9AA4BD"/>
                </a:solidFill>
                <a:latin typeface="Calibri" pitchFamily="34" charset="0"/>
                <a:ea typeface="Calibri" pitchFamily="34" charset="-122"/>
                <a:cs typeface="Calibri" pitchFamily="34" charset="-120"/>
              </a:rPr>
              <a:t>Recommended action, who it targets, cost, assumptions and alternatives.</a:t>
            </a:r>
            <a:endParaRPr lang="en-US" sz="1300" dirty="0"/>
          </a:p>
        </p:txBody>
      </p:sp>
      <p:sp>
        <p:nvSpPr>
          <p:cNvPr id="14" name="Shape 9"/>
          <p:cNvSpPr/>
          <p:nvPr/>
        </p:nvSpPr>
        <p:spPr>
          <a:xfrm>
            <a:off x="8001000" y="4297680"/>
            <a:ext cx="603504" cy="603504"/>
          </a:xfrm>
          <a:prstGeom prst="ellipse">
            <a:avLst/>
          </a:prstGeom>
          <a:solidFill>
            <a:srgbClr val="18213F"/>
          </a:solidFill>
          <a:ln w="12700">
            <a:solidFill>
              <a:srgbClr val="26314F"/>
            </a:solidFill>
            <a:prstDash val="solid"/>
          </a:ln>
        </p:spPr>
      </p:sp>
      <p:pic>
        <p:nvPicPr>
          <p:cNvPr id="15" name="Image 3" descr="check icon">    </p:cNvPr>
          <p:cNvPicPr>
            <a:picLocks noChangeAspect="1"/>
          </p:cNvPicPr>
          <p:nvPr/>
        </p:nvPicPr>
        <p:blipFill>
          <a:blip r:embed="rId4"/>
          <a:stretch>
            <a:fillRect/>
          </a:stretch>
        </p:blipFill>
        <p:spPr>
          <a:xfrm>
            <a:off x="8110728" y="4407408"/>
            <a:ext cx="384048" cy="384048"/>
          </a:xfrm>
          <a:prstGeom prst="rect">
            <a:avLst/>
          </a:prstGeom>
        </p:spPr>
      </p:pic>
      <p:sp>
        <p:nvSpPr>
          <p:cNvPr id="16" name="Text 10"/>
          <p:cNvSpPr txBox="1"/>
          <p:nvPr/>
        </p:nvSpPr>
        <p:spPr>
          <a:xfrm>
            <a:off x="8778240" y="4315968"/>
            <a:ext cx="2880360" cy="320040"/>
          </a:xfrm>
          <a:prstGeom prst="rect">
            <a:avLst/>
          </a:prstGeom>
          <a:noFill/>
          <a:ln/>
        </p:spPr>
        <p:txBody>
          <a:bodyPr wrap="square" lIns="0" tIns="0" rIns="0" bIns="0" rtlCol="0" anchor="t"/>
          <a:lstStyle/>
          <a:p>
            <a:pPr indent="0" marL="0">
              <a:buNone/>
            </a:pPr>
            <a:r>
              <a:rPr lang="en-US" sz="1600" b="1" dirty="0">
                <a:solidFill>
                  <a:srgbClr val="E7EBF3"/>
                </a:solidFill>
                <a:latin typeface="Calibri" pitchFamily="34" charset="0"/>
                <a:ea typeface="Calibri" pitchFamily="34" charset="-122"/>
                <a:cs typeface="Calibri" pitchFamily="34" charset="-120"/>
              </a:rPr>
              <a:t>Checked before shown</a:t>
            </a:r>
            <a:endParaRPr lang="en-US" sz="1600" dirty="0"/>
          </a:p>
        </p:txBody>
      </p:sp>
      <p:sp>
        <p:nvSpPr>
          <p:cNvPr id="17" name="Text 11"/>
          <p:cNvSpPr txBox="1"/>
          <p:nvPr/>
        </p:nvSpPr>
        <p:spPr>
          <a:xfrm>
            <a:off x="8778240" y="4681728"/>
            <a:ext cx="2880360" cy="914400"/>
          </a:xfrm>
          <a:prstGeom prst="rect">
            <a:avLst/>
          </a:prstGeom>
          <a:noFill/>
          <a:ln/>
        </p:spPr>
        <p:txBody>
          <a:bodyPr wrap="square" lIns="0" tIns="0" rIns="0" bIns="0" rtlCol="0" anchor="t"/>
          <a:lstStyle/>
          <a:p>
            <a:pPr indent="0" marL="0">
              <a:buNone/>
            </a:pPr>
            <a:r>
              <a:rPr lang="en-US" sz="1300" dirty="0">
                <a:solidFill>
                  <a:srgbClr val="9AA4BD"/>
                </a:solidFill>
                <a:latin typeface="Calibri" pitchFamily="34" charset="0"/>
                <a:ea typeface="Calibri" pitchFamily="34" charset="-122"/>
                <a:cs typeface="Calibri" pitchFamily="34" charset="-120"/>
              </a:rPr>
              <a:t>An independent reviewer removed unsupported claims from this answer.</a:t>
            </a:r>
            <a:endParaRPr lang="en-US" sz="1300" dirty="0"/>
          </a:p>
        </p:txBody>
      </p:sp>
      <p:sp>
        <p:nvSpPr>
          <p:cNvPr id="18" name="Shape 12"/>
          <p:cNvSpPr/>
          <p:nvPr/>
        </p:nvSpPr>
        <p:spPr>
          <a:xfrm>
            <a:off x="548640" y="5806440"/>
            <a:ext cx="1143000" cy="256032"/>
          </a:xfrm>
          <a:prstGeom prst="roundRect">
            <a:avLst>
              <a:gd name="adj" fmla="val 50000"/>
            </a:avLst>
          </a:prstGeom>
          <a:solidFill>
            <a:srgbClr val="0A0F1E"/>
          </a:solidFill>
          <a:ln w="12700">
            <a:solidFill>
              <a:srgbClr val="4C8DFF"/>
            </a:solidFill>
            <a:prstDash val="solid"/>
          </a:ln>
        </p:spPr>
      </p:sp>
      <p:sp>
        <p:nvSpPr>
          <p:cNvPr id="19" name="Text 13"/>
          <p:cNvSpPr txBox="1"/>
          <p:nvPr/>
        </p:nvSpPr>
        <p:spPr>
          <a:xfrm>
            <a:off x="548640" y="5838444"/>
            <a:ext cx="1143000" cy="201168"/>
          </a:xfrm>
          <a:prstGeom prst="rect">
            <a:avLst/>
          </a:prstGeom>
          <a:noFill/>
          <a:ln/>
        </p:spPr>
        <p:txBody>
          <a:bodyPr wrap="square" lIns="0" tIns="0" rIns="0" bIns="0" rtlCol="0" anchor="t"/>
          <a:lstStyle/>
          <a:p>
            <a:pPr algn="ctr" indent="0" marL="0">
              <a:buNone/>
            </a:pPr>
            <a:r>
              <a:rPr lang="en-US" sz="900" b="1" spc="150" kern="0" dirty="0">
                <a:solidFill>
                  <a:srgbClr val="4C8DFF"/>
                </a:solidFill>
                <a:latin typeface="Calibri" pitchFamily="34" charset="0"/>
                <a:ea typeface="Calibri" pitchFamily="34" charset="-122"/>
                <a:cs typeface="Calibri" pitchFamily="34" charset="-120"/>
              </a:rPr>
              <a:t>REAL SCREEN</a:t>
            </a:r>
            <a:endParaRPr lang="en-US" sz="900" dirty="0"/>
          </a:p>
        </p:txBody>
      </p:sp>
      <p:sp>
        <p:nvSpPr>
          <p:cNvPr id="20" name="Text 14"/>
          <p:cNvSpPr txBox="1"/>
          <p:nvPr/>
        </p:nvSpPr>
        <p:spPr>
          <a:xfrm>
            <a:off x="1828800" y="5824728"/>
            <a:ext cx="8229600" cy="274320"/>
          </a:xfrm>
          <a:prstGeom prst="rect">
            <a:avLst/>
          </a:prstGeom>
          <a:noFill/>
          <a:ln/>
        </p:spPr>
        <p:txBody>
          <a:bodyPr wrap="square" lIns="0" tIns="0" rIns="0" bIns="0" rtlCol="0" anchor="t"/>
          <a:lstStyle/>
          <a:p>
            <a:pPr indent="0" marL="0">
              <a:buNone/>
            </a:pPr>
            <a:r>
              <a:rPr lang="en-US" sz="1200" dirty="0">
                <a:solidFill>
                  <a:srgbClr val="9AA4BD"/>
                </a:solidFill>
                <a:latin typeface="Calibri" pitchFamily="34" charset="0"/>
                <a:ea typeface="Calibri" pitchFamily="34" charset="-122"/>
                <a:cs typeface="Calibri" pitchFamily="34" charset="-120"/>
              </a:rPr>
              <a:t>Local Qwen model via Ollama · ~25 s average per question · instant rule-based mode if needed</a:t>
            </a:r>
            <a:endParaRPr lang="en-US" sz="1200" dirty="0"/>
          </a:p>
        </p:txBody>
      </p:sp>
      <p:sp>
        <p:nvSpPr>
          <p:cNvPr id="25" name="Slide Number Placeholder 0"/>
          <p:cNvSpPr>
            <a:spLocks noGrp="1"/>
          </p:cNvSpPr>
          <p:nvPr>
            <p:ph type="sldNum" sz="quarter" idx="4294967295"/>
          </p:nvPr>
        </p:nvSpPr>
        <p:spPr>
          <a:xfrm>
            <a:off x="11185855" y="647395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AA4BD"/>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146304"/>
            <a:ext cx="7315200" cy="219456"/>
          </a:xfrm>
          <a:prstGeom prst="rect">
            <a:avLst/>
          </a:prstGeom>
          <a:noFill/>
          <a:ln/>
        </p:spPr>
        <p:txBody>
          <a:bodyPr wrap="square" lIns="0" tIns="0" rIns="0" bIns="0" rtlCol="0" anchor="t"/>
          <a:lstStyle/>
          <a:p>
            <a:pPr indent="0" marL="0">
              <a:buNone/>
            </a:pPr>
            <a:r>
              <a:rPr lang="en-US" sz="1000" b="1" spc="200" kern="0" dirty="0">
                <a:solidFill>
                  <a:srgbClr val="4C8DFF"/>
                </a:solidFill>
                <a:latin typeface="Calibri" pitchFamily="34" charset="0"/>
                <a:ea typeface="Calibri" pitchFamily="34" charset="-122"/>
                <a:cs typeface="Calibri" pitchFamily="34" charset="-120"/>
              </a:rPr>
              <a:t>PROPOSED SOLUTION</a:t>
            </a:r>
            <a:endParaRPr lang="en-US" sz="1000" dirty="0"/>
          </a:p>
        </p:txBody>
      </p:sp>
      <p:sp>
        <p:nvSpPr>
          <p:cNvPr id="3" name="Text 0"/>
          <p:cNvSpPr/>
          <p:nvPr>
            <p:ph idx="100" type="title" hasCustomPrompt="1"/>
          </p:nvPr>
        </p:nvSpPr>
        <p:spPr>
          <a:xfrm>
            <a:off x="548640" y="384048"/>
            <a:ext cx="11094415" cy="777240"/>
          </a:xfrm>
          <a:prstGeom prst="rect">
            <a:avLst/>
          </a:prstGeom>
          <a:noFill/>
          <a:ln/>
        </p:spPr>
        <p:txBody>
          <a:bodyPr wrap="square" lIns="0" tIns="0" rIns="0" bIns="0" rtlCol="0" anchor="t"/>
          <a:lstStyle/>
          <a:p>
            <a:pPr algn="l" indent="0" marL="0">
              <a:buNone/>
            </a:pPr>
            <a:r>
              <a:rPr lang="en-US" sz="2800" b="1" dirty="0">
                <a:solidFill>
                  <a:srgbClr val="E7EBF3"/>
                </a:solidFill>
                <a:latin typeface="Cambria" pitchFamily="34" charset="0"/>
                <a:ea typeface="Cambria" pitchFamily="34" charset="-122"/>
                <a:cs typeface="Cambria" pitchFamily="34" charset="-120"/>
              </a:rPr>
              <a:t>The numbers behind it: target the regulars, don’t subsidise all</a:t>
            </a:r>
            <a:endParaRPr lang="en-US" sz="2800" dirty="0"/>
          </a:p>
        </p:txBody>
      </p:sp>
      <p:sp>
        <p:nvSpPr>
          <p:cNvPr id="4" name="Shape 2"/>
          <p:cNvSpPr/>
          <p:nvPr/>
        </p:nvSpPr>
        <p:spPr>
          <a:xfrm>
            <a:off x="548640" y="1325880"/>
            <a:ext cx="5349240" cy="3520440"/>
          </a:xfrm>
          <a:prstGeom prst="roundRect">
            <a:avLst>
              <a:gd name="adj" fmla="val 3117"/>
            </a:avLst>
          </a:prstGeom>
          <a:solidFill>
            <a:srgbClr val="111831"/>
          </a:solidFill>
          <a:ln w="12700">
            <a:solidFill>
              <a:srgbClr val="26314F"/>
            </a:solidFill>
            <a:prstDash val="solid"/>
          </a:ln>
        </p:spPr>
      </p:sp>
      <p:sp>
        <p:nvSpPr>
          <p:cNvPr id="5" name="Text 3"/>
          <p:cNvSpPr txBox="1"/>
          <p:nvPr/>
        </p:nvSpPr>
        <p:spPr>
          <a:xfrm>
            <a:off x="868680" y="1508760"/>
            <a:ext cx="4709160" cy="411480"/>
          </a:xfrm>
          <a:prstGeom prst="rect">
            <a:avLst/>
          </a:prstGeom>
          <a:noFill/>
          <a:ln/>
        </p:spPr>
        <p:txBody>
          <a:bodyPr wrap="square" lIns="0" tIns="0" rIns="0" bIns="0" rtlCol="0" anchor="t"/>
          <a:lstStyle/>
          <a:p>
            <a:pPr indent="0" marL="0">
              <a:buNone/>
            </a:pPr>
            <a:r>
              <a:rPr lang="en-US" sz="1800" b="1" dirty="0">
                <a:solidFill>
                  <a:srgbClr val="9AA4BD"/>
                </a:solidFill>
                <a:latin typeface="Cambria" pitchFamily="34" charset="0"/>
                <a:ea typeface="Cambria" pitchFamily="34" charset="-122"/>
                <a:cs typeface="Cambria" pitchFamily="34" charset="-120"/>
              </a:rPr>
              <a:t>₹30 off for every customer</a:t>
            </a:r>
            <a:endParaRPr lang="en-US" sz="1800" dirty="0"/>
          </a:p>
        </p:txBody>
      </p:sp>
      <p:sp>
        <p:nvSpPr>
          <p:cNvPr id="6" name="Text 4"/>
          <p:cNvSpPr txBox="1"/>
          <p:nvPr/>
        </p:nvSpPr>
        <p:spPr>
          <a:xfrm>
            <a:off x="868680" y="2011680"/>
            <a:ext cx="3200400" cy="777240"/>
          </a:xfrm>
          <a:prstGeom prst="rect">
            <a:avLst/>
          </a:prstGeom>
          <a:noFill/>
          <a:ln/>
        </p:spPr>
        <p:txBody>
          <a:bodyPr wrap="square" lIns="0" tIns="0" rIns="0" bIns="0" rtlCol="0" anchor="t"/>
          <a:lstStyle/>
          <a:p>
            <a:pPr indent="0" marL="0">
              <a:buNone/>
            </a:pPr>
            <a:r>
              <a:rPr lang="en-US" sz="4600" b="1" dirty="0">
                <a:solidFill>
                  <a:srgbClr val="F87171"/>
                </a:solidFill>
                <a:latin typeface="Cambria" pitchFamily="34" charset="0"/>
                <a:ea typeface="Cambria" pitchFamily="34" charset="-122"/>
                <a:cs typeface="Cambria" pitchFamily="34" charset="-120"/>
              </a:rPr>
              <a:t>₹92,700</a:t>
            </a:r>
            <a:endParaRPr lang="en-US" sz="4600" dirty="0"/>
          </a:p>
        </p:txBody>
      </p:sp>
      <p:sp>
        <p:nvSpPr>
          <p:cNvPr id="7" name="Text 5"/>
          <p:cNvSpPr txBox="1"/>
          <p:nvPr/>
        </p:nvSpPr>
        <p:spPr>
          <a:xfrm>
            <a:off x="868680" y="2788920"/>
            <a:ext cx="4709160" cy="685800"/>
          </a:xfrm>
          <a:prstGeom prst="rect">
            <a:avLst/>
          </a:prstGeom>
          <a:noFill/>
          <a:ln/>
        </p:spPr>
        <p:txBody>
          <a:bodyPr wrap="square" lIns="0" tIns="0" rIns="0" bIns="0" rtlCol="0" anchor="t"/>
          <a:lstStyle/>
          <a:p>
            <a:pPr indent="0" marL="0">
              <a:buNone/>
            </a:pPr>
            <a:r>
              <a:rPr lang="en-US" sz="1300" dirty="0">
                <a:solidFill>
                  <a:srgbClr val="E7EBF3"/>
                </a:solidFill>
                <a:latin typeface="Calibri" pitchFamily="34" charset="0"/>
                <a:ea typeface="Calibri" pitchFamily="34" charset="-122"/>
                <a:cs typeface="Calibri" pitchFamily="34" charset="-120"/>
              </a:rPr>
              <a:t>given away a month on orders that would happen anyway — if every one of the last 30 days’ 3,090 orders used it</a:t>
            </a:r>
            <a:endParaRPr lang="en-US" sz="1300" dirty="0"/>
          </a:p>
        </p:txBody>
      </p:sp>
      <p:sp>
        <p:nvSpPr>
          <p:cNvPr id="8" name="Text 6"/>
          <p:cNvSpPr txBox="1"/>
          <p:nvPr/>
        </p:nvSpPr>
        <p:spPr>
          <a:xfrm>
            <a:off x="868680" y="3611880"/>
            <a:ext cx="4709160" cy="457200"/>
          </a:xfrm>
          <a:prstGeom prst="rect">
            <a:avLst/>
          </a:prstGeom>
          <a:noFill/>
          <a:ln/>
        </p:spPr>
        <p:txBody>
          <a:bodyPr wrap="square" lIns="0" tIns="0" rIns="0" bIns="0" rtlCol="0" anchor="t"/>
          <a:lstStyle/>
          <a:p>
            <a:pPr indent="0" marL="0">
              <a:buNone/>
            </a:pPr>
            <a:r>
              <a:rPr lang="en-US" sz="2200" b="1" dirty="0">
                <a:solidFill>
                  <a:srgbClr val="E7EBF3"/>
                </a:solidFill>
                <a:latin typeface="Cambria" pitchFamily="34" charset="0"/>
                <a:ea typeface="Cambria" pitchFamily="34" charset="-122"/>
                <a:cs typeface="Cambria" pitchFamily="34" charset="-120"/>
              </a:rPr>
              <a:t>+27%</a:t>
            </a:r>
            <a:pPr indent="0" marL="0">
              <a:buNone/>
            </a:pPr>
            <a:r>
              <a:rPr lang="en-US" sz="1300" dirty="0">
                <a:solidFill>
                  <a:srgbClr val="9AA4BD"/>
                </a:solidFill>
                <a:latin typeface="Calibri" pitchFamily="34" charset="0"/>
                <a:ea typeface="Calibri" pitchFamily="34" charset="-122"/>
                <a:cs typeface="Calibri" pitchFamily="34" charset="-120"/>
              </a:rPr>
              <a:t>  orders needed just to break even (≈837 extra orders)</a:t>
            </a:r>
            <a:endParaRPr lang="en-US" sz="2200" dirty="0"/>
          </a:p>
        </p:txBody>
      </p:sp>
      <p:sp>
        <p:nvSpPr>
          <p:cNvPr id="9" name="Shape 7"/>
          <p:cNvSpPr/>
          <p:nvPr/>
        </p:nvSpPr>
        <p:spPr>
          <a:xfrm>
            <a:off x="868680" y="4297680"/>
            <a:ext cx="1005840" cy="256032"/>
          </a:xfrm>
          <a:prstGeom prst="roundRect">
            <a:avLst>
              <a:gd name="adj" fmla="val 50000"/>
            </a:avLst>
          </a:prstGeom>
          <a:solidFill>
            <a:srgbClr val="0A0F1E"/>
          </a:solidFill>
          <a:ln w="12700">
            <a:solidFill>
              <a:srgbClr val="9AA4BD"/>
            </a:solidFill>
            <a:prstDash val="solid"/>
          </a:ln>
        </p:spPr>
      </p:sp>
      <p:sp>
        <p:nvSpPr>
          <p:cNvPr id="10" name="Text 8"/>
          <p:cNvSpPr txBox="1"/>
          <p:nvPr/>
        </p:nvSpPr>
        <p:spPr>
          <a:xfrm>
            <a:off x="868680" y="4329684"/>
            <a:ext cx="1005840" cy="201168"/>
          </a:xfrm>
          <a:prstGeom prst="rect">
            <a:avLst/>
          </a:prstGeom>
          <a:noFill/>
          <a:ln/>
        </p:spPr>
        <p:txBody>
          <a:bodyPr wrap="square" lIns="0" tIns="0" rIns="0" bIns="0" rtlCol="0" anchor="t"/>
          <a:lstStyle/>
          <a:p>
            <a:pPr algn="ctr" indent="0" marL="0">
              <a:buNone/>
            </a:pPr>
            <a:r>
              <a:rPr lang="en-US" sz="900" b="1" spc="150" kern="0" dirty="0">
                <a:solidFill>
                  <a:srgbClr val="9AA4BD"/>
                </a:solidFill>
                <a:latin typeface="Calibri" pitchFamily="34" charset="0"/>
                <a:ea typeface="Calibri" pitchFamily="34" charset="-122"/>
                <a:cs typeface="Calibri" pitchFamily="34" charset="-120"/>
              </a:rPr>
              <a:t>ESTIMATE</a:t>
            </a:r>
            <a:endParaRPr lang="en-US" sz="900" dirty="0"/>
          </a:p>
        </p:txBody>
      </p:sp>
      <p:sp>
        <p:nvSpPr>
          <p:cNvPr id="11" name="Shape 9"/>
          <p:cNvSpPr/>
          <p:nvPr/>
        </p:nvSpPr>
        <p:spPr>
          <a:xfrm>
            <a:off x="1965960" y="4297680"/>
            <a:ext cx="1920240" cy="256032"/>
          </a:xfrm>
          <a:prstGeom prst="roundRect">
            <a:avLst>
              <a:gd name="adj" fmla="val 50000"/>
            </a:avLst>
          </a:prstGeom>
          <a:solidFill>
            <a:srgbClr val="0A0F1E"/>
          </a:solidFill>
          <a:ln w="12700">
            <a:solidFill>
              <a:srgbClr val="F5B544"/>
            </a:solidFill>
            <a:prstDash val="solid"/>
          </a:ln>
        </p:spPr>
      </p:sp>
      <p:sp>
        <p:nvSpPr>
          <p:cNvPr id="12" name="Text 10"/>
          <p:cNvSpPr txBox="1"/>
          <p:nvPr/>
        </p:nvSpPr>
        <p:spPr>
          <a:xfrm>
            <a:off x="1965960" y="4329684"/>
            <a:ext cx="1920240" cy="201168"/>
          </a:xfrm>
          <a:prstGeom prst="rect">
            <a:avLst/>
          </a:prstGeom>
          <a:noFill/>
          <a:ln/>
        </p:spPr>
        <p:txBody>
          <a:bodyPr wrap="square" lIns="0" tIns="0" rIns="0" bIns="0" rtlCol="0" anchor="t"/>
          <a:lstStyle/>
          <a:p>
            <a:pPr algn="ctr" indent="0" marL="0">
              <a:buNone/>
            </a:pPr>
            <a:r>
              <a:rPr lang="en-US" sz="900" b="1" spc="150" kern="0" dirty="0">
                <a:solidFill>
                  <a:srgbClr val="F5B544"/>
                </a:solidFill>
                <a:latin typeface="Calibri" pitchFamily="34" charset="0"/>
                <a:ea typeface="Calibri" pitchFamily="34" charset="-122"/>
                <a:cs typeface="Calibri" pitchFamily="34" charset="-120"/>
              </a:rPr>
              <a:t>ASSUMES 55% MARGIN</a:t>
            </a:r>
            <a:endParaRPr lang="en-US" sz="900" dirty="0"/>
          </a:p>
        </p:txBody>
      </p:sp>
      <p:sp>
        <p:nvSpPr>
          <p:cNvPr id="13" name="Shape 11"/>
          <p:cNvSpPr/>
          <p:nvPr/>
        </p:nvSpPr>
        <p:spPr>
          <a:xfrm>
            <a:off x="6291072" y="1325880"/>
            <a:ext cx="5349240" cy="3520440"/>
          </a:xfrm>
          <a:prstGeom prst="roundRect">
            <a:avLst>
              <a:gd name="adj" fmla="val 3117"/>
            </a:avLst>
          </a:prstGeom>
          <a:solidFill>
            <a:srgbClr val="18213F"/>
          </a:solidFill>
          <a:ln w="19050">
            <a:solidFill>
              <a:srgbClr val="4C8DFF"/>
            </a:solidFill>
            <a:prstDash val="solid"/>
          </a:ln>
        </p:spPr>
      </p:sp>
      <p:sp>
        <p:nvSpPr>
          <p:cNvPr id="14" name="Text 12"/>
          <p:cNvSpPr txBox="1"/>
          <p:nvPr/>
        </p:nvSpPr>
        <p:spPr>
          <a:xfrm>
            <a:off x="6611112" y="1508760"/>
            <a:ext cx="4709160" cy="411480"/>
          </a:xfrm>
          <a:prstGeom prst="rect">
            <a:avLst/>
          </a:prstGeom>
          <a:noFill/>
          <a:ln/>
        </p:spPr>
        <p:txBody>
          <a:bodyPr wrap="square" lIns="0" tIns="0" rIns="0" bIns="0" rtlCol="0" anchor="t"/>
          <a:lstStyle/>
          <a:p>
            <a:pPr indent="0" marL="0">
              <a:buNone/>
            </a:pPr>
            <a:r>
              <a:rPr lang="en-US" sz="1800" b="1" dirty="0">
                <a:solidFill>
                  <a:srgbClr val="E7EBF3"/>
                </a:solidFill>
                <a:latin typeface="Cambria" pitchFamily="34" charset="0"/>
                <a:ea typeface="Cambria" pitchFamily="34" charset="-122"/>
                <a:cs typeface="Cambria" pitchFamily="34" charset="-120"/>
              </a:rPr>
              <a:t>Recommended: ₹30 off ₹200+, 27 regulars</a:t>
            </a:r>
            <a:endParaRPr lang="en-US" sz="1800" dirty="0"/>
          </a:p>
        </p:txBody>
      </p:sp>
      <p:sp>
        <p:nvSpPr>
          <p:cNvPr id="15" name="Text 13"/>
          <p:cNvSpPr txBox="1"/>
          <p:nvPr/>
        </p:nvSpPr>
        <p:spPr>
          <a:xfrm>
            <a:off x="6611112" y="2011680"/>
            <a:ext cx="2011680" cy="457200"/>
          </a:xfrm>
          <a:prstGeom prst="rect">
            <a:avLst/>
          </a:prstGeom>
          <a:noFill/>
          <a:ln/>
        </p:spPr>
        <p:txBody>
          <a:bodyPr wrap="square" lIns="0" tIns="0" rIns="0" bIns="0" rtlCol="0" anchor="t"/>
          <a:lstStyle/>
          <a:p>
            <a:pPr indent="0" marL="0">
              <a:buNone/>
            </a:pPr>
            <a:r>
              <a:rPr lang="en-US" sz="2200" b="1" dirty="0">
                <a:solidFill>
                  <a:srgbClr val="4C8DFF"/>
                </a:solidFill>
                <a:latin typeface="Cambria" pitchFamily="34" charset="0"/>
                <a:ea typeface="Cambria" pitchFamily="34" charset="-122"/>
                <a:cs typeface="Cambria" pitchFamily="34" charset="-120"/>
              </a:rPr>
              <a:t>+₹1,133</a:t>
            </a:r>
            <a:endParaRPr lang="en-US" sz="2200" dirty="0"/>
          </a:p>
        </p:txBody>
      </p:sp>
      <p:sp>
        <p:nvSpPr>
          <p:cNvPr id="16" name="Text 14"/>
          <p:cNvSpPr txBox="1"/>
          <p:nvPr/>
        </p:nvSpPr>
        <p:spPr>
          <a:xfrm>
            <a:off x="8668512" y="2103120"/>
            <a:ext cx="2651760" cy="365760"/>
          </a:xfrm>
          <a:prstGeom prst="rect">
            <a:avLst/>
          </a:prstGeom>
          <a:noFill/>
          <a:ln/>
        </p:spPr>
        <p:txBody>
          <a:bodyPr wrap="square" lIns="0" tIns="0" rIns="0" bIns="0" rtlCol="0" anchor="t"/>
          <a:lstStyle/>
          <a:p>
            <a:pPr indent="0" marL="0">
              <a:buNone/>
            </a:pPr>
            <a:r>
              <a:rPr lang="en-US" sz="1300" dirty="0">
                <a:solidFill>
                  <a:srgbClr val="9AA4BD"/>
                </a:solidFill>
                <a:latin typeface="Calibri" pitchFamily="34" charset="0"/>
                <a:ea typeface="Calibri" pitchFamily="34" charset="-122"/>
                <a:cs typeface="Calibri" pitchFamily="34" charset="-120"/>
              </a:rPr>
              <a:t>expected net extra profit</a:t>
            </a:r>
            <a:endParaRPr lang="en-US" sz="1300" dirty="0"/>
          </a:p>
        </p:txBody>
      </p:sp>
      <p:sp>
        <p:nvSpPr>
          <p:cNvPr id="17" name="Text 15"/>
          <p:cNvSpPr txBox="1"/>
          <p:nvPr/>
        </p:nvSpPr>
        <p:spPr>
          <a:xfrm>
            <a:off x="6611112" y="2578608"/>
            <a:ext cx="2011680" cy="457200"/>
          </a:xfrm>
          <a:prstGeom prst="rect">
            <a:avLst/>
          </a:prstGeom>
          <a:noFill/>
          <a:ln/>
        </p:spPr>
        <p:txBody>
          <a:bodyPr wrap="square" lIns="0" tIns="0" rIns="0" bIns="0" rtlCol="0" anchor="t"/>
          <a:lstStyle/>
          <a:p>
            <a:pPr indent="0" marL="0">
              <a:buNone/>
            </a:pPr>
            <a:r>
              <a:rPr lang="en-US" sz="2200" b="1" dirty="0">
                <a:solidFill>
                  <a:srgbClr val="E7EBF3"/>
                </a:solidFill>
                <a:latin typeface="Cambria" pitchFamily="34" charset="0"/>
                <a:ea typeface="Cambria" pitchFamily="34" charset="-122"/>
                <a:cs typeface="Cambria" pitchFamily="34" charset="-120"/>
              </a:rPr>
              <a:t>₹213</a:t>
            </a:r>
            <a:endParaRPr lang="en-US" sz="2200" dirty="0"/>
          </a:p>
        </p:txBody>
      </p:sp>
      <p:sp>
        <p:nvSpPr>
          <p:cNvPr id="18" name="Text 16"/>
          <p:cNvSpPr txBox="1"/>
          <p:nvPr/>
        </p:nvSpPr>
        <p:spPr>
          <a:xfrm>
            <a:off x="8668512" y="2670048"/>
            <a:ext cx="2651760" cy="365760"/>
          </a:xfrm>
          <a:prstGeom prst="rect">
            <a:avLst/>
          </a:prstGeom>
          <a:noFill/>
          <a:ln/>
        </p:spPr>
        <p:txBody>
          <a:bodyPr wrap="square" lIns="0" tIns="0" rIns="0" bIns="0" rtlCol="0" anchor="t"/>
          <a:lstStyle/>
          <a:p>
            <a:pPr indent="0" marL="0">
              <a:buNone/>
            </a:pPr>
            <a:r>
              <a:rPr lang="en-US" sz="1300" dirty="0">
                <a:solidFill>
                  <a:srgbClr val="9AA4BD"/>
                </a:solidFill>
                <a:latin typeface="Calibri" pitchFamily="34" charset="0"/>
                <a:ea typeface="Calibri" pitchFamily="34" charset="-122"/>
                <a:cs typeface="Calibri" pitchFamily="34" charset="-120"/>
              </a:rPr>
              <a:t>expected cost (offers + messages)</a:t>
            </a:r>
            <a:endParaRPr lang="en-US" sz="1300" dirty="0"/>
          </a:p>
        </p:txBody>
      </p:sp>
      <p:sp>
        <p:nvSpPr>
          <p:cNvPr id="19" name="Text 17"/>
          <p:cNvSpPr txBox="1"/>
          <p:nvPr/>
        </p:nvSpPr>
        <p:spPr>
          <a:xfrm>
            <a:off x="6611112" y="3145536"/>
            <a:ext cx="2011680" cy="457200"/>
          </a:xfrm>
          <a:prstGeom prst="rect">
            <a:avLst/>
          </a:prstGeom>
          <a:noFill/>
          <a:ln/>
        </p:spPr>
        <p:txBody>
          <a:bodyPr wrap="square" lIns="0" tIns="0" rIns="0" bIns="0" rtlCol="0" anchor="t"/>
          <a:lstStyle/>
          <a:p>
            <a:pPr indent="0" marL="0">
              <a:buNone/>
            </a:pPr>
            <a:r>
              <a:rPr lang="en-US" sz="2200" b="1" dirty="0">
                <a:solidFill>
                  <a:srgbClr val="E7EBF3"/>
                </a:solidFill>
                <a:latin typeface="Cambria" pitchFamily="34" charset="0"/>
                <a:ea typeface="Cambria" pitchFamily="34" charset="-122"/>
                <a:cs typeface="Cambria" pitchFamily="34" charset="-120"/>
              </a:rPr>
              <a:t>11% vs 30%</a:t>
            </a:r>
            <a:endParaRPr lang="en-US" sz="2200" dirty="0"/>
          </a:p>
        </p:txBody>
      </p:sp>
      <p:sp>
        <p:nvSpPr>
          <p:cNvPr id="20" name="Text 18"/>
          <p:cNvSpPr txBox="1"/>
          <p:nvPr/>
        </p:nvSpPr>
        <p:spPr>
          <a:xfrm>
            <a:off x="8668512" y="3236976"/>
            <a:ext cx="2651760" cy="365760"/>
          </a:xfrm>
          <a:prstGeom prst="rect">
            <a:avLst/>
          </a:prstGeom>
          <a:noFill/>
          <a:ln/>
        </p:spPr>
        <p:txBody>
          <a:bodyPr wrap="square" lIns="0" tIns="0" rIns="0" bIns="0" rtlCol="0" anchor="t"/>
          <a:lstStyle/>
          <a:p>
            <a:pPr indent="0" marL="0">
              <a:buNone/>
            </a:pPr>
            <a:r>
              <a:rPr lang="en-US" sz="1300" dirty="0">
                <a:solidFill>
                  <a:srgbClr val="9AA4BD"/>
                </a:solidFill>
                <a:latin typeface="Calibri" pitchFamily="34" charset="0"/>
                <a:ea typeface="Calibri" pitchFamily="34" charset="-122"/>
                <a:cs typeface="Calibri" pitchFamily="34" charset="-120"/>
              </a:rPr>
              <a:t>return rate to break even vs assumed</a:t>
            </a:r>
            <a:endParaRPr lang="en-US" sz="1300" dirty="0"/>
          </a:p>
        </p:txBody>
      </p:sp>
      <p:sp>
        <p:nvSpPr>
          <p:cNvPr id="21" name="Text 19"/>
          <p:cNvSpPr txBox="1"/>
          <p:nvPr/>
        </p:nvSpPr>
        <p:spPr>
          <a:xfrm>
            <a:off x="6611112" y="3712464"/>
            <a:ext cx="2011680" cy="457200"/>
          </a:xfrm>
          <a:prstGeom prst="rect">
            <a:avLst/>
          </a:prstGeom>
          <a:noFill/>
          <a:ln/>
        </p:spPr>
        <p:txBody>
          <a:bodyPr wrap="square" lIns="0" tIns="0" rIns="0" bIns="0" rtlCol="0" anchor="t"/>
          <a:lstStyle/>
          <a:p>
            <a:pPr indent="0" marL="0">
              <a:buNone/>
            </a:pPr>
            <a:r>
              <a:rPr lang="en-US" sz="2200" b="1" dirty="0">
                <a:solidFill>
                  <a:srgbClr val="34D399"/>
                </a:solidFill>
                <a:latin typeface="Cambria" pitchFamily="34" charset="0"/>
                <a:ea typeface="Cambria" pitchFamily="34" charset="-122"/>
                <a:cs typeface="Cambria" pitchFamily="34" charset="-120"/>
              </a:rPr>
              <a:t>+₹529</a:t>
            </a:r>
            <a:endParaRPr lang="en-US" sz="2200" dirty="0"/>
          </a:p>
        </p:txBody>
      </p:sp>
      <p:sp>
        <p:nvSpPr>
          <p:cNvPr id="22" name="Text 20"/>
          <p:cNvSpPr txBox="1"/>
          <p:nvPr/>
        </p:nvSpPr>
        <p:spPr>
          <a:xfrm>
            <a:off x="8668512" y="3803904"/>
            <a:ext cx="2651760" cy="365760"/>
          </a:xfrm>
          <a:prstGeom prst="rect">
            <a:avLst/>
          </a:prstGeom>
          <a:noFill/>
          <a:ln/>
        </p:spPr>
        <p:txBody>
          <a:bodyPr wrap="square" lIns="0" tIns="0" rIns="0" bIns="0" rtlCol="0" anchor="t"/>
          <a:lstStyle/>
          <a:p>
            <a:pPr indent="0" marL="0">
              <a:buNone/>
            </a:pPr>
            <a:r>
              <a:rPr lang="en-US" sz="1300" dirty="0">
                <a:solidFill>
                  <a:srgbClr val="9AA4BD"/>
                </a:solidFill>
                <a:latin typeface="Calibri" pitchFamily="34" charset="0"/>
                <a:ea typeface="Calibri" pitchFamily="34" charset="-122"/>
                <a:cs typeface="Calibri" pitchFamily="34" charset="-120"/>
              </a:rPr>
              <a:t>still positive if it works half as well</a:t>
            </a:r>
            <a:endParaRPr lang="en-US" sz="1300" dirty="0"/>
          </a:p>
        </p:txBody>
      </p:sp>
      <p:sp>
        <p:nvSpPr>
          <p:cNvPr id="23" name="Shape 21"/>
          <p:cNvSpPr/>
          <p:nvPr/>
        </p:nvSpPr>
        <p:spPr>
          <a:xfrm>
            <a:off x="6611112" y="4297680"/>
            <a:ext cx="1005840" cy="256032"/>
          </a:xfrm>
          <a:prstGeom prst="roundRect">
            <a:avLst>
              <a:gd name="adj" fmla="val 50000"/>
            </a:avLst>
          </a:prstGeom>
          <a:solidFill>
            <a:srgbClr val="0A0F1E"/>
          </a:solidFill>
          <a:ln w="12700">
            <a:solidFill>
              <a:srgbClr val="9AA4BD"/>
            </a:solidFill>
            <a:prstDash val="solid"/>
          </a:ln>
        </p:spPr>
      </p:sp>
      <p:sp>
        <p:nvSpPr>
          <p:cNvPr id="24" name="Text 22"/>
          <p:cNvSpPr txBox="1"/>
          <p:nvPr/>
        </p:nvSpPr>
        <p:spPr>
          <a:xfrm>
            <a:off x="6611112" y="4329684"/>
            <a:ext cx="1005840" cy="201168"/>
          </a:xfrm>
          <a:prstGeom prst="rect">
            <a:avLst/>
          </a:prstGeom>
          <a:noFill/>
          <a:ln/>
        </p:spPr>
        <p:txBody>
          <a:bodyPr wrap="square" lIns="0" tIns="0" rIns="0" bIns="0" rtlCol="0" anchor="t"/>
          <a:lstStyle/>
          <a:p>
            <a:pPr algn="ctr" indent="0" marL="0">
              <a:buNone/>
            </a:pPr>
            <a:r>
              <a:rPr lang="en-US" sz="900" b="1" spc="150" kern="0" dirty="0">
                <a:solidFill>
                  <a:srgbClr val="9AA4BD"/>
                </a:solidFill>
                <a:latin typeface="Calibri" pitchFamily="34" charset="0"/>
                <a:ea typeface="Calibri" pitchFamily="34" charset="-122"/>
                <a:cs typeface="Calibri" pitchFamily="34" charset="-120"/>
              </a:rPr>
              <a:t>ESTIMATE</a:t>
            </a:r>
            <a:endParaRPr lang="en-US" sz="900" dirty="0"/>
          </a:p>
        </p:txBody>
      </p:sp>
      <p:sp>
        <p:nvSpPr>
          <p:cNvPr id="25" name="Shape 23"/>
          <p:cNvSpPr/>
          <p:nvPr/>
        </p:nvSpPr>
        <p:spPr>
          <a:xfrm>
            <a:off x="7708392" y="4297680"/>
            <a:ext cx="2103120" cy="256032"/>
          </a:xfrm>
          <a:prstGeom prst="roundRect">
            <a:avLst>
              <a:gd name="adj" fmla="val 50000"/>
            </a:avLst>
          </a:prstGeom>
          <a:solidFill>
            <a:srgbClr val="0A0F1E"/>
          </a:solidFill>
          <a:ln w="12700">
            <a:solidFill>
              <a:srgbClr val="F5B544"/>
            </a:solidFill>
            <a:prstDash val="solid"/>
          </a:ln>
        </p:spPr>
      </p:sp>
      <p:sp>
        <p:nvSpPr>
          <p:cNvPr id="26" name="Text 24"/>
          <p:cNvSpPr txBox="1"/>
          <p:nvPr/>
        </p:nvSpPr>
        <p:spPr>
          <a:xfrm>
            <a:off x="7708392" y="4329684"/>
            <a:ext cx="2103120" cy="201168"/>
          </a:xfrm>
          <a:prstGeom prst="rect">
            <a:avLst/>
          </a:prstGeom>
          <a:noFill/>
          <a:ln/>
        </p:spPr>
        <p:txBody>
          <a:bodyPr wrap="square" lIns="0" tIns="0" rIns="0" bIns="0" rtlCol="0" anchor="t"/>
          <a:lstStyle/>
          <a:p>
            <a:pPr algn="ctr" indent="0" marL="0">
              <a:buNone/>
            </a:pPr>
            <a:r>
              <a:rPr lang="en-US" sz="900" b="1" spc="150" kern="0" dirty="0">
                <a:solidFill>
                  <a:srgbClr val="F5B544"/>
                </a:solidFill>
                <a:latin typeface="Calibri" pitchFamily="34" charset="0"/>
                <a:ea typeface="Calibri" pitchFamily="34" charset="-122"/>
                <a:cs typeface="Calibri" pitchFamily="34" charset="-120"/>
              </a:rPr>
              <a:t>ASSUMES +20 PT UPLIFT</a:t>
            </a:r>
            <a:endParaRPr lang="en-US" sz="900" dirty="0"/>
          </a:p>
        </p:txBody>
      </p:sp>
      <p:sp>
        <p:nvSpPr>
          <p:cNvPr id="27" name="Shape 25"/>
          <p:cNvSpPr/>
          <p:nvPr/>
        </p:nvSpPr>
        <p:spPr>
          <a:xfrm>
            <a:off x="548640" y="5029200"/>
            <a:ext cx="11094415" cy="1097280"/>
          </a:xfrm>
          <a:prstGeom prst="roundRect">
            <a:avLst>
              <a:gd name="adj" fmla="val 10000"/>
            </a:avLst>
          </a:prstGeom>
          <a:solidFill>
            <a:srgbClr val="0A0F1E"/>
          </a:solidFill>
          <a:ln w="12700">
            <a:solidFill>
              <a:srgbClr val="26314F"/>
            </a:solidFill>
            <a:prstDash val="solid"/>
          </a:ln>
        </p:spPr>
      </p:sp>
      <p:sp>
        <p:nvSpPr>
          <p:cNvPr id="28" name="Text 26"/>
          <p:cNvSpPr txBox="1"/>
          <p:nvPr/>
        </p:nvSpPr>
        <p:spPr>
          <a:xfrm>
            <a:off x="822960" y="5120640"/>
            <a:ext cx="10545775" cy="914400"/>
          </a:xfrm>
          <a:prstGeom prst="rect">
            <a:avLst/>
          </a:prstGeom>
          <a:noFill/>
          <a:ln/>
        </p:spPr>
        <p:txBody>
          <a:bodyPr wrap="square" lIns="0" tIns="0" rIns="0" bIns="0" rtlCol="0" anchor="t"/>
          <a:lstStyle/>
          <a:p>
            <a:pPr indent="0" marL="0">
              <a:buNone/>
            </a:pPr>
            <a:r>
              <a:rPr lang="en-US" sz="1250" b="1" dirty="0">
                <a:solidFill>
                  <a:srgbClr val="F5B544"/>
                </a:solidFill>
                <a:latin typeface="Calibri" pitchFamily="34" charset="0"/>
                <a:ea typeface="Calibri" pitchFamily="34" charset="-122"/>
                <a:cs typeface="Calibri" pitchFamily="34" charset="-120"/>
              </a:rPr>
              <a:t>Read this honestly. </a:t>
            </a:r>
            <a:pPr indent="0" marL="0">
              <a:buNone/>
            </a:pPr>
            <a:r>
              <a:rPr lang="en-US" sz="1250" dirty="0">
                <a:solidFill>
                  <a:srgbClr val="9AA4BD"/>
                </a:solidFill>
                <a:latin typeface="Calibri" pitchFamily="34" charset="0"/>
                <a:ea typeface="Calibri" pitchFamily="34" charset="-122"/>
                <a:cs typeface="Calibri" pitchFamily="34" charset="-120"/>
              </a:rPr>
              <a:t>Different scopes: the blanket figure covers all orders over 30 days; the targeted offer covers 27 flagged regulars (7 more held back) over a 14-day campaign. Both are model estimates from editable assumptions — 10% would return anyway, 85% of returners redeem, 1 later full-price visit — not measured results. Alternatives shown in-app: free add-on +₹859, loyalty bonus +₹447, do nothing ₹0.</a:t>
            </a:r>
            <a:endParaRPr lang="en-US" sz="1250" dirty="0"/>
          </a:p>
        </p:txBody>
      </p:sp>
      <p:sp>
        <p:nvSpPr>
          <p:cNvPr id="25" name="Slide Number Placeholder 0"/>
          <p:cNvSpPr>
            <a:spLocks noGrp="1"/>
          </p:cNvSpPr>
          <p:nvPr>
            <p:ph type="sldNum" sz="quarter" idx="4294967295"/>
          </p:nvPr>
        </p:nvSpPr>
        <p:spPr>
          <a:xfrm>
            <a:off x="11185855" y="647395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AA4BD"/>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146304"/>
            <a:ext cx="7315200" cy="219456"/>
          </a:xfrm>
          <a:prstGeom prst="rect">
            <a:avLst/>
          </a:prstGeom>
          <a:noFill/>
          <a:ln/>
        </p:spPr>
        <p:txBody>
          <a:bodyPr wrap="square" lIns="0" tIns="0" rIns="0" bIns="0" rtlCol="0" anchor="t"/>
          <a:lstStyle/>
          <a:p>
            <a:pPr indent="0" marL="0">
              <a:buNone/>
            </a:pPr>
            <a:r>
              <a:rPr lang="en-US" sz="1000" b="1" spc="200" kern="0" dirty="0">
                <a:solidFill>
                  <a:srgbClr val="4C8DFF"/>
                </a:solidFill>
                <a:latin typeface="Calibri" pitchFamily="34" charset="0"/>
                <a:ea typeface="Calibri" pitchFamily="34" charset="-122"/>
                <a:cs typeface="Calibri" pitchFamily="34" charset="-120"/>
              </a:rPr>
              <a:t>PROPOSED SOLUTION</a:t>
            </a:r>
            <a:endParaRPr lang="en-US" sz="1000" dirty="0"/>
          </a:p>
        </p:txBody>
      </p:sp>
      <p:sp>
        <p:nvSpPr>
          <p:cNvPr id="3" name="Text 0"/>
          <p:cNvSpPr/>
          <p:nvPr>
            <p:ph idx="100" type="title" hasCustomPrompt="1"/>
          </p:nvPr>
        </p:nvSpPr>
        <p:spPr>
          <a:xfrm>
            <a:off x="548640" y="384048"/>
            <a:ext cx="11094415" cy="777240"/>
          </a:xfrm>
          <a:prstGeom prst="rect">
            <a:avLst/>
          </a:prstGeom>
          <a:noFill/>
          <a:ln/>
        </p:spPr>
        <p:txBody>
          <a:bodyPr wrap="square" lIns="0" tIns="0" rIns="0" bIns="0" rtlCol="0" anchor="t"/>
          <a:lstStyle/>
          <a:p>
            <a:pPr algn="l" indent="0" marL="0">
              <a:buNone/>
            </a:pPr>
            <a:r>
              <a:rPr lang="en-US" sz="2800" b="1" dirty="0">
                <a:solidFill>
                  <a:srgbClr val="E7EBF3"/>
                </a:solidFill>
                <a:latin typeface="Cambria" pitchFamily="34" charset="0"/>
                <a:ea typeface="Cambria" pitchFamily="34" charset="-122"/>
                <a:cs typeface="Cambria" pitchFamily="34" charset="-120"/>
              </a:rPr>
              <a:t>Act, then measure honestly — even when evidence is thin</a:t>
            </a:r>
            <a:endParaRPr lang="en-US" sz="2800" dirty="0"/>
          </a:p>
        </p:txBody>
      </p:sp>
      <p:sp>
        <p:nvSpPr>
          <p:cNvPr id="4" name="Shape 2"/>
          <p:cNvSpPr/>
          <p:nvPr/>
        </p:nvSpPr>
        <p:spPr>
          <a:xfrm>
            <a:off x="493776" y="1316736"/>
            <a:ext cx="5276088" cy="3338703"/>
          </a:xfrm>
          <a:prstGeom prst="roundRect">
            <a:avLst>
              <a:gd name="adj" fmla="val 2191"/>
            </a:avLst>
          </a:prstGeom>
          <a:solidFill>
            <a:srgbClr val="111831"/>
          </a:solidFill>
          <a:ln w="12700">
            <a:solidFill>
              <a:srgbClr val="26314F"/>
            </a:solidFill>
            <a:prstDash val="solid"/>
          </a:ln>
          <a:effectLst>
            <a:outerShdw sx="100000" sy="100000" kx="0" ky="0" algn="bl" rotWithShape="0" blurRad="152400" dist="50800" dir="5400000">
              <a:srgbClr val="000000">
                <a:alpha val="45000"/>
              </a:srgbClr>
            </a:outerShdw>
          </a:effectLst>
        </p:spPr>
      </p:sp>
      <p:pic>
        <p:nvPicPr>
          <p:cNvPr id="5" name="Image 0" descr="Campaign Studio: draft offer, message, economics and approval checklist">    </p:cNvPr>
          <p:cNvPicPr>
            <a:picLocks noChangeAspect="1"/>
          </p:cNvPicPr>
          <p:nvPr/>
        </p:nvPicPr>
        <p:blipFill>
          <a:blip r:embed="rId1"/>
          <a:stretch>
            <a:fillRect/>
          </a:stretch>
        </p:blipFill>
        <p:spPr>
          <a:xfrm>
            <a:off x="548640" y="1371600"/>
            <a:ext cx="5166360" cy="3228975"/>
          </a:xfrm>
          <a:prstGeom prst="rect">
            <a:avLst/>
          </a:prstGeom>
        </p:spPr>
      </p:pic>
      <p:sp>
        <p:nvSpPr>
          <p:cNvPr id="6" name="Shape 3"/>
          <p:cNvSpPr/>
          <p:nvPr/>
        </p:nvSpPr>
        <p:spPr>
          <a:xfrm>
            <a:off x="6117336" y="1316736"/>
            <a:ext cx="5276088" cy="3338703"/>
          </a:xfrm>
          <a:prstGeom prst="roundRect">
            <a:avLst>
              <a:gd name="adj" fmla="val 2191"/>
            </a:avLst>
          </a:prstGeom>
          <a:solidFill>
            <a:srgbClr val="111831"/>
          </a:solidFill>
          <a:ln w="12700">
            <a:solidFill>
              <a:srgbClr val="26314F"/>
            </a:solidFill>
            <a:prstDash val="solid"/>
          </a:ln>
          <a:effectLst>
            <a:outerShdw sx="100000" sy="100000" kx="0" ky="0" algn="bl" rotWithShape="0" blurRad="152400" dist="50800" dir="5400000">
              <a:srgbClr val="000000">
                <a:alpha val="45000"/>
              </a:srgbClr>
            </a:outerShdw>
          </a:effectLst>
        </p:spPr>
      </p:sp>
      <p:pic>
        <p:nvPicPr>
          <p:cNvPr id="7" name="Image 1" descr="Results: simulated outcome vs estimate with small-sample warning">    </p:cNvPr>
          <p:cNvPicPr>
            <a:picLocks noChangeAspect="1"/>
          </p:cNvPicPr>
          <p:nvPr/>
        </p:nvPicPr>
        <p:blipFill>
          <a:blip r:embed="rId2"/>
          <a:stretch>
            <a:fillRect/>
          </a:stretch>
        </p:blipFill>
        <p:spPr>
          <a:xfrm>
            <a:off x="6172200" y="1371600"/>
            <a:ext cx="5166360" cy="3228975"/>
          </a:xfrm>
          <a:prstGeom prst="rect">
            <a:avLst/>
          </a:prstGeom>
        </p:spPr>
      </p:pic>
      <p:sp>
        <p:nvSpPr>
          <p:cNvPr id="8" name="Text 4"/>
          <p:cNvSpPr txBox="1"/>
          <p:nvPr/>
        </p:nvSpPr>
        <p:spPr>
          <a:xfrm>
            <a:off x="548640" y="4754880"/>
            <a:ext cx="5166360" cy="320040"/>
          </a:xfrm>
          <a:prstGeom prst="rect">
            <a:avLst/>
          </a:prstGeom>
          <a:noFill/>
          <a:ln/>
        </p:spPr>
        <p:txBody>
          <a:bodyPr wrap="square" lIns="0" tIns="0" rIns="0" bIns="0" rtlCol="0" anchor="t"/>
          <a:lstStyle/>
          <a:p>
            <a:pPr indent="0" marL="0">
              <a:buNone/>
            </a:pPr>
            <a:r>
              <a:rPr lang="en-US" sz="1400" b="1" dirty="0">
                <a:solidFill>
                  <a:srgbClr val="E7EBF3"/>
                </a:solidFill>
                <a:latin typeface="Calibri" pitchFamily="34" charset="0"/>
                <a:ea typeface="Calibri" pitchFamily="34" charset="-122"/>
                <a:cs typeface="Calibri" pitchFamily="34" charset="-120"/>
              </a:rPr>
              <a:t>Approve the exact offer; no edits after approval</a:t>
            </a:r>
            <a:endParaRPr lang="en-US" sz="1400" dirty="0"/>
          </a:p>
        </p:txBody>
      </p:sp>
      <p:sp>
        <p:nvSpPr>
          <p:cNvPr id="9" name="Text 5"/>
          <p:cNvSpPr txBox="1"/>
          <p:nvPr/>
        </p:nvSpPr>
        <p:spPr>
          <a:xfrm>
            <a:off x="548640" y="5074920"/>
            <a:ext cx="5166360" cy="548640"/>
          </a:xfrm>
          <a:prstGeom prst="rect">
            <a:avLst/>
          </a:prstGeom>
          <a:noFill/>
          <a:ln/>
        </p:spPr>
        <p:txBody>
          <a:bodyPr wrap="square" lIns="0" tIns="0" rIns="0" bIns="0" rtlCol="0" anchor="t"/>
          <a:lstStyle/>
          <a:p>
            <a:pPr indent="0" marL="0">
              <a:buNone/>
            </a:pPr>
            <a:r>
              <a:rPr lang="en-US" sz="1250" dirty="0">
                <a:solidFill>
                  <a:srgbClr val="9AA4BD"/>
                </a:solidFill>
                <a:latin typeface="Calibri" pitchFamily="34" charset="0"/>
                <a:ea typeface="Calibri" pitchFamily="34" charset="-122"/>
                <a:cs typeface="Calibri" pitchFamily="34" charset="-120"/>
              </a:rPr>
              <a:t>Message must state the offer’s real terms; a checklist gates approval.</a:t>
            </a:r>
            <a:endParaRPr lang="en-US" sz="1250" dirty="0"/>
          </a:p>
        </p:txBody>
      </p:sp>
      <p:sp>
        <p:nvSpPr>
          <p:cNvPr id="10" name="Text 6"/>
          <p:cNvSpPr txBox="1"/>
          <p:nvPr/>
        </p:nvSpPr>
        <p:spPr>
          <a:xfrm>
            <a:off x="6172200" y="4754880"/>
            <a:ext cx="5166360" cy="320040"/>
          </a:xfrm>
          <a:prstGeom prst="rect">
            <a:avLst/>
          </a:prstGeom>
          <a:noFill/>
          <a:ln/>
        </p:spPr>
        <p:txBody>
          <a:bodyPr wrap="square" lIns="0" tIns="0" rIns="0" bIns="0" rtlCol="0" anchor="t"/>
          <a:lstStyle/>
          <a:p>
            <a:pPr indent="0" marL="0">
              <a:buNone/>
            </a:pPr>
            <a:r>
              <a:rPr lang="en-US" sz="1400" b="1" dirty="0">
                <a:solidFill>
                  <a:srgbClr val="E7EBF3"/>
                </a:solidFill>
                <a:latin typeface="Calibri" pitchFamily="34" charset="0"/>
                <a:ea typeface="Calibri" pitchFamily="34" charset="-122"/>
                <a:cs typeface="Calibri" pitchFamily="34" charset="-120"/>
              </a:rPr>
              <a:t>Simulated result vs 7 held-back customers</a:t>
            </a:r>
            <a:endParaRPr lang="en-US" sz="1400" dirty="0"/>
          </a:p>
        </p:txBody>
      </p:sp>
      <p:sp>
        <p:nvSpPr>
          <p:cNvPr id="11" name="Text 7"/>
          <p:cNvSpPr txBox="1"/>
          <p:nvPr/>
        </p:nvSpPr>
        <p:spPr>
          <a:xfrm>
            <a:off x="6172200" y="5074920"/>
            <a:ext cx="5166360" cy="731520"/>
          </a:xfrm>
          <a:prstGeom prst="rect">
            <a:avLst/>
          </a:prstGeom>
          <a:noFill/>
          <a:ln/>
        </p:spPr>
        <p:txBody>
          <a:bodyPr wrap="square" lIns="0" tIns="0" rIns="0" bIns="0" rtlCol="0" anchor="t"/>
          <a:lstStyle/>
          <a:p>
            <a:pPr indent="0" marL="0">
              <a:buNone/>
            </a:pPr>
            <a:r>
              <a:rPr lang="en-US" sz="1250" dirty="0">
                <a:solidFill>
                  <a:srgbClr val="9AA4BD"/>
                </a:solidFill>
                <a:latin typeface="Calibri" pitchFamily="34" charset="0"/>
                <a:ea typeface="Calibri" pitchFamily="34" charset="-122"/>
                <a:cs typeface="Calibri" pitchFamily="34" charset="-120"/>
              </a:rPr>
              <a:t>27 vs 7 gives only ~13% power to detect the assumed lift; ~62 per group needed. The app says “repeat with a larger test” instead of claiming a win.</a:t>
            </a:r>
            <a:endParaRPr lang="en-US" sz="1250" dirty="0"/>
          </a:p>
        </p:txBody>
      </p:sp>
      <p:sp>
        <p:nvSpPr>
          <p:cNvPr id="12" name="Shape 8"/>
          <p:cNvSpPr/>
          <p:nvPr/>
        </p:nvSpPr>
        <p:spPr>
          <a:xfrm>
            <a:off x="6172200" y="5870448"/>
            <a:ext cx="1097280" cy="256032"/>
          </a:xfrm>
          <a:prstGeom prst="roundRect">
            <a:avLst>
              <a:gd name="adj" fmla="val 50000"/>
            </a:avLst>
          </a:prstGeom>
          <a:solidFill>
            <a:srgbClr val="0A0F1E"/>
          </a:solidFill>
          <a:ln w="12700">
            <a:solidFill>
              <a:srgbClr val="B4A0FC"/>
            </a:solidFill>
            <a:prstDash val="solid"/>
          </a:ln>
        </p:spPr>
      </p:sp>
      <p:sp>
        <p:nvSpPr>
          <p:cNvPr id="13" name="Text 9"/>
          <p:cNvSpPr txBox="1"/>
          <p:nvPr/>
        </p:nvSpPr>
        <p:spPr>
          <a:xfrm>
            <a:off x="6172200" y="5902452"/>
            <a:ext cx="1097280" cy="201168"/>
          </a:xfrm>
          <a:prstGeom prst="rect">
            <a:avLst/>
          </a:prstGeom>
          <a:noFill/>
          <a:ln/>
        </p:spPr>
        <p:txBody>
          <a:bodyPr wrap="square" lIns="0" tIns="0" rIns="0" bIns="0" rtlCol="0" anchor="t"/>
          <a:lstStyle/>
          <a:p>
            <a:pPr algn="ctr" indent="0" marL="0">
              <a:buNone/>
            </a:pPr>
            <a:r>
              <a:rPr lang="en-US" sz="900" b="1" spc="150" kern="0" dirty="0">
                <a:solidFill>
                  <a:srgbClr val="B4A0FC"/>
                </a:solidFill>
                <a:latin typeface="Calibri" pitchFamily="34" charset="0"/>
                <a:ea typeface="Calibri" pitchFamily="34" charset="-122"/>
                <a:cs typeface="Calibri" pitchFamily="34" charset="-120"/>
              </a:rPr>
              <a:t>SIMULATED</a:t>
            </a:r>
            <a:endParaRPr lang="en-US" sz="900" dirty="0"/>
          </a:p>
        </p:txBody>
      </p:sp>
      <p:sp>
        <p:nvSpPr>
          <p:cNvPr id="25" name="Slide Number Placeholder 0"/>
          <p:cNvSpPr>
            <a:spLocks noGrp="1"/>
          </p:cNvSpPr>
          <p:nvPr>
            <p:ph type="sldNum" sz="quarter" idx="4294967295"/>
          </p:nvPr>
        </p:nvSpPr>
        <p:spPr>
          <a:xfrm>
            <a:off x="11185855" y="647395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AA4BD"/>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146304"/>
            <a:ext cx="7315200" cy="219456"/>
          </a:xfrm>
          <a:prstGeom prst="rect">
            <a:avLst/>
          </a:prstGeom>
          <a:noFill/>
          <a:ln/>
        </p:spPr>
        <p:txBody>
          <a:bodyPr wrap="square" lIns="0" tIns="0" rIns="0" bIns="0" rtlCol="0" anchor="t"/>
          <a:lstStyle/>
          <a:p>
            <a:pPr indent="0" marL="0">
              <a:buNone/>
            </a:pPr>
            <a:r>
              <a:rPr lang="en-US" sz="1000" b="1" spc="200" kern="0" dirty="0">
                <a:solidFill>
                  <a:srgbClr val="4C8DFF"/>
                </a:solidFill>
                <a:latin typeface="Calibri" pitchFamily="34" charset="0"/>
                <a:ea typeface="Calibri" pitchFamily="34" charset="-122"/>
                <a:cs typeface="Calibri" pitchFamily="34" charset="-120"/>
              </a:rPr>
              <a:t>TECHNOLOGY / TECH STACK</a:t>
            </a:r>
            <a:endParaRPr lang="en-US" sz="1000" dirty="0"/>
          </a:p>
        </p:txBody>
      </p:sp>
      <p:sp>
        <p:nvSpPr>
          <p:cNvPr id="3" name="Text 0"/>
          <p:cNvSpPr/>
          <p:nvPr>
            <p:ph idx="100" type="title" hasCustomPrompt="1"/>
          </p:nvPr>
        </p:nvSpPr>
        <p:spPr>
          <a:xfrm>
            <a:off x="548640" y="384048"/>
            <a:ext cx="11094415" cy="777240"/>
          </a:xfrm>
          <a:prstGeom prst="rect">
            <a:avLst/>
          </a:prstGeom>
          <a:noFill/>
          <a:ln/>
        </p:spPr>
        <p:txBody>
          <a:bodyPr wrap="square" lIns="0" tIns="0" rIns="0" bIns="0" rtlCol="0" anchor="t"/>
          <a:lstStyle/>
          <a:p>
            <a:pPr algn="l" indent="0" marL="0">
              <a:buNone/>
            </a:pPr>
            <a:r>
              <a:rPr lang="en-US" sz="2800" b="1" dirty="0">
                <a:solidFill>
                  <a:srgbClr val="E7EBF3"/>
                </a:solidFill>
                <a:latin typeface="Cambria" pitchFamily="34" charset="0"/>
                <a:ea typeface="Cambria" pitchFamily="34" charset="-122"/>
                <a:cs typeface="Cambria" pitchFamily="34" charset="-120"/>
              </a:rPr>
              <a:t>How it works: agents reason, tools calculate, a reviewer checks</a:t>
            </a:r>
            <a:endParaRPr lang="en-US" sz="2800" dirty="0"/>
          </a:p>
        </p:txBody>
      </p:sp>
      <p:sp>
        <p:nvSpPr>
          <p:cNvPr id="4" name="Shape 2"/>
          <p:cNvSpPr/>
          <p:nvPr/>
        </p:nvSpPr>
        <p:spPr>
          <a:xfrm>
            <a:off x="548640" y="1371600"/>
            <a:ext cx="2011680" cy="822960"/>
          </a:xfrm>
          <a:prstGeom prst="roundRect">
            <a:avLst>
              <a:gd name="adj" fmla="val 13333"/>
            </a:avLst>
          </a:prstGeom>
          <a:solidFill>
            <a:srgbClr val="18213F"/>
          </a:solidFill>
          <a:ln w="12700">
            <a:solidFill>
              <a:srgbClr val="26314F"/>
            </a:solidFill>
            <a:prstDash val="solid"/>
          </a:ln>
        </p:spPr>
      </p:sp>
      <p:sp>
        <p:nvSpPr>
          <p:cNvPr id="5" name="Text 3"/>
          <p:cNvSpPr txBox="1"/>
          <p:nvPr/>
        </p:nvSpPr>
        <p:spPr>
          <a:xfrm>
            <a:off x="548640" y="1371600"/>
            <a:ext cx="2011680" cy="822960"/>
          </a:xfrm>
          <a:prstGeom prst="rect">
            <a:avLst/>
          </a:prstGeom>
          <a:noFill/>
          <a:ln/>
        </p:spPr>
        <p:txBody>
          <a:bodyPr wrap="square" lIns="0" tIns="0" rIns="0" bIns="0" rtlCol="0" anchor="ctr"/>
          <a:lstStyle/>
          <a:p>
            <a:pPr algn="ctr" indent="0" marL="0">
              <a:buNone/>
            </a:pPr>
            <a:r>
              <a:rPr lang="en-US" sz="1400" b="1" dirty="0">
                <a:solidFill>
                  <a:srgbClr val="E7EBF3"/>
                </a:solidFill>
                <a:latin typeface="Calibri" pitchFamily="34" charset="0"/>
                <a:ea typeface="Calibri" pitchFamily="34" charset="-122"/>
                <a:cs typeface="Calibri" pitchFamily="34" charset="-120"/>
              </a:rPr>
              <a:t>Merchant question</a:t>
            </a:r>
            <a:endParaRPr lang="en-US" sz="1400" dirty="0"/>
          </a:p>
        </p:txBody>
      </p:sp>
      <p:sp>
        <p:nvSpPr>
          <p:cNvPr id="6" name="Shape 4"/>
          <p:cNvSpPr/>
          <p:nvPr/>
        </p:nvSpPr>
        <p:spPr>
          <a:xfrm>
            <a:off x="2606040" y="1783080"/>
            <a:ext cx="548640" cy="914"/>
          </a:xfrm>
          <a:prstGeom prst="line">
            <a:avLst/>
          </a:prstGeom>
          <a:noFill/>
          <a:ln w="19050">
            <a:solidFill>
              <a:srgbClr val="4C8DFF"/>
            </a:solidFill>
            <a:prstDash val="solid"/>
            <a:tailEnd type="triangle"/>
          </a:ln>
        </p:spPr>
      </p:sp>
      <p:sp>
        <p:nvSpPr>
          <p:cNvPr id="7" name="Shape 5"/>
          <p:cNvSpPr/>
          <p:nvPr/>
        </p:nvSpPr>
        <p:spPr>
          <a:xfrm>
            <a:off x="3200400" y="1371600"/>
            <a:ext cx="2286000" cy="822960"/>
          </a:xfrm>
          <a:prstGeom prst="roundRect">
            <a:avLst>
              <a:gd name="adj" fmla="val 13333"/>
            </a:avLst>
          </a:prstGeom>
          <a:solidFill>
            <a:srgbClr val="111831"/>
          </a:solidFill>
          <a:ln w="12700">
            <a:solidFill>
              <a:srgbClr val="4C8DFF"/>
            </a:solidFill>
            <a:prstDash val="solid"/>
          </a:ln>
        </p:spPr>
      </p:sp>
      <p:sp>
        <p:nvSpPr>
          <p:cNvPr id="8" name="Text 6"/>
          <p:cNvSpPr txBox="1"/>
          <p:nvPr/>
        </p:nvSpPr>
        <p:spPr>
          <a:xfrm>
            <a:off x="3200400" y="1371600"/>
            <a:ext cx="2286000" cy="822960"/>
          </a:xfrm>
          <a:prstGeom prst="rect">
            <a:avLst/>
          </a:prstGeom>
          <a:noFill/>
          <a:ln/>
        </p:spPr>
        <p:txBody>
          <a:bodyPr wrap="square" lIns="0" tIns="0" rIns="0" bIns="0" rtlCol="0" anchor="ctr"/>
          <a:lstStyle/>
          <a:p>
            <a:pPr algn="ctr" indent="0" marL="0">
              <a:buNone/>
            </a:pPr>
            <a:r>
              <a:rPr lang="en-US" sz="1400" b="1" dirty="0">
                <a:solidFill>
                  <a:srgbClr val="E7EBF3"/>
                </a:solidFill>
                <a:latin typeface="Calibri" pitchFamily="34" charset="0"/>
                <a:ea typeface="Calibri" pitchFamily="34" charset="-122"/>
                <a:cs typeface="Calibri" pitchFamily="34" charset="-120"/>
              </a:rPr>
              <a:t>Orchestrator</a:t>
            </a:r>
            <a:endParaRPr lang="en-US" sz="1400" dirty="0"/>
          </a:p>
          <a:p>
            <a:pPr algn="ctr" indent="0" marL="0">
              <a:buNone/>
            </a:pPr>
            <a:r>
              <a:rPr lang="en-US" sz="1100" dirty="0">
                <a:solidFill>
                  <a:srgbClr val="9AA4BD"/>
                </a:solidFill>
                <a:latin typeface="Calibri" pitchFamily="34" charset="0"/>
                <a:ea typeface="Calibri" pitchFamily="34" charset="-122"/>
                <a:cs typeface="Calibri" pitchFamily="34" charset="-120"/>
              </a:rPr>
              <a:t>plans · budgets · synthesises</a:t>
            </a:r>
            <a:endParaRPr lang="en-US" sz="1400" dirty="0"/>
          </a:p>
        </p:txBody>
      </p:sp>
      <p:sp>
        <p:nvSpPr>
          <p:cNvPr id="9" name="Shape 7"/>
          <p:cNvSpPr/>
          <p:nvPr/>
        </p:nvSpPr>
        <p:spPr>
          <a:xfrm>
            <a:off x="5989320" y="1234440"/>
            <a:ext cx="1965960" cy="457200"/>
          </a:xfrm>
          <a:prstGeom prst="roundRect">
            <a:avLst>
              <a:gd name="adj" fmla="val 24000"/>
            </a:avLst>
          </a:prstGeom>
          <a:solidFill>
            <a:srgbClr val="111831"/>
          </a:solidFill>
          <a:ln w="12700">
            <a:solidFill>
              <a:srgbClr val="26314F"/>
            </a:solidFill>
            <a:prstDash val="solid"/>
          </a:ln>
        </p:spPr>
      </p:sp>
      <p:sp>
        <p:nvSpPr>
          <p:cNvPr id="10" name="Text 8"/>
          <p:cNvSpPr txBox="1"/>
          <p:nvPr/>
        </p:nvSpPr>
        <p:spPr>
          <a:xfrm>
            <a:off x="5989320" y="1234440"/>
            <a:ext cx="1965960" cy="457200"/>
          </a:xfrm>
          <a:prstGeom prst="rect">
            <a:avLst/>
          </a:prstGeom>
          <a:noFill/>
          <a:ln/>
        </p:spPr>
        <p:txBody>
          <a:bodyPr wrap="square" lIns="0" tIns="0" rIns="0" bIns="0" rtlCol="0" anchor="ctr"/>
          <a:lstStyle/>
          <a:p>
            <a:pPr algn="ctr" indent="0" marL="0">
              <a:buNone/>
            </a:pPr>
            <a:r>
              <a:rPr lang="en-US" sz="1250" dirty="0">
                <a:solidFill>
                  <a:srgbClr val="E7EBF3"/>
                </a:solidFill>
                <a:latin typeface="Calibri" pitchFamily="34" charset="0"/>
                <a:ea typeface="Calibri" pitchFamily="34" charset="-122"/>
                <a:cs typeface="Calibri" pitchFamily="34" charset="-120"/>
              </a:rPr>
              <a:t>Business Analyst</a:t>
            </a:r>
            <a:endParaRPr lang="en-US" sz="1250" dirty="0"/>
          </a:p>
        </p:txBody>
      </p:sp>
      <p:sp>
        <p:nvSpPr>
          <p:cNvPr id="11" name="Shape 9"/>
          <p:cNvSpPr/>
          <p:nvPr/>
        </p:nvSpPr>
        <p:spPr>
          <a:xfrm>
            <a:off x="5989320" y="1801368"/>
            <a:ext cx="1965960" cy="457200"/>
          </a:xfrm>
          <a:prstGeom prst="roundRect">
            <a:avLst>
              <a:gd name="adj" fmla="val 24000"/>
            </a:avLst>
          </a:prstGeom>
          <a:solidFill>
            <a:srgbClr val="111831"/>
          </a:solidFill>
          <a:ln w="12700">
            <a:solidFill>
              <a:srgbClr val="26314F"/>
            </a:solidFill>
            <a:prstDash val="solid"/>
          </a:ln>
        </p:spPr>
      </p:sp>
      <p:sp>
        <p:nvSpPr>
          <p:cNvPr id="12" name="Text 10"/>
          <p:cNvSpPr txBox="1"/>
          <p:nvPr/>
        </p:nvSpPr>
        <p:spPr>
          <a:xfrm>
            <a:off x="5989320" y="1801368"/>
            <a:ext cx="1965960" cy="457200"/>
          </a:xfrm>
          <a:prstGeom prst="rect">
            <a:avLst/>
          </a:prstGeom>
          <a:noFill/>
          <a:ln/>
        </p:spPr>
        <p:txBody>
          <a:bodyPr wrap="square" lIns="0" tIns="0" rIns="0" bIns="0" rtlCol="0" anchor="ctr"/>
          <a:lstStyle/>
          <a:p>
            <a:pPr algn="ctr" indent="0" marL="0">
              <a:buNone/>
            </a:pPr>
            <a:r>
              <a:rPr lang="en-US" sz="1250" dirty="0">
                <a:solidFill>
                  <a:srgbClr val="E7EBF3"/>
                </a:solidFill>
                <a:latin typeface="Calibri" pitchFamily="34" charset="0"/>
                <a:ea typeface="Calibri" pitchFamily="34" charset="-122"/>
                <a:cs typeface="Calibri" pitchFamily="34" charset="-120"/>
              </a:rPr>
              <a:t>Customer Intelligence</a:t>
            </a:r>
            <a:endParaRPr lang="en-US" sz="1250" dirty="0"/>
          </a:p>
        </p:txBody>
      </p:sp>
      <p:sp>
        <p:nvSpPr>
          <p:cNvPr id="13" name="Shape 11"/>
          <p:cNvSpPr/>
          <p:nvPr/>
        </p:nvSpPr>
        <p:spPr>
          <a:xfrm>
            <a:off x="5989320" y="2368296"/>
            <a:ext cx="1965960" cy="457200"/>
          </a:xfrm>
          <a:prstGeom prst="roundRect">
            <a:avLst>
              <a:gd name="adj" fmla="val 24000"/>
            </a:avLst>
          </a:prstGeom>
          <a:solidFill>
            <a:srgbClr val="111831"/>
          </a:solidFill>
          <a:ln w="12700">
            <a:solidFill>
              <a:srgbClr val="26314F"/>
            </a:solidFill>
            <a:prstDash val="solid"/>
          </a:ln>
        </p:spPr>
      </p:sp>
      <p:sp>
        <p:nvSpPr>
          <p:cNvPr id="14" name="Text 12"/>
          <p:cNvSpPr txBox="1"/>
          <p:nvPr/>
        </p:nvSpPr>
        <p:spPr>
          <a:xfrm>
            <a:off x="5989320" y="2368296"/>
            <a:ext cx="1965960" cy="457200"/>
          </a:xfrm>
          <a:prstGeom prst="rect">
            <a:avLst/>
          </a:prstGeom>
          <a:noFill/>
          <a:ln/>
        </p:spPr>
        <p:txBody>
          <a:bodyPr wrap="square" lIns="0" tIns="0" rIns="0" bIns="0" rtlCol="0" anchor="ctr"/>
          <a:lstStyle/>
          <a:p>
            <a:pPr algn="ctr" indent="0" marL="0">
              <a:buNone/>
            </a:pPr>
            <a:r>
              <a:rPr lang="en-US" sz="1250" dirty="0">
                <a:solidFill>
                  <a:srgbClr val="E7EBF3"/>
                </a:solidFill>
                <a:latin typeface="Calibri" pitchFamily="34" charset="0"/>
                <a:ea typeface="Calibri" pitchFamily="34" charset="-122"/>
                <a:cs typeface="Calibri" pitchFamily="34" charset="-120"/>
              </a:rPr>
              <a:t>Growth Strategist</a:t>
            </a:r>
            <a:endParaRPr lang="en-US" sz="1250" dirty="0"/>
          </a:p>
        </p:txBody>
      </p:sp>
      <p:sp>
        <p:nvSpPr>
          <p:cNvPr id="15" name="Shape 13"/>
          <p:cNvSpPr/>
          <p:nvPr/>
        </p:nvSpPr>
        <p:spPr>
          <a:xfrm>
            <a:off x="5989320" y="2935224"/>
            <a:ext cx="1965960" cy="457200"/>
          </a:xfrm>
          <a:prstGeom prst="roundRect">
            <a:avLst>
              <a:gd name="adj" fmla="val 24000"/>
            </a:avLst>
          </a:prstGeom>
          <a:solidFill>
            <a:srgbClr val="111831"/>
          </a:solidFill>
          <a:ln w="12700">
            <a:solidFill>
              <a:srgbClr val="26314F"/>
            </a:solidFill>
            <a:prstDash val="solid"/>
          </a:ln>
        </p:spPr>
      </p:sp>
      <p:sp>
        <p:nvSpPr>
          <p:cNvPr id="16" name="Text 14"/>
          <p:cNvSpPr txBox="1"/>
          <p:nvPr/>
        </p:nvSpPr>
        <p:spPr>
          <a:xfrm>
            <a:off x="5989320" y="2935224"/>
            <a:ext cx="1965960" cy="457200"/>
          </a:xfrm>
          <a:prstGeom prst="rect">
            <a:avLst/>
          </a:prstGeom>
          <a:noFill/>
          <a:ln/>
        </p:spPr>
        <p:txBody>
          <a:bodyPr wrap="square" lIns="0" tIns="0" rIns="0" bIns="0" rtlCol="0" anchor="ctr"/>
          <a:lstStyle/>
          <a:p>
            <a:pPr algn="ctr" indent="0" marL="0">
              <a:buNone/>
            </a:pPr>
            <a:r>
              <a:rPr lang="en-US" sz="1250" dirty="0">
                <a:solidFill>
                  <a:srgbClr val="E7EBF3"/>
                </a:solidFill>
                <a:latin typeface="Calibri" pitchFamily="34" charset="0"/>
                <a:ea typeface="Calibri" pitchFamily="34" charset="-122"/>
                <a:cs typeface="Calibri" pitchFamily="34" charset="-120"/>
              </a:rPr>
              <a:t>Experiment Scientist</a:t>
            </a:r>
            <a:endParaRPr lang="en-US" sz="1250" dirty="0"/>
          </a:p>
        </p:txBody>
      </p:sp>
      <p:sp>
        <p:nvSpPr>
          <p:cNvPr id="17" name="Shape 15"/>
          <p:cNvSpPr/>
          <p:nvPr/>
        </p:nvSpPr>
        <p:spPr>
          <a:xfrm>
            <a:off x="5989320" y="3502152"/>
            <a:ext cx="1965960" cy="457200"/>
          </a:xfrm>
          <a:prstGeom prst="roundRect">
            <a:avLst>
              <a:gd name="adj" fmla="val 24000"/>
            </a:avLst>
          </a:prstGeom>
          <a:solidFill>
            <a:srgbClr val="18213F"/>
          </a:solidFill>
          <a:ln w="12700">
            <a:solidFill>
              <a:srgbClr val="34D399"/>
            </a:solidFill>
            <a:prstDash val="solid"/>
          </a:ln>
        </p:spPr>
      </p:sp>
      <p:sp>
        <p:nvSpPr>
          <p:cNvPr id="18" name="Text 16"/>
          <p:cNvSpPr txBox="1"/>
          <p:nvPr/>
        </p:nvSpPr>
        <p:spPr>
          <a:xfrm>
            <a:off x="5989320" y="3502152"/>
            <a:ext cx="1965960" cy="457200"/>
          </a:xfrm>
          <a:prstGeom prst="rect">
            <a:avLst/>
          </a:prstGeom>
          <a:noFill/>
          <a:ln/>
        </p:spPr>
        <p:txBody>
          <a:bodyPr wrap="square" lIns="0" tIns="0" rIns="0" bIns="0" rtlCol="0" anchor="ctr"/>
          <a:lstStyle/>
          <a:p>
            <a:pPr algn="ctr" indent="0" marL="0">
              <a:buNone/>
            </a:pPr>
            <a:r>
              <a:rPr lang="en-US" sz="1250" b="1" dirty="0">
                <a:solidFill>
                  <a:srgbClr val="E7EBF3"/>
                </a:solidFill>
                <a:latin typeface="Calibri" pitchFamily="34" charset="0"/>
                <a:ea typeface="Calibri" pitchFamily="34" charset="-122"/>
                <a:cs typeface="Calibri" pitchFamily="34" charset="-120"/>
              </a:rPr>
              <a:t>Action Planner</a:t>
            </a:r>
            <a:endParaRPr lang="en-US" sz="1250" dirty="0"/>
          </a:p>
        </p:txBody>
      </p:sp>
      <p:sp>
        <p:nvSpPr>
          <p:cNvPr id="19" name="Shape 17"/>
          <p:cNvSpPr/>
          <p:nvPr/>
        </p:nvSpPr>
        <p:spPr>
          <a:xfrm>
            <a:off x="5532120" y="1783080"/>
            <a:ext cx="411480" cy="914"/>
          </a:xfrm>
          <a:prstGeom prst="line">
            <a:avLst/>
          </a:prstGeom>
          <a:noFill/>
          <a:ln w="19050">
            <a:solidFill>
              <a:srgbClr val="4C8DFF"/>
            </a:solidFill>
            <a:prstDash val="solid"/>
            <a:tailEnd type="triangle"/>
          </a:ln>
        </p:spPr>
      </p:sp>
      <p:sp>
        <p:nvSpPr>
          <p:cNvPr id="20" name="Shape 18"/>
          <p:cNvSpPr/>
          <p:nvPr/>
        </p:nvSpPr>
        <p:spPr>
          <a:xfrm>
            <a:off x="8458200" y="1234440"/>
            <a:ext cx="2971800" cy="2103120"/>
          </a:xfrm>
          <a:prstGeom prst="roundRect">
            <a:avLst>
              <a:gd name="adj" fmla="val 5217"/>
            </a:avLst>
          </a:prstGeom>
          <a:solidFill>
            <a:srgbClr val="18213F"/>
          </a:solidFill>
          <a:ln w="12700">
            <a:solidFill>
              <a:srgbClr val="26314F"/>
            </a:solidFill>
            <a:prstDash val="solid"/>
          </a:ln>
        </p:spPr>
      </p:sp>
      <p:sp>
        <p:nvSpPr>
          <p:cNvPr id="21" name="Shape 19"/>
          <p:cNvSpPr/>
          <p:nvPr/>
        </p:nvSpPr>
        <p:spPr>
          <a:xfrm>
            <a:off x="8641080" y="1371600"/>
            <a:ext cx="530352" cy="530352"/>
          </a:xfrm>
          <a:prstGeom prst="ellipse">
            <a:avLst/>
          </a:prstGeom>
          <a:solidFill>
            <a:srgbClr val="18213F"/>
          </a:solidFill>
          <a:ln w="12700">
            <a:solidFill>
              <a:srgbClr val="26314F"/>
            </a:solidFill>
            <a:prstDash val="solid"/>
          </a:ln>
        </p:spPr>
      </p:sp>
      <p:pic>
        <p:nvPicPr>
          <p:cNvPr id="22" name="Image 0" descr="database icon">    </p:cNvPr>
          <p:cNvPicPr>
            <a:picLocks noChangeAspect="1"/>
          </p:cNvPicPr>
          <p:nvPr/>
        </p:nvPicPr>
        <p:blipFill>
          <a:blip r:embed="rId1"/>
          <a:stretch>
            <a:fillRect/>
          </a:stretch>
        </p:blipFill>
        <p:spPr>
          <a:xfrm>
            <a:off x="8750808" y="1481328"/>
            <a:ext cx="310896" cy="310896"/>
          </a:xfrm>
          <a:prstGeom prst="rect">
            <a:avLst/>
          </a:prstGeom>
        </p:spPr>
      </p:pic>
      <p:sp>
        <p:nvSpPr>
          <p:cNvPr id="23" name="Text 20"/>
          <p:cNvSpPr txBox="1"/>
          <p:nvPr/>
        </p:nvSpPr>
        <p:spPr>
          <a:xfrm>
            <a:off x="9235440" y="1417320"/>
            <a:ext cx="2103120" cy="320040"/>
          </a:xfrm>
          <a:prstGeom prst="rect">
            <a:avLst/>
          </a:prstGeom>
          <a:noFill/>
          <a:ln/>
        </p:spPr>
        <p:txBody>
          <a:bodyPr wrap="square" lIns="0" tIns="0" rIns="0" bIns="0" rtlCol="0" anchor="t"/>
          <a:lstStyle/>
          <a:p>
            <a:pPr indent="0" marL="0">
              <a:buNone/>
            </a:pPr>
            <a:r>
              <a:rPr lang="en-US" sz="1400" b="1" dirty="0">
                <a:solidFill>
                  <a:srgbClr val="E7EBF3"/>
                </a:solidFill>
                <a:latin typeface="Calibri" pitchFamily="34" charset="0"/>
                <a:ea typeface="Calibri" pitchFamily="34" charset="-122"/>
                <a:cs typeface="Calibri" pitchFamily="34" charset="-120"/>
              </a:rPr>
              <a:t>Allowlisted tools</a:t>
            </a:r>
            <a:endParaRPr lang="en-US" sz="1400" dirty="0"/>
          </a:p>
        </p:txBody>
      </p:sp>
      <p:sp>
        <p:nvSpPr>
          <p:cNvPr id="24" name="Text 21"/>
          <p:cNvSpPr txBox="1"/>
          <p:nvPr/>
        </p:nvSpPr>
        <p:spPr>
          <a:xfrm>
            <a:off x="8686800" y="1965960"/>
            <a:ext cx="2606040" cy="1737360"/>
          </a:xfrm>
          <a:prstGeom prst="rect">
            <a:avLst/>
          </a:prstGeom>
          <a:noFill/>
          <a:ln/>
        </p:spPr>
        <p:txBody>
          <a:bodyPr wrap="square" lIns="0" tIns="0" rIns="0" bIns="0" rtlCol="0" anchor="t"/>
          <a:lstStyle/>
          <a:p>
            <a:pPr indent="0" marL="0">
              <a:spcAft>
                <a:spcPts val="600"/>
              </a:spcAft>
              <a:buNone/>
            </a:pPr>
            <a:r>
              <a:rPr lang="en-US" sz="1200" dirty="0">
                <a:solidFill>
                  <a:srgbClr val="9AA4BD"/>
                </a:solidFill>
                <a:latin typeface="Calibri" pitchFamily="34" charset="0"/>
                <a:ea typeface="Calibri" pitchFamily="34" charset="-122"/>
                <a:cs typeface="Calibri" pitchFamily="34" charset="-120"/>
              </a:rPr>
              <a:t>11 read-only tools over tested domain code</a:t>
            </a:r>
            <a:endParaRPr lang="en-US" sz="1200" dirty="0"/>
          </a:p>
          <a:p>
            <a:pPr indent="0" marL="0">
              <a:spcAft>
                <a:spcPts val="600"/>
              </a:spcAft>
              <a:buNone/>
            </a:pPr>
            <a:r>
              <a:rPr lang="en-US" sz="1200" dirty="0">
                <a:solidFill>
                  <a:srgbClr val="9AA4BD"/>
                </a:solidFill>
                <a:latin typeface="Calibri" pitchFamily="34" charset="0"/>
                <a:ea typeface="Calibri" pitchFamily="34" charset="-122"/>
                <a:cs typeface="Calibri" pitchFamily="34" charset="-120"/>
              </a:rPr>
              <a:t>each agent may call only its own</a:t>
            </a:r>
            <a:endParaRPr lang="en-US" sz="1200" dirty="0"/>
          </a:p>
          <a:p>
            <a:pPr indent="0" marL="0">
              <a:spcAft>
                <a:spcPts val="600"/>
              </a:spcAft>
              <a:buNone/>
            </a:pPr>
            <a:r>
              <a:rPr lang="en-US" sz="1200" dirty="0">
                <a:solidFill>
                  <a:srgbClr val="9AA4BD"/>
                </a:solidFill>
                <a:latin typeface="Calibri" pitchFamily="34" charset="0"/>
                <a:ea typeface="Calibri" pitchFamily="34" charset="-122"/>
                <a:cs typeface="Calibri" pitchFamily="34" charset="-120"/>
              </a:rPr>
              <a:t>results carry unit, population, period, provenance</a:t>
            </a:r>
            <a:endParaRPr lang="en-US" sz="1200" dirty="0"/>
          </a:p>
        </p:txBody>
      </p:sp>
      <p:sp>
        <p:nvSpPr>
          <p:cNvPr id="25" name="Shape 22"/>
          <p:cNvSpPr/>
          <p:nvPr/>
        </p:nvSpPr>
        <p:spPr>
          <a:xfrm>
            <a:off x="8001000" y="2286000"/>
            <a:ext cx="411480" cy="914"/>
          </a:xfrm>
          <a:prstGeom prst="line">
            <a:avLst/>
          </a:prstGeom>
          <a:noFill/>
          <a:ln w="19050">
            <a:solidFill>
              <a:srgbClr val="9AA4BD"/>
            </a:solidFill>
            <a:prstDash val="solid"/>
            <a:tailEnd type="triangle"/>
          </a:ln>
        </p:spPr>
      </p:sp>
      <p:sp>
        <p:nvSpPr>
          <p:cNvPr id="26" name="Shape 23"/>
          <p:cNvSpPr/>
          <p:nvPr/>
        </p:nvSpPr>
        <p:spPr>
          <a:xfrm>
            <a:off x="3200400" y="4343400"/>
            <a:ext cx="2651760" cy="1051560"/>
          </a:xfrm>
          <a:prstGeom prst="roundRect">
            <a:avLst>
              <a:gd name="adj" fmla="val 10435"/>
            </a:avLst>
          </a:prstGeom>
          <a:solidFill>
            <a:srgbClr val="111831"/>
          </a:solidFill>
          <a:ln w="12700">
            <a:solidFill>
              <a:srgbClr val="F5B544"/>
            </a:solidFill>
            <a:prstDash val="solid"/>
          </a:ln>
        </p:spPr>
      </p:sp>
      <p:sp>
        <p:nvSpPr>
          <p:cNvPr id="27" name="Text 24"/>
          <p:cNvSpPr txBox="1"/>
          <p:nvPr/>
        </p:nvSpPr>
        <p:spPr>
          <a:xfrm>
            <a:off x="3200400" y="4343400"/>
            <a:ext cx="2651760" cy="1051560"/>
          </a:xfrm>
          <a:prstGeom prst="rect">
            <a:avLst/>
          </a:prstGeom>
          <a:noFill/>
          <a:ln/>
        </p:spPr>
        <p:txBody>
          <a:bodyPr wrap="square" lIns="0" tIns="0" rIns="0" bIns="0" rtlCol="0" anchor="ctr"/>
          <a:lstStyle/>
          <a:p>
            <a:pPr algn="ctr" indent="0" marL="0">
              <a:buNone/>
            </a:pPr>
            <a:r>
              <a:rPr lang="en-US" sz="1500" b="1" dirty="0">
                <a:solidFill>
                  <a:srgbClr val="E7EBF3"/>
                </a:solidFill>
                <a:latin typeface="Calibri" pitchFamily="34" charset="0"/>
                <a:ea typeface="Calibri" pitchFamily="34" charset="-122"/>
                <a:cs typeface="Calibri" pitchFamily="34" charset="-120"/>
              </a:rPr>
              <a:t>Risk Reviewer</a:t>
            </a:r>
            <a:endParaRPr lang="en-US" sz="1500" dirty="0"/>
          </a:p>
          <a:p>
            <a:pPr algn="ctr" indent="0" marL="0">
              <a:buNone/>
            </a:pPr>
            <a:r>
              <a:rPr lang="en-US" sz="1100" dirty="0">
                <a:solidFill>
                  <a:srgbClr val="9AA4BD"/>
                </a:solidFill>
                <a:latin typeface="Calibri" pitchFamily="34" charset="0"/>
                <a:ea typeface="Calibri" pitchFamily="34" charset="-122"/>
                <a:cs typeface="Calibri" pitchFamily="34" charset="-120"/>
              </a:rPr>
              <a:t>rule-based · no model · no tools</a:t>
            </a:r>
            <a:endParaRPr lang="en-US" sz="1500" dirty="0"/>
          </a:p>
        </p:txBody>
      </p:sp>
      <p:sp>
        <p:nvSpPr>
          <p:cNvPr id="28" name="Shape 25"/>
          <p:cNvSpPr/>
          <p:nvPr/>
        </p:nvSpPr>
        <p:spPr>
          <a:xfrm flipH="1">
            <a:off x="5303520" y="3703320"/>
            <a:ext cx="640080" cy="612648"/>
          </a:xfrm>
          <a:prstGeom prst="line">
            <a:avLst/>
          </a:prstGeom>
          <a:noFill/>
          <a:ln w="19050">
            <a:solidFill>
              <a:srgbClr val="F5B544"/>
            </a:solidFill>
            <a:prstDash val="solid"/>
            <a:tailEnd type="triangle"/>
          </a:ln>
        </p:spPr>
      </p:sp>
      <p:sp>
        <p:nvSpPr>
          <p:cNvPr id="29" name="Text 26"/>
          <p:cNvSpPr txBox="1"/>
          <p:nvPr/>
        </p:nvSpPr>
        <p:spPr>
          <a:xfrm>
            <a:off x="5120640" y="3886200"/>
            <a:ext cx="731520" cy="228600"/>
          </a:xfrm>
          <a:prstGeom prst="rect">
            <a:avLst/>
          </a:prstGeom>
          <a:noFill/>
          <a:ln/>
        </p:spPr>
        <p:txBody>
          <a:bodyPr wrap="square" lIns="0" tIns="0" rIns="0" bIns="0" rtlCol="0" anchor="t"/>
          <a:lstStyle/>
          <a:p>
            <a:pPr indent="0" marL="0">
              <a:buNone/>
            </a:pPr>
            <a:r>
              <a:rPr lang="en-US" sz="1000" dirty="0">
                <a:solidFill>
                  <a:srgbClr val="F5B544"/>
                </a:solidFill>
                <a:latin typeface="Calibri" pitchFamily="34" charset="0"/>
                <a:ea typeface="Calibri" pitchFamily="34" charset="-122"/>
                <a:cs typeface="Calibri" pitchFamily="34" charset="-120"/>
              </a:rPr>
              <a:t>findings</a:t>
            </a:r>
            <a:endParaRPr lang="en-US" sz="1000" dirty="0"/>
          </a:p>
        </p:txBody>
      </p:sp>
      <p:sp>
        <p:nvSpPr>
          <p:cNvPr id="30" name="Shape 27"/>
          <p:cNvSpPr/>
          <p:nvPr/>
        </p:nvSpPr>
        <p:spPr>
          <a:xfrm>
            <a:off x="548640" y="4343400"/>
            <a:ext cx="2011680" cy="1051560"/>
          </a:xfrm>
          <a:prstGeom prst="roundRect">
            <a:avLst>
              <a:gd name="adj" fmla="val 10435"/>
            </a:avLst>
          </a:prstGeom>
          <a:solidFill>
            <a:srgbClr val="18213F"/>
          </a:solidFill>
          <a:ln w="12700">
            <a:solidFill>
              <a:srgbClr val="4C8DFF"/>
            </a:solidFill>
            <a:prstDash val="solid"/>
          </a:ln>
        </p:spPr>
      </p:sp>
      <p:sp>
        <p:nvSpPr>
          <p:cNvPr id="31" name="Text 28"/>
          <p:cNvSpPr txBox="1"/>
          <p:nvPr/>
        </p:nvSpPr>
        <p:spPr>
          <a:xfrm>
            <a:off x="548640" y="4343400"/>
            <a:ext cx="2011680" cy="1051560"/>
          </a:xfrm>
          <a:prstGeom prst="rect">
            <a:avLst/>
          </a:prstGeom>
          <a:noFill/>
          <a:ln/>
        </p:spPr>
        <p:txBody>
          <a:bodyPr wrap="square" lIns="0" tIns="0" rIns="0" bIns="0" rtlCol="0" anchor="ctr"/>
          <a:lstStyle/>
          <a:p>
            <a:pPr algn="ctr" indent="0" marL="0">
              <a:buNone/>
            </a:pPr>
            <a:r>
              <a:rPr lang="en-US" sz="1500" b="1" dirty="0">
                <a:solidFill>
                  <a:srgbClr val="E7EBF3"/>
                </a:solidFill>
                <a:latin typeface="Calibri" pitchFamily="34" charset="0"/>
                <a:ea typeface="Calibri" pitchFamily="34" charset="-122"/>
                <a:cs typeface="Calibri" pitchFamily="34" charset="-120"/>
              </a:rPr>
              <a:t>Answer</a:t>
            </a:r>
            <a:endParaRPr lang="en-US" sz="1500" dirty="0"/>
          </a:p>
          <a:p>
            <a:pPr algn="ctr" indent="0" marL="0">
              <a:buNone/>
            </a:pPr>
            <a:r>
              <a:rPr lang="en-US" sz="1100" dirty="0">
                <a:solidFill>
                  <a:srgbClr val="9AA4BD"/>
                </a:solidFill>
                <a:latin typeface="Calibri" pitchFamily="34" charset="0"/>
                <a:ea typeface="Calibri" pitchFamily="34" charset="-122"/>
                <a:cs typeface="Calibri" pitchFamily="34" charset="-120"/>
              </a:rPr>
              <a:t>facts · estimates · hypotheses</a:t>
            </a:r>
            <a:endParaRPr lang="en-US" sz="1500" dirty="0"/>
          </a:p>
        </p:txBody>
      </p:sp>
      <p:sp>
        <p:nvSpPr>
          <p:cNvPr id="32" name="Shape 29"/>
          <p:cNvSpPr/>
          <p:nvPr/>
        </p:nvSpPr>
        <p:spPr>
          <a:xfrm flipH="1">
            <a:off x="2606040" y="4864608"/>
            <a:ext cx="548640" cy="914"/>
          </a:xfrm>
          <a:prstGeom prst="line">
            <a:avLst/>
          </a:prstGeom>
          <a:noFill/>
          <a:ln w="19050">
            <a:solidFill>
              <a:srgbClr val="4C8DFF"/>
            </a:solidFill>
            <a:prstDash val="solid"/>
            <a:tailEnd type="triangle"/>
          </a:ln>
        </p:spPr>
      </p:sp>
      <p:sp>
        <p:nvSpPr>
          <p:cNvPr id="33" name="Shape 30"/>
          <p:cNvSpPr/>
          <p:nvPr/>
        </p:nvSpPr>
        <p:spPr>
          <a:xfrm>
            <a:off x="5989320" y="4343400"/>
            <a:ext cx="5440680" cy="1051560"/>
          </a:xfrm>
          <a:prstGeom prst="roundRect">
            <a:avLst>
              <a:gd name="adj" fmla="val 10435"/>
            </a:avLst>
          </a:prstGeom>
          <a:solidFill>
            <a:srgbClr val="111831"/>
          </a:solidFill>
          <a:ln w="12700">
            <a:solidFill>
              <a:srgbClr val="34D399"/>
            </a:solidFill>
            <a:prstDash val="solid"/>
          </a:ln>
        </p:spPr>
      </p:sp>
      <p:sp>
        <p:nvSpPr>
          <p:cNvPr id="34" name="Text 31"/>
          <p:cNvSpPr txBox="1"/>
          <p:nvPr/>
        </p:nvSpPr>
        <p:spPr>
          <a:xfrm>
            <a:off x="6217920" y="4343400"/>
            <a:ext cx="4983480" cy="1051560"/>
          </a:xfrm>
          <a:prstGeom prst="rect">
            <a:avLst/>
          </a:prstGeom>
          <a:noFill/>
          <a:ln/>
        </p:spPr>
        <p:txBody>
          <a:bodyPr wrap="square" lIns="0" tIns="0" rIns="0" bIns="0" rtlCol="0" anchor="ctr"/>
          <a:lstStyle/>
          <a:p>
            <a:pPr indent="0" marL="0">
              <a:buNone/>
            </a:pPr>
            <a:r>
              <a:rPr lang="en-US" sz="1400" b="1" dirty="0">
                <a:solidFill>
                  <a:srgbClr val="E7EBF3"/>
                </a:solidFill>
                <a:latin typeface="Calibri" pitchFamily="34" charset="0"/>
                <a:ea typeface="Calibri" pitchFamily="34" charset="-122"/>
                <a:cs typeface="Calibri" pitchFamily="34" charset="-120"/>
              </a:rPr>
              <a:t>Proposal only — the merchant acts</a:t>
            </a:r>
            <a:endParaRPr lang="en-US" sz="1400" dirty="0"/>
          </a:p>
          <a:p>
            <a:pPr indent="0" marL="0">
              <a:buNone/>
            </a:pPr>
            <a:r>
              <a:rPr lang="en-US" sz="1200" dirty="0">
                <a:solidFill>
                  <a:srgbClr val="9AA4BD"/>
                </a:solidFill>
                <a:latin typeface="Calibri" pitchFamily="34" charset="0"/>
                <a:ea typeface="Calibri" pitchFamily="34" charset="-122"/>
                <a:cs typeface="Calibri" pitchFamily="34" charset="-120"/>
              </a:rPr>
              <a:t>Merchant clicks → draft → approves in Campaign Studio → simulated run → results</a:t>
            </a:r>
            <a:endParaRPr lang="en-US" sz="1400" dirty="0"/>
          </a:p>
        </p:txBody>
      </p:sp>
      <p:sp>
        <p:nvSpPr>
          <p:cNvPr id="35" name="Shape 32"/>
          <p:cNvSpPr/>
          <p:nvPr/>
        </p:nvSpPr>
        <p:spPr>
          <a:xfrm>
            <a:off x="6972300" y="3995928"/>
            <a:ext cx="914" cy="320040"/>
          </a:xfrm>
          <a:prstGeom prst="line">
            <a:avLst/>
          </a:prstGeom>
          <a:noFill/>
          <a:ln w="19050">
            <a:solidFill>
              <a:srgbClr val="34D399"/>
            </a:solidFill>
            <a:prstDash val="dash"/>
            <a:tailEnd type="triangle"/>
          </a:ln>
        </p:spPr>
      </p:sp>
      <p:sp>
        <p:nvSpPr>
          <p:cNvPr id="36" name="Text 33"/>
          <p:cNvSpPr txBox="1"/>
          <p:nvPr/>
        </p:nvSpPr>
        <p:spPr>
          <a:xfrm>
            <a:off x="8458200" y="3429000"/>
            <a:ext cx="2971800" cy="548640"/>
          </a:xfrm>
          <a:prstGeom prst="rect">
            <a:avLst/>
          </a:prstGeom>
          <a:noFill/>
          <a:ln/>
        </p:spPr>
        <p:txBody>
          <a:bodyPr wrap="square" lIns="0" tIns="0" rIns="0" bIns="0" rtlCol="0" anchor="t"/>
          <a:lstStyle/>
          <a:p>
            <a:pPr indent="0" marL="0">
              <a:buNone/>
            </a:pPr>
            <a:r>
              <a:rPr lang="en-US" sz="1100" i="1" dirty="0">
                <a:solidFill>
                  <a:srgbClr val="9AA4BD"/>
                </a:solidFill>
                <a:latin typeface="Calibri" pitchFamily="34" charset="0"/>
                <a:ea typeface="Calibri" pitchFamily="34" charset="-122"/>
                <a:cs typeface="Calibri" pitchFamily="34" charset="-120"/>
              </a:rPr>
              <a:t>If the model stalls or fails: a labelled rule-based engine answers with the same tools and checks.</a:t>
            </a:r>
            <a:endParaRPr lang="en-US" sz="1100" dirty="0"/>
          </a:p>
        </p:txBody>
      </p:sp>
      <p:sp>
        <p:nvSpPr>
          <p:cNvPr id="37" name="Shape 34"/>
          <p:cNvSpPr/>
          <p:nvPr/>
        </p:nvSpPr>
        <p:spPr>
          <a:xfrm>
            <a:off x="548640" y="5577840"/>
            <a:ext cx="11094415" cy="548640"/>
          </a:xfrm>
          <a:prstGeom prst="roundRect">
            <a:avLst>
              <a:gd name="adj" fmla="val 20000"/>
            </a:avLst>
          </a:prstGeom>
          <a:solidFill>
            <a:srgbClr val="0A0F1E"/>
          </a:solidFill>
          <a:ln w="12700">
            <a:solidFill>
              <a:srgbClr val="26314F"/>
            </a:solidFill>
            <a:prstDash val="solid"/>
          </a:ln>
        </p:spPr>
      </p:sp>
      <p:sp>
        <p:nvSpPr>
          <p:cNvPr id="38" name="Text 35"/>
          <p:cNvSpPr txBox="1"/>
          <p:nvPr/>
        </p:nvSpPr>
        <p:spPr>
          <a:xfrm>
            <a:off x="822960" y="5577840"/>
            <a:ext cx="10545775" cy="548640"/>
          </a:xfrm>
          <a:prstGeom prst="rect">
            <a:avLst/>
          </a:prstGeom>
          <a:noFill/>
          <a:ln/>
        </p:spPr>
        <p:txBody>
          <a:bodyPr wrap="square" lIns="0" tIns="0" rIns="0" bIns="0" rtlCol="0" anchor="ctr"/>
          <a:lstStyle/>
          <a:p>
            <a:pPr indent="0" marL="0">
              <a:buNone/>
            </a:pPr>
            <a:r>
              <a:rPr lang="en-US" sz="1250" b="1" dirty="0">
                <a:solidFill>
                  <a:srgbClr val="4C8DFF"/>
                </a:solidFill>
                <a:latin typeface="Calibri" pitchFamily="34" charset="0"/>
                <a:ea typeface="Calibri" pitchFamily="34" charset="-122"/>
                <a:cs typeface="Calibri" pitchFamily="34" charset="-120"/>
              </a:rPr>
              <a:t>Tech stack  </a:t>
            </a:r>
            <a:pPr indent="0" marL="0">
              <a:buNone/>
            </a:pPr>
            <a:r>
              <a:rPr lang="en-US" sz="1250" dirty="0">
                <a:solidFill>
                  <a:srgbClr val="E7EBF3"/>
                </a:solidFill>
                <a:latin typeface="Calibri" pitchFamily="34" charset="0"/>
                <a:ea typeface="Calibri" pitchFamily="34" charset="-122"/>
                <a:cs typeface="Calibri" pitchFamily="34" charset="-120"/>
              </a:rPr>
              <a:t>TypeScript · React 19 · Vite · Tailwind CSS · Recharts  |  Qwen 3.6 35B on Ollama via a 2-route server proxy  |  Vitest · Playwright · axe-core</a:t>
            </a:r>
            <a:endParaRPr lang="en-US" sz="1250" dirty="0"/>
          </a:p>
        </p:txBody>
      </p:sp>
      <p:sp>
        <p:nvSpPr>
          <p:cNvPr id="25" name="Slide Number Placeholder 0"/>
          <p:cNvSpPr>
            <a:spLocks noGrp="1"/>
          </p:cNvSpPr>
          <p:nvPr>
            <p:ph type="sldNum" sz="quarter" idx="4294967295"/>
          </p:nvPr>
        </p:nvSpPr>
        <p:spPr>
          <a:xfrm>
            <a:off x="11185855" y="647395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AA4BD"/>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146304"/>
            <a:ext cx="7315200" cy="219456"/>
          </a:xfrm>
          <a:prstGeom prst="rect">
            <a:avLst/>
          </a:prstGeom>
          <a:noFill/>
          <a:ln/>
        </p:spPr>
        <p:txBody>
          <a:bodyPr wrap="square" lIns="0" tIns="0" rIns="0" bIns="0" rtlCol="0" anchor="t"/>
          <a:lstStyle/>
          <a:p>
            <a:pPr indent="0" marL="0">
              <a:buNone/>
            </a:pPr>
            <a:r>
              <a:rPr lang="en-US" sz="1000" b="1" spc="200" kern="0" dirty="0">
                <a:solidFill>
                  <a:srgbClr val="4C8DFF"/>
                </a:solidFill>
                <a:latin typeface="Calibri" pitchFamily="34" charset="0"/>
                <a:ea typeface="Calibri" pitchFamily="34" charset="-122"/>
                <a:cs typeface="Calibri" pitchFamily="34" charset="-120"/>
              </a:rPr>
              <a:t>USP</a:t>
            </a:r>
            <a:endParaRPr lang="en-US" sz="1000" dirty="0"/>
          </a:p>
        </p:txBody>
      </p:sp>
      <p:sp>
        <p:nvSpPr>
          <p:cNvPr id="3" name="Text 0"/>
          <p:cNvSpPr/>
          <p:nvPr>
            <p:ph idx="100" type="title" hasCustomPrompt="1"/>
          </p:nvPr>
        </p:nvSpPr>
        <p:spPr>
          <a:xfrm>
            <a:off x="548640" y="384048"/>
            <a:ext cx="11094415" cy="777240"/>
          </a:xfrm>
          <a:prstGeom prst="rect">
            <a:avLst/>
          </a:prstGeom>
          <a:noFill/>
          <a:ln/>
        </p:spPr>
        <p:txBody>
          <a:bodyPr wrap="square" lIns="0" tIns="0" rIns="0" bIns="0" rtlCol="0" anchor="t"/>
          <a:lstStyle/>
          <a:p>
            <a:pPr algn="l" indent="0" marL="0">
              <a:buNone/>
            </a:pPr>
            <a:r>
              <a:rPr lang="en-US" sz="2800" b="1" dirty="0">
                <a:solidFill>
                  <a:srgbClr val="E7EBF3"/>
                </a:solidFill>
                <a:latin typeface="Cambria" pitchFamily="34" charset="0"/>
                <a:ea typeface="Cambria" pitchFamily="34" charset="-122"/>
                <a:cs typeface="Cambria" pitchFamily="34" charset="-120"/>
              </a:rPr>
              <a:t>Our USP: the whole loop, evidence-checked and merchant-controlled</a:t>
            </a:r>
            <a:endParaRPr lang="en-US" sz="2800" dirty="0"/>
          </a:p>
        </p:txBody>
      </p:sp>
      <p:sp>
        <p:nvSpPr>
          <p:cNvPr id="4" name="Shape 2"/>
          <p:cNvSpPr/>
          <p:nvPr/>
        </p:nvSpPr>
        <p:spPr>
          <a:xfrm>
            <a:off x="548640" y="1325880"/>
            <a:ext cx="6949440" cy="676656"/>
          </a:xfrm>
          <a:prstGeom prst="roundRect">
            <a:avLst>
              <a:gd name="adj" fmla="val 16216"/>
            </a:avLst>
          </a:prstGeom>
          <a:solidFill>
            <a:srgbClr val="18213F"/>
          </a:solidFill>
          <a:ln w="12700">
            <a:solidFill>
              <a:srgbClr val="26314F"/>
            </a:solidFill>
            <a:prstDash val="solid"/>
          </a:ln>
        </p:spPr>
      </p:sp>
      <p:sp>
        <p:nvSpPr>
          <p:cNvPr id="5" name="Shape 3"/>
          <p:cNvSpPr/>
          <p:nvPr/>
        </p:nvSpPr>
        <p:spPr>
          <a:xfrm>
            <a:off x="685800" y="1389888"/>
            <a:ext cx="548640" cy="548640"/>
          </a:xfrm>
          <a:prstGeom prst="ellipse">
            <a:avLst/>
          </a:prstGeom>
          <a:solidFill>
            <a:srgbClr val="18213F"/>
          </a:solidFill>
          <a:ln w="12700">
            <a:solidFill>
              <a:srgbClr val="26314F"/>
            </a:solidFill>
            <a:prstDash val="solid"/>
          </a:ln>
        </p:spPr>
      </p:sp>
      <p:pic>
        <p:nvPicPr>
          <p:cNvPr id="6" name="Image 0" descr="scale icon">    </p:cNvPr>
          <p:cNvPicPr>
            <a:picLocks noChangeAspect="1"/>
          </p:cNvPicPr>
          <p:nvPr/>
        </p:nvPicPr>
        <p:blipFill>
          <a:blip r:embed="rId1"/>
          <a:stretch>
            <a:fillRect/>
          </a:stretch>
        </p:blipFill>
        <p:spPr>
          <a:xfrm>
            <a:off x="795528" y="1499616"/>
            <a:ext cx="329184" cy="329184"/>
          </a:xfrm>
          <a:prstGeom prst="rect">
            <a:avLst/>
          </a:prstGeom>
        </p:spPr>
      </p:pic>
      <p:sp>
        <p:nvSpPr>
          <p:cNvPr id="7" name="Text 4"/>
          <p:cNvSpPr txBox="1"/>
          <p:nvPr/>
        </p:nvSpPr>
        <p:spPr>
          <a:xfrm>
            <a:off x="1417320" y="1399032"/>
            <a:ext cx="2377440" cy="548640"/>
          </a:xfrm>
          <a:prstGeom prst="rect">
            <a:avLst/>
          </a:prstGeom>
          <a:noFill/>
          <a:ln/>
        </p:spPr>
        <p:txBody>
          <a:bodyPr wrap="square" lIns="0" tIns="0" rIns="0" bIns="0" rtlCol="0" anchor="ctr"/>
          <a:lstStyle/>
          <a:p>
            <a:pPr indent="0" marL="0">
              <a:buNone/>
            </a:pPr>
            <a:r>
              <a:rPr lang="en-US" sz="1500" b="1" dirty="0">
                <a:solidFill>
                  <a:srgbClr val="E7EBF3"/>
                </a:solidFill>
                <a:latin typeface="Calibri" pitchFamily="34" charset="0"/>
                <a:ea typeface="Calibri" pitchFamily="34" charset="-122"/>
                <a:cs typeface="Calibri" pitchFamily="34" charset="-120"/>
              </a:rPr>
              <a:t>Prices every option</a:t>
            </a:r>
            <a:endParaRPr lang="en-US" sz="1500" dirty="0"/>
          </a:p>
        </p:txBody>
      </p:sp>
      <p:sp>
        <p:nvSpPr>
          <p:cNvPr id="8" name="Text 5"/>
          <p:cNvSpPr txBox="1"/>
          <p:nvPr/>
        </p:nvSpPr>
        <p:spPr>
          <a:xfrm>
            <a:off x="3794760" y="1399032"/>
            <a:ext cx="3566160" cy="548640"/>
          </a:xfrm>
          <a:prstGeom prst="rect">
            <a:avLst/>
          </a:prstGeom>
          <a:noFill/>
          <a:ln/>
        </p:spPr>
        <p:txBody>
          <a:bodyPr wrap="square" lIns="0" tIns="0" rIns="0" bIns="0" rtlCol="0" anchor="ctr"/>
          <a:lstStyle/>
          <a:p>
            <a:pPr indent="0" marL="0">
              <a:buNone/>
            </a:pPr>
            <a:r>
              <a:rPr lang="en-US" sz="1150" dirty="0">
                <a:solidFill>
                  <a:srgbClr val="9AA4BD"/>
                </a:solidFill>
                <a:latin typeface="Calibri" pitchFamily="34" charset="0"/>
                <a:ea typeface="Calibri" pitchFamily="34" charset="-122"/>
                <a:cs typeface="Calibri" pitchFamily="34" charset="-120"/>
              </a:rPr>
              <a:t>Break-even and a half-as-good downside for each offer — and doing nothing — before anyone acts.</a:t>
            </a:r>
            <a:endParaRPr lang="en-US" sz="1150" dirty="0"/>
          </a:p>
        </p:txBody>
      </p:sp>
      <p:sp>
        <p:nvSpPr>
          <p:cNvPr id="9" name="Shape 6"/>
          <p:cNvSpPr/>
          <p:nvPr/>
        </p:nvSpPr>
        <p:spPr>
          <a:xfrm>
            <a:off x="548640" y="2112264"/>
            <a:ext cx="6949440" cy="676656"/>
          </a:xfrm>
          <a:prstGeom prst="roundRect">
            <a:avLst>
              <a:gd name="adj" fmla="val 16216"/>
            </a:avLst>
          </a:prstGeom>
          <a:solidFill>
            <a:srgbClr val="111831"/>
          </a:solidFill>
          <a:ln w="12700">
            <a:solidFill>
              <a:srgbClr val="26314F"/>
            </a:solidFill>
            <a:prstDash val="solid"/>
          </a:ln>
        </p:spPr>
      </p:sp>
      <p:sp>
        <p:nvSpPr>
          <p:cNvPr id="10" name="Shape 7"/>
          <p:cNvSpPr/>
          <p:nvPr/>
        </p:nvSpPr>
        <p:spPr>
          <a:xfrm>
            <a:off x="685800" y="2176272"/>
            <a:ext cx="548640" cy="548640"/>
          </a:xfrm>
          <a:prstGeom prst="ellipse">
            <a:avLst/>
          </a:prstGeom>
          <a:solidFill>
            <a:srgbClr val="18213F"/>
          </a:solidFill>
          <a:ln w="12700">
            <a:solidFill>
              <a:srgbClr val="26314F"/>
            </a:solidFill>
            <a:prstDash val="solid"/>
          </a:ln>
        </p:spPr>
      </p:sp>
      <p:pic>
        <p:nvPicPr>
          <p:cNvPr id="11" name="Image 1" descr="flask icon">    </p:cNvPr>
          <p:cNvPicPr>
            <a:picLocks noChangeAspect="1"/>
          </p:cNvPicPr>
          <p:nvPr/>
        </p:nvPicPr>
        <p:blipFill>
          <a:blip r:embed="rId2"/>
          <a:stretch>
            <a:fillRect/>
          </a:stretch>
        </p:blipFill>
        <p:spPr>
          <a:xfrm>
            <a:off x="795528" y="2286000"/>
            <a:ext cx="329184" cy="329184"/>
          </a:xfrm>
          <a:prstGeom prst="rect">
            <a:avLst/>
          </a:prstGeom>
        </p:spPr>
      </p:pic>
      <p:sp>
        <p:nvSpPr>
          <p:cNvPr id="12" name="Text 8"/>
          <p:cNvSpPr txBox="1"/>
          <p:nvPr/>
        </p:nvSpPr>
        <p:spPr>
          <a:xfrm>
            <a:off x="1417320" y="2185416"/>
            <a:ext cx="2377440" cy="548640"/>
          </a:xfrm>
          <a:prstGeom prst="rect">
            <a:avLst/>
          </a:prstGeom>
          <a:noFill/>
          <a:ln/>
        </p:spPr>
        <p:txBody>
          <a:bodyPr wrap="square" lIns="0" tIns="0" rIns="0" bIns="0" rtlCol="0" anchor="ctr"/>
          <a:lstStyle/>
          <a:p>
            <a:pPr indent="0" marL="0">
              <a:buNone/>
            </a:pPr>
            <a:r>
              <a:rPr lang="en-US" sz="1500" b="1" dirty="0">
                <a:solidFill>
                  <a:srgbClr val="E7EBF3"/>
                </a:solidFill>
                <a:latin typeface="Calibri" pitchFamily="34" charset="0"/>
                <a:ea typeface="Calibri" pitchFamily="34" charset="-122"/>
                <a:cs typeface="Calibri" pitchFamily="34" charset="-120"/>
              </a:rPr>
              <a:t>Measures against a holdout</a:t>
            </a:r>
            <a:endParaRPr lang="en-US" sz="1500" dirty="0"/>
          </a:p>
        </p:txBody>
      </p:sp>
      <p:sp>
        <p:nvSpPr>
          <p:cNvPr id="13" name="Text 9"/>
          <p:cNvSpPr txBox="1"/>
          <p:nvPr/>
        </p:nvSpPr>
        <p:spPr>
          <a:xfrm>
            <a:off x="3794760" y="2185416"/>
            <a:ext cx="3566160" cy="548640"/>
          </a:xfrm>
          <a:prstGeom prst="rect">
            <a:avLst/>
          </a:prstGeom>
          <a:noFill/>
          <a:ln/>
        </p:spPr>
        <p:txBody>
          <a:bodyPr wrap="square" lIns="0" tIns="0" rIns="0" bIns="0" rtlCol="0" anchor="ctr"/>
          <a:lstStyle/>
          <a:p>
            <a:pPr indent="0" marL="0">
              <a:buNone/>
            </a:pPr>
            <a:r>
              <a:rPr lang="en-US" sz="1150" dirty="0">
                <a:solidFill>
                  <a:srgbClr val="9AA4BD"/>
                </a:solidFill>
                <a:latin typeface="Calibri" pitchFamily="34" charset="0"/>
                <a:ea typeface="Calibri" pitchFamily="34" charset="-122"/>
                <a:cs typeface="Calibri" pitchFamily="34" charset="-120"/>
              </a:rPr>
              <a:t>Results are read against held-back customers, and the app says when the sample is too small to tell.</a:t>
            </a:r>
            <a:endParaRPr lang="en-US" sz="1150" dirty="0"/>
          </a:p>
        </p:txBody>
      </p:sp>
      <p:sp>
        <p:nvSpPr>
          <p:cNvPr id="14" name="Shape 10"/>
          <p:cNvSpPr/>
          <p:nvPr/>
        </p:nvSpPr>
        <p:spPr>
          <a:xfrm>
            <a:off x="548640" y="2898648"/>
            <a:ext cx="6949440" cy="676656"/>
          </a:xfrm>
          <a:prstGeom prst="roundRect">
            <a:avLst>
              <a:gd name="adj" fmla="val 16216"/>
            </a:avLst>
          </a:prstGeom>
          <a:solidFill>
            <a:srgbClr val="18213F"/>
          </a:solidFill>
          <a:ln w="12700">
            <a:solidFill>
              <a:srgbClr val="26314F"/>
            </a:solidFill>
            <a:prstDash val="solid"/>
          </a:ln>
        </p:spPr>
      </p:sp>
      <p:sp>
        <p:nvSpPr>
          <p:cNvPr id="15" name="Shape 11"/>
          <p:cNvSpPr/>
          <p:nvPr/>
        </p:nvSpPr>
        <p:spPr>
          <a:xfrm>
            <a:off x="685800" y="2962656"/>
            <a:ext cx="548640" cy="548640"/>
          </a:xfrm>
          <a:prstGeom prst="ellipse">
            <a:avLst/>
          </a:prstGeom>
          <a:solidFill>
            <a:srgbClr val="18213F"/>
          </a:solidFill>
          <a:ln w="12700">
            <a:solidFill>
              <a:srgbClr val="26314F"/>
            </a:solidFill>
            <a:prstDash val="solid"/>
          </a:ln>
        </p:spPr>
      </p:sp>
      <p:pic>
        <p:nvPicPr>
          <p:cNvPr id="16" name="Image 2" descr="shield icon">    </p:cNvPr>
          <p:cNvPicPr>
            <a:picLocks noChangeAspect="1"/>
          </p:cNvPicPr>
          <p:nvPr/>
        </p:nvPicPr>
        <p:blipFill>
          <a:blip r:embed="rId3"/>
          <a:stretch>
            <a:fillRect/>
          </a:stretch>
        </p:blipFill>
        <p:spPr>
          <a:xfrm>
            <a:off x="795528" y="3072384"/>
            <a:ext cx="329184" cy="329184"/>
          </a:xfrm>
          <a:prstGeom prst="rect">
            <a:avLst/>
          </a:prstGeom>
        </p:spPr>
      </p:pic>
      <p:sp>
        <p:nvSpPr>
          <p:cNvPr id="17" name="Text 12"/>
          <p:cNvSpPr txBox="1"/>
          <p:nvPr/>
        </p:nvSpPr>
        <p:spPr>
          <a:xfrm>
            <a:off x="1417320" y="2971800"/>
            <a:ext cx="2377440" cy="548640"/>
          </a:xfrm>
          <a:prstGeom prst="rect">
            <a:avLst/>
          </a:prstGeom>
          <a:noFill/>
          <a:ln/>
        </p:spPr>
        <p:txBody>
          <a:bodyPr wrap="square" lIns="0" tIns="0" rIns="0" bIns="0" rtlCol="0" anchor="ctr"/>
          <a:lstStyle/>
          <a:p>
            <a:pPr indent="0" marL="0">
              <a:buNone/>
            </a:pPr>
            <a:r>
              <a:rPr lang="en-US" sz="1500" b="1" dirty="0">
                <a:solidFill>
                  <a:srgbClr val="E7EBF3"/>
                </a:solidFill>
                <a:latin typeface="Calibri" pitchFamily="34" charset="0"/>
                <a:ea typeface="Calibri" pitchFamily="34" charset="-122"/>
                <a:cs typeface="Calibri" pitchFamily="34" charset="-120"/>
              </a:rPr>
              <a:t>Checks what AI claims mean</a:t>
            </a:r>
            <a:endParaRPr lang="en-US" sz="1500" dirty="0"/>
          </a:p>
        </p:txBody>
      </p:sp>
      <p:sp>
        <p:nvSpPr>
          <p:cNvPr id="18" name="Text 13"/>
          <p:cNvSpPr txBox="1"/>
          <p:nvPr/>
        </p:nvSpPr>
        <p:spPr>
          <a:xfrm>
            <a:off x="3794760" y="2971800"/>
            <a:ext cx="3566160" cy="548640"/>
          </a:xfrm>
          <a:prstGeom prst="rect">
            <a:avLst/>
          </a:prstGeom>
          <a:noFill/>
          <a:ln/>
        </p:spPr>
        <p:txBody>
          <a:bodyPr wrap="square" lIns="0" tIns="0" rIns="0" bIns="0" rtlCol="0" anchor="ctr"/>
          <a:lstStyle/>
          <a:p>
            <a:pPr indent="0" marL="0">
              <a:buNone/>
            </a:pPr>
            <a:r>
              <a:rPr lang="en-US" sz="1150" dirty="0">
                <a:solidFill>
                  <a:srgbClr val="9AA4BD"/>
                </a:solidFill>
                <a:latin typeface="Calibri" pitchFamily="34" charset="0"/>
                <a:ea typeface="Calibri" pitchFamily="34" charset="-122"/>
                <a:cs typeface="Calibri" pitchFamily="34" charset="-120"/>
              </a:rPr>
              <a:t>Right customers, right window, right direction, estimate vs fact vs simulated, no causes stated as proof.</a:t>
            </a:r>
            <a:endParaRPr lang="en-US" sz="1150" dirty="0"/>
          </a:p>
        </p:txBody>
      </p:sp>
      <p:sp>
        <p:nvSpPr>
          <p:cNvPr id="19" name="Shape 14"/>
          <p:cNvSpPr/>
          <p:nvPr/>
        </p:nvSpPr>
        <p:spPr>
          <a:xfrm>
            <a:off x="548640" y="3685032"/>
            <a:ext cx="6949440" cy="676656"/>
          </a:xfrm>
          <a:prstGeom prst="roundRect">
            <a:avLst>
              <a:gd name="adj" fmla="val 16216"/>
            </a:avLst>
          </a:prstGeom>
          <a:solidFill>
            <a:srgbClr val="111831"/>
          </a:solidFill>
          <a:ln w="12700">
            <a:solidFill>
              <a:srgbClr val="26314F"/>
            </a:solidFill>
            <a:prstDash val="solid"/>
          </a:ln>
        </p:spPr>
      </p:sp>
      <p:sp>
        <p:nvSpPr>
          <p:cNvPr id="20" name="Shape 15"/>
          <p:cNvSpPr/>
          <p:nvPr/>
        </p:nvSpPr>
        <p:spPr>
          <a:xfrm>
            <a:off x="685800" y="3749040"/>
            <a:ext cx="548640" cy="548640"/>
          </a:xfrm>
          <a:prstGeom prst="ellipse">
            <a:avLst/>
          </a:prstGeom>
          <a:solidFill>
            <a:srgbClr val="18213F"/>
          </a:solidFill>
          <a:ln w="12700">
            <a:solidFill>
              <a:srgbClr val="26314F"/>
            </a:solidFill>
            <a:prstDash val="solid"/>
          </a:ln>
        </p:spPr>
      </p:sp>
      <p:pic>
        <p:nvPicPr>
          <p:cNvPr id="21" name="Image 3" descr="lock icon">    </p:cNvPr>
          <p:cNvPicPr>
            <a:picLocks noChangeAspect="1"/>
          </p:cNvPicPr>
          <p:nvPr/>
        </p:nvPicPr>
        <p:blipFill>
          <a:blip r:embed="rId4"/>
          <a:stretch>
            <a:fillRect/>
          </a:stretch>
        </p:blipFill>
        <p:spPr>
          <a:xfrm>
            <a:off x="795528" y="3858768"/>
            <a:ext cx="329184" cy="329184"/>
          </a:xfrm>
          <a:prstGeom prst="rect">
            <a:avLst/>
          </a:prstGeom>
        </p:spPr>
      </p:pic>
      <p:sp>
        <p:nvSpPr>
          <p:cNvPr id="22" name="Text 16"/>
          <p:cNvSpPr txBox="1"/>
          <p:nvPr/>
        </p:nvSpPr>
        <p:spPr>
          <a:xfrm>
            <a:off x="1417320" y="3758184"/>
            <a:ext cx="2377440" cy="548640"/>
          </a:xfrm>
          <a:prstGeom prst="rect">
            <a:avLst/>
          </a:prstGeom>
          <a:noFill/>
          <a:ln/>
        </p:spPr>
        <p:txBody>
          <a:bodyPr wrap="square" lIns="0" tIns="0" rIns="0" bIns="0" rtlCol="0" anchor="ctr"/>
          <a:lstStyle/>
          <a:p>
            <a:pPr indent="0" marL="0">
              <a:buNone/>
            </a:pPr>
            <a:r>
              <a:rPr lang="en-US" sz="1500" b="1" dirty="0">
                <a:solidFill>
                  <a:srgbClr val="E7EBF3"/>
                </a:solidFill>
                <a:latin typeface="Calibri" pitchFamily="34" charset="0"/>
                <a:ea typeface="Calibri" pitchFamily="34" charset="-122"/>
                <a:cs typeface="Calibri" pitchFamily="34" charset="-120"/>
              </a:rPr>
              <a:t>Approval binds the offer</a:t>
            </a:r>
            <a:endParaRPr lang="en-US" sz="1500" dirty="0"/>
          </a:p>
        </p:txBody>
      </p:sp>
      <p:sp>
        <p:nvSpPr>
          <p:cNvPr id="23" name="Text 17"/>
          <p:cNvSpPr txBox="1"/>
          <p:nvPr/>
        </p:nvSpPr>
        <p:spPr>
          <a:xfrm>
            <a:off x="3794760" y="3758184"/>
            <a:ext cx="3566160" cy="548640"/>
          </a:xfrm>
          <a:prstGeom prst="rect">
            <a:avLst/>
          </a:prstGeom>
          <a:noFill/>
          <a:ln/>
        </p:spPr>
        <p:txBody>
          <a:bodyPr wrap="square" lIns="0" tIns="0" rIns="0" bIns="0" rtlCol="0" anchor="ctr"/>
          <a:lstStyle/>
          <a:p>
            <a:pPr indent="0" marL="0">
              <a:buNone/>
            </a:pPr>
            <a:r>
              <a:rPr lang="en-US" sz="1150" dirty="0">
                <a:solidFill>
                  <a:srgbClr val="9AA4BD"/>
                </a:solidFill>
                <a:latin typeface="Calibri" pitchFamily="34" charset="0"/>
                <a:ea typeface="Calibri" pitchFamily="34" charset="-122"/>
                <a:cs typeface="Calibri" pitchFamily="34" charset="-120"/>
              </a:rPr>
              <a:t>Agents can only propose. The merchant approves the exact terms; nothing changes after approval.</a:t>
            </a:r>
            <a:endParaRPr lang="en-US" sz="1150" dirty="0"/>
          </a:p>
        </p:txBody>
      </p:sp>
      <p:sp>
        <p:nvSpPr>
          <p:cNvPr id="24" name="Shape 18"/>
          <p:cNvSpPr/>
          <p:nvPr/>
        </p:nvSpPr>
        <p:spPr>
          <a:xfrm>
            <a:off x="548640" y="4471416"/>
            <a:ext cx="6949440" cy="676656"/>
          </a:xfrm>
          <a:prstGeom prst="roundRect">
            <a:avLst>
              <a:gd name="adj" fmla="val 16216"/>
            </a:avLst>
          </a:prstGeom>
          <a:solidFill>
            <a:srgbClr val="18213F"/>
          </a:solidFill>
          <a:ln w="12700">
            <a:solidFill>
              <a:srgbClr val="26314F"/>
            </a:solidFill>
            <a:prstDash val="solid"/>
          </a:ln>
        </p:spPr>
      </p:sp>
      <p:sp>
        <p:nvSpPr>
          <p:cNvPr id="25" name="Shape 19"/>
          <p:cNvSpPr/>
          <p:nvPr/>
        </p:nvSpPr>
        <p:spPr>
          <a:xfrm>
            <a:off x="685800" y="4535424"/>
            <a:ext cx="548640" cy="548640"/>
          </a:xfrm>
          <a:prstGeom prst="ellipse">
            <a:avLst/>
          </a:prstGeom>
          <a:solidFill>
            <a:srgbClr val="18213F"/>
          </a:solidFill>
          <a:ln w="12700">
            <a:solidFill>
              <a:srgbClr val="26314F"/>
            </a:solidFill>
            <a:prstDash val="solid"/>
          </a:ln>
        </p:spPr>
      </p:sp>
      <p:pic>
        <p:nvPicPr>
          <p:cNvPr id="26" name="Image 4" descr="cpu icon">    </p:cNvPr>
          <p:cNvPicPr>
            <a:picLocks noChangeAspect="1"/>
          </p:cNvPicPr>
          <p:nvPr/>
        </p:nvPicPr>
        <p:blipFill>
          <a:blip r:embed="rId5"/>
          <a:stretch>
            <a:fillRect/>
          </a:stretch>
        </p:blipFill>
        <p:spPr>
          <a:xfrm>
            <a:off x="795528" y="4645152"/>
            <a:ext cx="329184" cy="329184"/>
          </a:xfrm>
          <a:prstGeom prst="rect">
            <a:avLst/>
          </a:prstGeom>
        </p:spPr>
      </p:pic>
      <p:sp>
        <p:nvSpPr>
          <p:cNvPr id="27" name="Text 20"/>
          <p:cNvSpPr txBox="1"/>
          <p:nvPr/>
        </p:nvSpPr>
        <p:spPr>
          <a:xfrm>
            <a:off x="1417320" y="4544568"/>
            <a:ext cx="2377440" cy="548640"/>
          </a:xfrm>
          <a:prstGeom prst="rect">
            <a:avLst/>
          </a:prstGeom>
          <a:noFill/>
          <a:ln/>
        </p:spPr>
        <p:txBody>
          <a:bodyPr wrap="square" lIns="0" tIns="0" rIns="0" bIns="0" rtlCol="0" anchor="ctr"/>
          <a:lstStyle/>
          <a:p>
            <a:pPr indent="0" marL="0">
              <a:buNone/>
            </a:pPr>
            <a:r>
              <a:rPr lang="en-US" sz="1500" b="1" dirty="0">
                <a:solidFill>
                  <a:srgbClr val="E7EBF3"/>
                </a:solidFill>
                <a:latin typeface="Calibri" pitchFamily="34" charset="0"/>
                <a:ea typeface="Calibri" pitchFamily="34" charset="-122"/>
                <a:cs typeface="Calibri" pitchFamily="34" charset="-120"/>
              </a:rPr>
              <a:t>Local-first and resilient</a:t>
            </a:r>
            <a:endParaRPr lang="en-US" sz="1500" dirty="0"/>
          </a:p>
        </p:txBody>
      </p:sp>
      <p:sp>
        <p:nvSpPr>
          <p:cNvPr id="28" name="Text 21"/>
          <p:cNvSpPr txBox="1"/>
          <p:nvPr/>
        </p:nvSpPr>
        <p:spPr>
          <a:xfrm>
            <a:off x="3794760" y="4544568"/>
            <a:ext cx="3566160" cy="548640"/>
          </a:xfrm>
          <a:prstGeom prst="rect">
            <a:avLst/>
          </a:prstGeom>
          <a:noFill/>
          <a:ln/>
        </p:spPr>
        <p:txBody>
          <a:bodyPr wrap="square" lIns="0" tIns="0" rIns="0" bIns="0" rtlCol="0" anchor="ctr"/>
          <a:lstStyle/>
          <a:p>
            <a:pPr indent="0" marL="0">
              <a:buNone/>
            </a:pPr>
            <a:r>
              <a:rPr lang="en-US" sz="1150" dirty="0">
                <a:solidFill>
                  <a:srgbClr val="9AA4BD"/>
                </a:solidFill>
                <a:latin typeface="Calibri" pitchFamily="34" charset="0"/>
                <a:ea typeface="Calibri" pitchFamily="34" charset="-122"/>
                <a:cs typeface="Calibri" pitchFamily="34" charset="-120"/>
              </a:rPr>
              <a:t>Runs on a local open model on our own hardware, with an instant, labelled rule-based fallback.</a:t>
            </a:r>
            <a:endParaRPr lang="en-US" sz="1150" dirty="0"/>
          </a:p>
        </p:txBody>
      </p:sp>
      <p:sp>
        <p:nvSpPr>
          <p:cNvPr id="29" name="Shape 22"/>
          <p:cNvSpPr/>
          <p:nvPr/>
        </p:nvSpPr>
        <p:spPr>
          <a:xfrm>
            <a:off x="7863840" y="1325880"/>
            <a:ext cx="3779215" cy="3822192"/>
          </a:xfrm>
          <a:prstGeom prst="roundRect">
            <a:avLst>
              <a:gd name="adj" fmla="val 2903"/>
            </a:avLst>
          </a:prstGeom>
          <a:solidFill>
            <a:srgbClr val="18213F"/>
          </a:solidFill>
          <a:ln w="19050">
            <a:solidFill>
              <a:srgbClr val="4C8DFF"/>
            </a:solidFill>
            <a:prstDash val="solid"/>
          </a:ln>
        </p:spPr>
      </p:sp>
      <p:sp>
        <p:nvSpPr>
          <p:cNvPr id="30" name="Text 23"/>
          <p:cNvSpPr txBox="1"/>
          <p:nvPr/>
        </p:nvSpPr>
        <p:spPr>
          <a:xfrm>
            <a:off x="8138160" y="1554480"/>
            <a:ext cx="3291840" cy="365760"/>
          </a:xfrm>
          <a:prstGeom prst="rect">
            <a:avLst/>
          </a:prstGeom>
          <a:noFill/>
          <a:ln/>
        </p:spPr>
        <p:txBody>
          <a:bodyPr wrap="square" lIns="0" tIns="0" rIns="0" bIns="0" rtlCol="0" anchor="t"/>
          <a:lstStyle/>
          <a:p>
            <a:pPr indent="0" marL="0">
              <a:buNone/>
            </a:pPr>
            <a:r>
              <a:rPr lang="en-US" sz="1800" b="1" dirty="0">
                <a:solidFill>
                  <a:srgbClr val="E7EBF3"/>
                </a:solidFill>
                <a:latin typeface="Cambria" pitchFamily="34" charset="0"/>
                <a:ea typeface="Cambria" pitchFamily="34" charset="-122"/>
                <a:cs typeface="Cambria" pitchFamily="34" charset="-120"/>
              </a:rPr>
              <a:t>Why the combination matters</a:t>
            </a:r>
            <a:endParaRPr lang="en-US" sz="1800" dirty="0"/>
          </a:p>
        </p:txBody>
      </p:sp>
      <p:sp>
        <p:nvSpPr>
          <p:cNvPr id="31" name="Text 24"/>
          <p:cNvSpPr txBox="1"/>
          <p:nvPr/>
        </p:nvSpPr>
        <p:spPr>
          <a:xfrm>
            <a:off x="8138160" y="2011680"/>
            <a:ext cx="3246120" cy="914400"/>
          </a:xfrm>
          <a:prstGeom prst="rect">
            <a:avLst/>
          </a:prstGeom>
          <a:noFill/>
          <a:ln/>
        </p:spPr>
        <p:txBody>
          <a:bodyPr wrap="square" lIns="0" tIns="0" rIns="0" bIns="0" rtlCol="0" anchor="t"/>
          <a:lstStyle/>
          <a:p>
            <a:pPr indent="0" marL="0">
              <a:buNone/>
            </a:pPr>
            <a:r>
              <a:rPr lang="en-US" sz="1300" dirty="0">
                <a:solidFill>
                  <a:srgbClr val="9AA4BD"/>
                </a:solidFill>
                <a:latin typeface="Calibri" pitchFamily="34" charset="0"/>
                <a:ea typeface="Calibri" pitchFamily="34" charset="-122"/>
                <a:cs typeface="Calibri" pitchFamily="34" charset="-120"/>
              </a:rPr>
              <a:t>Each piece exists somewhere. Together they let a merchant act on AI advice without trusting it blindly.</a:t>
            </a:r>
            <a:endParaRPr lang="en-US" sz="1300" dirty="0"/>
          </a:p>
        </p:txBody>
      </p:sp>
      <p:sp>
        <p:nvSpPr>
          <p:cNvPr id="32" name="Text 25"/>
          <p:cNvSpPr txBox="1"/>
          <p:nvPr/>
        </p:nvSpPr>
        <p:spPr>
          <a:xfrm>
            <a:off x="8138160" y="3063240"/>
            <a:ext cx="3246120" cy="274320"/>
          </a:xfrm>
          <a:prstGeom prst="rect">
            <a:avLst/>
          </a:prstGeom>
          <a:noFill/>
          <a:ln/>
        </p:spPr>
        <p:txBody>
          <a:bodyPr wrap="square" lIns="0" tIns="0" rIns="0" bIns="0" rtlCol="0" anchor="t"/>
          <a:lstStyle/>
          <a:p>
            <a:pPr indent="0" marL="0">
              <a:buNone/>
            </a:pPr>
            <a:r>
              <a:rPr lang="en-US" sz="1500" b="1" i="1" dirty="0">
                <a:solidFill>
                  <a:srgbClr val="E7EBF3"/>
                </a:solidFill>
                <a:latin typeface="Cambria" pitchFamily="34" charset="0"/>
                <a:ea typeface="Cambria" pitchFamily="34" charset="-122"/>
                <a:cs typeface="Cambria" pitchFamily="34" charset="-120"/>
              </a:rPr>
              <a:t>What should I do?</a:t>
            </a:r>
            <a:endParaRPr lang="en-US" sz="1500" dirty="0"/>
          </a:p>
        </p:txBody>
      </p:sp>
      <p:sp>
        <p:nvSpPr>
          <p:cNvPr id="33" name="Text 26"/>
          <p:cNvSpPr txBox="1"/>
          <p:nvPr/>
        </p:nvSpPr>
        <p:spPr>
          <a:xfrm>
            <a:off x="8138160" y="3355848"/>
            <a:ext cx="3246120" cy="274320"/>
          </a:xfrm>
          <a:prstGeom prst="rect">
            <a:avLst/>
          </a:prstGeom>
          <a:noFill/>
          <a:ln/>
        </p:spPr>
        <p:txBody>
          <a:bodyPr wrap="square" lIns="0" tIns="0" rIns="0" bIns="0" rtlCol="0" anchor="t"/>
          <a:lstStyle/>
          <a:p>
            <a:pPr indent="0" marL="0">
              <a:buNone/>
            </a:pPr>
            <a:r>
              <a:rPr lang="en-US" sz="1250" dirty="0">
                <a:solidFill>
                  <a:srgbClr val="34D399"/>
                </a:solidFill>
                <a:latin typeface="Calibri" pitchFamily="34" charset="0"/>
                <a:ea typeface="Calibri" pitchFamily="34" charset="-122"/>
                <a:cs typeface="Calibri" pitchFamily="34" charset="-120"/>
              </a:rPr>
              <a:t>→ options priced, incl. doing nothing</a:t>
            </a:r>
            <a:endParaRPr lang="en-US" sz="1250" dirty="0"/>
          </a:p>
        </p:txBody>
      </p:sp>
      <p:sp>
        <p:nvSpPr>
          <p:cNvPr id="34" name="Text 27"/>
          <p:cNvSpPr txBox="1"/>
          <p:nvPr/>
        </p:nvSpPr>
        <p:spPr>
          <a:xfrm>
            <a:off x="8138160" y="3721608"/>
            <a:ext cx="3246120" cy="274320"/>
          </a:xfrm>
          <a:prstGeom prst="rect">
            <a:avLst/>
          </a:prstGeom>
          <a:noFill/>
          <a:ln/>
        </p:spPr>
        <p:txBody>
          <a:bodyPr wrap="square" lIns="0" tIns="0" rIns="0" bIns="0" rtlCol="0" anchor="t"/>
          <a:lstStyle/>
          <a:p>
            <a:pPr indent="0" marL="0">
              <a:buNone/>
            </a:pPr>
            <a:r>
              <a:rPr lang="en-US" sz="1500" b="1" i="1" dirty="0">
                <a:solidFill>
                  <a:srgbClr val="E7EBF3"/>
                </a:solidFill>
                <a:latin typeface="Cambria" pitchFamily="34" charset="0"/>
                <a:ea typeface="Cambria" pitchFamily="34" charset="-122"/>
                <a:cs typeface="Cambria" pitchFamily="34" charset="-120"/>
              </a:rPr>
              <a:t>What will it cost?</a:t>
            </a:r>
            <a:endParaRPr lang="en-US" sz="1500" dirty="0"/>
          </a:p>
        </p:txBody>
      </p:sp>
      <p:sp>
        <p:nvSpPr>
          <p:cNvPr id="35" name="Text 28"/>
          <p:cNvSpPr txBox="1"/>
          <p:nvPr/>
        </p:nvSpPr>
        <p:spPr>
          <a:xfrm>
            <a:off x="8138160" y="4014216"/>
            <a:ext cx="3246120" cy="274320"/>
          </a:xfrm>
          <a:prstGeom prst="rect">
            <a:avLst/>
          </a:prstGeom>
          <a:noFill/>
          <a:ln/>
        </p:spPr>
        <p:txBody>
          <a:bodyPr wrap="square" lIns="0" tIns="0" rIns="0" bIns="0" rtlCol="0" anchor="t"/>
          <a:lstStyle/>
          <a:p>
            <a:pPr indent="0" marL="0">
              <a:buNone/>
            </a:pPr>
            <a:r>
              <a:rPr lang="en-US" sz="1250" dirty="0">
                <a:solidFill>
                  <a:srgbClr val="34D399"/>
                </a:solidFill>
                <a:latin typeface="Calibri" pitchFamily="34" charset="0"/>
                <a:ea typeface="Calibri" pitchFamily="34" charset="-122"/>
                <a:cs typeface="Calibri" pitchFamily="34" charset="-120"/>
              </a:rPr>
              <a:t>→ break-even and downside</a:t>
            </a:r>
            <a:endParaRPr lang="en-US" sz="1250" dirty="0"/>
          </a:p>
        </p:txBody>
      </p:sp>
      <p:sp>
        <p:nvSpPr>
          <p:cNvPr id="36" name="Text 29"/>
          <p:cNvSpPr txBox="1"/>
          <p:nvPr/>
        </p:nvSpPr>
        <p:spPr>
          <a:xfrm>
            <a:off x="8138160" y="4379976"/>
            <a:ext cx="3246120" cy="274320"/>
          </a:xfrm>
          <a:prstGeom prst="rect">
            <a:avLst/>
          </a:prstGeom>
          <a:noFill/>
          <a:ln/>
        </p:spPr>
        <p:txBody>
          <a:bodyPr wrap="square" lIns="0" tIns="0" rIns="0" bIns="0" rtlCol="0" anchor="t"/>
          <a:lstStyle/>
          <a:p>
            <a:pPr indent="0" marL="0">
              <a:buNone/>
            </a:pPr>
            <a:r>
              <a:rPr lang="en-US" sz="1500" b="1" i="1" dirty="0">
                <a:solidFill>
                  <a:srgbClr val="E7EBF3"/>
                </a:solidFill>
                <a:latin typeface="Cambria" pitchFamily="34" charset="0"/>
                <a:ea typeface="Cambria" pitchFamily="34" charset="-122"/>
                <a:cs typeface="Cambria" pitchFamily="34" charset="-120"/>
              </a:rPr>
              <a:t>Did it work?</a:t>
            </a:r>
            <a:endParaRPr lang="en-US" sz="1500" dirty="0"/>
          </a:p>
        </p:txBody>
      </p:sp>
      <p:sp>
        <p:nvSpPr>
          <p:cNvPr id="37" name="Text 30"/>
          <p:cNvSpPr txBox="1"/>
          <p:nvPr/>
        </p:nvSpPr>
        <p:spPr>
          <a:xfrm>
            <a:off x="8138160" y="4672584"/>
            <a:ext cx="3246120" cy="274320"/>
          </a:xfrm>
          <a:prstGeom prst="rect">
            <a:avLst/>
          </a:prstGeom>
          <a:noFill/>
          <a:ln/>
        </p:spPr>
        <p:txBody>
          <a:bodyPr wrap="square" lIns="0" tIns="0" rIns="0" bIns="0" rtlCol="0" anchor="t"/>
          <a:lstStyle/>
          <a:p>
            <a:pPr indent="0" marL="0">
              <a:buNone/>
            </a:pPr>
            <a:r>
              <a:rPr lang="en-US" sz="1250" dirty="0">
                <a:solidFill>
                  <a:srgbClr val="34D399"/>
                </a:solidFill>
                <a:latin typeface="Calibri" pitchFamily="34" charset="0"/>
                <a:ea typeface="Calibri" pitchFamily="34" charset="-122"/>
                <a:cs typeface="Calibri" pitchFamily="34" charset="-120"/>
              </a:rPr>
              <a:t>→ read against a holdout</a:t>
            </a:r>
            <a:endParaRPr lang="en-US" sz="1250" dirty="0"/>
          </a:p>
        </p:txBody>
      </p:sp>
      <p:sp>
        <p:nvSpPr>
          <p:cNvPr id="38" name="Text 31"/>
          <p:cNvSpPr txBox="1"/>
          <p:nvPr/>
        </p:nvSpPr>
        <p:spPr>
          <a:xfrm>
            <a:off x="548640" y="5440680"/>
            <a:ext cx="9144000" cy="274320"/>
          </a:xfrm>
          <a:prstGeom prst="rect">
            <a:avLst/>
          </a:prstGeom>
          <a:noFill/>
          <a:ln/>
        </p:spPr>
        <p:txBody>
          <a:bodyPr wrap="square" lIns="0" tIns="0" rIns="0" bIns="0" rtlCol="0" anchor="t"/>
          <a:lstStyle/>
          <a:p>
            <a:pPr indent="0" marL="0">
              <a:buNone/>
            </a:pPr>
            <a:r>
              <a:rPr lang="en-US" sz="1200" i="1" dirty="0">
                <a:solidFill>
                  <a:srgbClr val="9AA4BD"/>
                </a:solidFill>
                <a:latin typeface="Calibri" pitchFamily="34" charset="0"/>
                <a:ea typeface="Calibri" pitchFamily="34" charset="-122"/>
                <a:cs typeface="Calibri" pitchFamily="34" charset="-120"/>
              </a:rPr>
              <a:t>All five are implemented and tested in the prototype (see appendix).</a:t>
            </a:r>
            <a:endParaRPr lang="en-US" sz="1200" dirty="0"/>
          </a:p>
        </p:txBody>
      </p:sp>
      <p:sp>
        <p:nvSpPr>
          <p:cNvPr id="25" name="Slide Number Placeholder 0"/>
          <p:cNvSpPr>
            <a:spLocks noGrp="1"/>
          </p:cNvSpPr>
          <p:nvPr>
            <p:ph type="sldNum" sz="quarter" idx="4294967295"/>
          </p:nvPr>
        </p:nvSpPr>
        <p:spPr>
          <a:xfrm>
            <a:off x="11185855" y="647395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AA4BD"/>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146304"/>
            <a:ext cx="7315200" cy="219456"/>
          </a:xfrm>
          <a:prstGeom prst="rect">
            <a:avLst/>
          </a:prstGeom>
          <a:noFill/>
          <a:ln/>
        </p:spPr>
        <p:txBody>
          <a:bodyPr wrap="square" lIns="0" tIns="0" rIns="0" bIns="0" rtlCol="0" anchor="t"/>
          <a:lstStyle/>
          <a:p>
            <a:pPr indent="0" marL="0">
              <a:buNone/>
            </a:pPr>
            <a:r>
              <a:rPr lang="en-US" sz="1000" b="1" spc="200" kern="0" dirty="0">
                <a:solidFill>
                  <a:srgbClr val="4C8DFF"/>
                </a:solidFill>
                <a:latin typeface="Calibri" pitchFamily="34" charset="0"/>
                <a:ea typeface="Calibri" pitchFamily="34" charset="-122"/>
                <a:cs typeface="Calibri" pitchFamily="34" charset="-120"/>
              </a:rPr>
              <a:t>USP</a:t>
            </a:r>
            <a:endParaRPr lang="en-US" sz="1000" dirty="0"/>
          </a:p>
        </p:txBody>
      </p:sp>
      <p:sp>
        <p:nvSpPr>
          <p:cNvPr id="3" name="Text 0"/>
          <p:cNvSpPr/>
          <p:nvPr>
            <p:ph idx="100" type="title" hasCustomPrompt="1"/>
          </p:nvPr>
        </p:nvSpPr>
        <p:spPr>
          <a:xfrm>
            <a:off x="548640" y="384048"/>
            <a:ext cx="11094415" cy="777240"/>
          </a:xfrm>
          <a:prstGeom prst="rect">
            <a:avLst/>
          </a:prstGeom>
          <a:noFill/>
          <a:ln/>
        </p:spPr>
        <p:txBody>
          <a:bodyPr wrap="square" lIns="0" tIns="0" rIns="0" bIns="0" rtlCol="0" anchor="t"/>
          <a:lstStyle/>
          <a:p>
            <a:pPr algn="l" indent="0" marL="0">
              <a:buNone/>
            </a:pPr>
            <a:r>
              <a:rPr lang="en-US" sz="2800" b="1" dirty="0">
                <a:solidFill>
                  <a:srgbClr val="E7EBF3"/>
                </a:solidFill>
                <a:latin typeface="Cambria" pitchFamily="34" charset="0"/>
                <a:ea typeface="Cambria" pitchFamily="34" charset="-122"/>
                <a:cs typeface="Cambria" pitchFamily="34" charset="-120"/>
              </a:rPr>
              <a:t>Trust by design: no invented numbers, segments or actions</a:t>
            </a:r>
            <a:endParaRPr lang="en-US" sz="2800" dirty="0"/>
          </a:p>
        </p:txBody>
      </p:sp>
      <p:sp>
        <p:nvSpPr>
          <p:cNvPr id="4" name="Shape 2"/>
          <p:cNvSpPr/>
          <p:nvPr/>
        </p:nvSpPr>
        <p:spPr>
          <a:xfrm>
            <a:off x="548640" y="1325880"/>
            <a:ext cx="3520440" cy="2286000"/>
          </a:xfrm>
          <a:prstGeom prst="roundRect">
            <a:avLst>
              <a:gd name="adj" fmla="val 4800"/>
            </a:avLst>
          </a:prstGeom>
          <a:solidFill>
            <a:srgbClr val="111831"/>
          </a:solidFill>
          <a:ln w="12700">
            <a:solidFill>
              <a:srgbClr val="26314F"/>
            </a:solidFill>
            <a:prstDash val="solid"/>
          </a:ln>
        </p:spPr>
      </p:sp>
      <p:sp>
        <p:nvSpPr>
          <p:cNvPr id="5" name="Shape 3"/>
          <p:cNvSpPr/>
          <p:nvPr/>
        </p:nvSpPr>
        <p:spPr>
          <a:xfrm>
            <a:off x="822960" y="1508760"/>
            <a:ext cx="603504" cy="603504"/>
          </a:xfrm>
          <a:prstGeom prst="ellipse">
            <a:avLst/>
          </a:prstGeom>
          <a:solidFill>
            <a:srgbClr val="18213F"/>
          </a:solidFill>
          <a:ln w="12700">
            <a:solidFill>
              <a:srgbClr val="26314F"/>
            </a:solidFill>
            <a:prstDash val="solid"/>
          </a:ln>
        </p:spPr>
      </p:sp>
      <p:pic>
        <p:nvPicPr>
          <p:cNvPr id="6" name="Image 0" descr="hash icon">    </p:cNvPr>
          <p:cNvPicPr>
            <a:picLocks noChangeAspect="1"/>
          </p:cNvPicPr>
          <p:nvPr/>
        </p:nvPicPr>
        <p:blipFill>
          <a:blip r:embed="rId1"/>
          <a:stretch>
            <a:fillRect/>
          </a:stretch>
        </p:blipFill>
        <p:spPr>
          <a:xfrm>
            <a:off x="932688" y="1618488"/>
            <a:ext cx="384048" cy="384048"/>
          </a:xfrm>
          <a:prstGeom prst="rect">
            <a:avLst/>
          </a:prstGeom>
        </p:spPr>
      </p:pic>
      <p:sp>
        <p:nvSpPr>
          <p:cNvPr id="7" name="Text 4"/>
          <p:cNvSpPr txBox="1"/>
          <p:nvPr/>
        </p:nvSpPr>
        <p:spPr>
          <a:xfrm>
            <a:off x="1600200" y="1645920"/>
            <a:ext cx="2331720" cy="365760"/>
          </a:xfrm>
          <a:prstGeom prst="rect">
            <a:avLst/>
          </a:prstGeom>
          <a:noFill/>
          <a:ln/>
        </p:spPr>
        <p:txBody>
          <a:bodyPr wrap="square" lIns="0" tIns="0" rIns="0" bIns="0" rtlCol="0" anchor="t"/>
          <a:lstStyle/>
          <a:p>
            <a:pPr indent="0" marL="0">
              <a:buNone/>
            </a:pPr>
            <a:r>
              <a:rPr lang="en-US" sz="1700" b="1" dirty="0">
                <a:solidFill>
                  <a:srgbClr val="E7EBF3"/>
                </a:solidFill>
                <a:latin typeface="Calibri" pitchFamily="34" charset="0"/>
                <a:ea typeface="Calibri" pitchFamily="34" charset="-122"/>
                <a:cs typeface="Calibri" pitchFamily="34" charset="-120"/>
              </a:rPr>
              <a:t>Numbers only from tools</a:t>
            </a:r>
            <a:endParaRPr lang="en-US" sz="1700" dirty="0"/>
          </a:p>
        </p:txBody>
      </p:sp>
      <p:sp>
        <p:nvSpPr>
          <p:cNvPr id="8" name="Text 5"/>
          <p:cNvSpPr txBox="1"/>
          <p:nvPr/>
        </p:nvSpPr>
        <p:spPr>
          <a:xfrm>
            <a:off x="822960" y="2331720"/>
            <a:ext cx="3017520" cy="1188720"/>
          </a:xfrm>
          <a:prstGeom prst="rect">
            <a:avLst/>
          </a:prstGeom>
          <a:noFill/>
          <a:ln/>
        </p:spPr>
        <p:txBody>
          <a:bodyPr wrap="square" lIns="0" tIns="0" rIns="0" bIns="0" rtlCol="0" anchor="t"/>
          <a:lstStyle/>
          <a:p>
            <a:pPr indent="0" marL="0">
              <a:buNone/>
            </a:pPr>
            <a:r>
              <a:rPr lang="en-US" sz="1300" dirty="0">
                <a:solidFill>
                  <a:srgbClr val="9AA4BD"/>
                </a:solidFill>
                <a:latin typeface="Calibri" pitchFamily="34" charset="0"/>
                <a:ea typeface="Calibri" pitchFamily="34" charset="-122"/>
                <a:cs typeface="Calibri" pitchFamily="34" charset="-120"/>
              </a:rPr>
              <a:t>Agents write {{references}}; the app fills in figures from tested calculations. Typed digits are rejected.</a:t>
            </a:r>
            <a:endParaRPr lang="en-US" sz="1300" dirty="0"/>
          </a:p>
        </p:txBody>
      </p:sp>
      <p:sp>
        <p:nvSpPr>
          <p:cNvPr id="9" name="Shape 6"/>
          <p:cNvSpPr/>
          <p:nvPr/>
        </p:nvSpPr>
        <p:spPr>
          <a:xfrm>
            <a:off x="4297680" y="1325880"/>
            <a:ext cx="3520440" cy="2286000"/>
          </a:xfrm>
          <a:prstGeom prst="roundRect">
            <a:avLst>
              <a:gd name="adj" fmla="val 4800"/>
            </a:avLst>
          </a:prstGeom>
          <a:solidFill>
            <a:srgbClr val="111831"/>
          </a:solidFill>
          <a:ln w="12700">
            <a:solidFill>
              <a:srgbClr val="26314F"/>
            </a:solidFill>
            <a:prstDash val="solid"/>
          </a:ln>
        </p:spPr>
      </p:sp>
      <p:sp>
        <p:nvSpPr>
          <p:cNvPr id="10" name="Shape 7"/>
          <p:cNvSpPr/>
          <p:nvPr/>
        </p:nvSpPr>
        <p:spPr>
          <a:xfrm>
            <a:off x="4572000" y="1508760"/>
            <a:ext cx="603504" cy="603504"/>
          </a:xfrm>
          <a:prstGeom prst="ellipse">
            <a:avLst/>
          </a:prstGeom>
          <a:solidFill>
            <a:srgbClr val="18213F"/>
          </a:solidFill>
          <a:ln w="12700">
            <a:solidFill>
              <a:srgbClr val="26314F"/>
            </a:solidFill>
            <a:prstDash val="solid"/>
          </a:ln>
        </p:spPr>
      </p:sp>
      <p:pic>
        <p:nvPicPr>
          <p:cNvPr id="11" name="Image 1" descr="shield icon">    </p:cNvPr>
          <p:cNvPicPr>
            <a:picLocks noChangeAspect="1"/>
          </p:cNvPicPr>
          <p:nvPr/>
        </p:nvPicPr>
        <p:blipFill>
          <a:blip r:embed="rId2"/>
          <a:stretch>
            <a:fillRect/>
          </a:stretch>
        </p:blipFill>
        <p:spPr>
          <a:xfrm>
            <a:off x="4681728" y="1618488"/>
            <a:ext cx="384048" cy="384048"/>
          </a:xfrm>
          <a:prstGeom prst="rect">
            <a:avLst/>
          </a:prstGeom>
        </p:spPr>
      </p:pic>
      <p:sp>
        <p:nvSpPr>
          <p:cNvPr id="12" name="Text 8"/>
          <p:cNvSpPr txBox="1"/>
          <p:nvPr/>
        </p:nvSpPr>
        <p:spPr>
          <a:xfrm>
            <a:off x="5349240" y="1645920"/>
            <a:ext cx="2331720" cy="365760"/>
          </a:xfrm>
          <a:prstGeom prst="rect">
            <a:avLst/>
          </a:prstGeom>
          <a:noFill/>
          <a:ln/>
        </p:spPr>
        <p:txBody>
          <a:bodyPr wrap="square" lIns="0" tIns="0" rIns="0" bIns="0" rtlCol="0" anchor="t"/>
          <a:lstStyle/>
          <a:p>
            <a:pPr indent="0" marL="0">
              <a:buNone/>
            </a:pPr>
            <a:r>
              <a:rPr lang="en-US" sz="1700" b="1" dirty="0">
                <a:solidFill>
                  <a:srgbClr val="E7EBF3"/>
                </a:solidFill>
                <a:latin typeface="Calibri" pitchFamily="34" charset="0"/>
                <a:ea typeface="Calibri" pitchFamily="34" charset="-122"/>
                <a:cs typeface="Calibri" pitchFamily="34" charset="-120"/>
              </a:rPr>
              <a:t>Claims checked for meaning</a:t>
            </a:r>
            <a:endParaRPr lang="en-US" sz="1700" dirty="0"/>
          </a:p>
        </p:txBody>
      </p:sp>
      <p:sp>
        <p:nvSpPr>
          <p:cNvPr id="13" name="Text 9"/>
          <p:cNvSpPr txBox="1"/>
          <p:nvPr/>
        </p:nvSpPr>
        <p:spPr>
          <a:xfrm>
            <a:off x="4572000" y="2331720"/>
            <a:ext cx="3017520" cy="1188720"/>
          </a:xfrm>
          <a:prstGeom prst="rect">
            <a:avLst/>
          </a:prstGeom>
          <a:noFill/>
          <a:ln/>
        </p:spPr>
        <p:txBody>
          <a:bodyPr wrap="square" lIns="0" tIns="0" rIns="0" bIns="0" rtlCol="0" anchor="t"/>
          <a:lstStyle/>
          <a:p>
            <a:pPr indent="0" marL="0">
              <a:buNone/>
            </a:pPr>
            <a:r>
              <a:rPr lang="en-US" sz="1300" dirty="0">
                <a:solidFill>
                  <a:srgbClr val="9AA4BD"/>
                </a:solidFill>
                <a:latin typeface="Calibri" pitchFamily="34" charset="0"/>
                <a:ea typeface="Calibri" pitchFamily="34" charset="-122"/>
                <a:cs typeface="Calibri" pitchFamily="34" charset="-120"/>
              </a:rPr>
              <a:t>Right customers, right time window, right direction, estimate vs fact vs simulated, no causes stated as proof.</a:t>
            </a:r>
            <a:endParaRPr lang="en-US" sz="1300" dirty="0"/>
          </a:p>
        </p:txBody>
      </p:sp>
      <p:sp>
        <p:nvSpPr>
          <p:cNvPr id="14" name="Shape 10"/>
          <p:cNvSpPr/>
          <p:nvPr/>
        </p:nvSpPr>
        <p:spPr>
          <a:xfrm>
            <a:off x="8046720" y="1325880"/>
            <a:ext cx="3520440" cy="2286000"/>
          </a:xfrm>
          <a:prstGeom prst="roundRect">
            <a:avLst>
              <a:gd name="adj" fmla="val 4800"/>
            </a:avLst>
          </a:prstGeom>
          <a:solidFill>
            <a:srgbClr val="111831"/>
          </a:solidFill>
          <a:ln w="12700">
            <a:solidFill>
              <a:srgbClr val="26314F"/>
            </a:solidFill>
            <a:prstDash val="solid"/>
          </a:ln>
        </p:spPr>
      </p:sp>
      <p:sp>
        <p:nvSpPr>
          <p:cNvPr id="15" name="Shape 11"/>
          <p:cNvSpPr/>
          <p:nvPr/>
        </p:nvSpPr>
        <p:spPr>
          <a:xfrm>
            <a:off x="8321040" y="1508760"/>
            <a:ext cx="603504" cy="603504"/>
          </a:xfrm>
          <a:prstGeom prst="ellipse">
            <a:avLst/>
          </a:prstGeom>
          <a:solidFill>
            <a:srgbClr val="18213F"/>
          </a:solidFill>
          <a:ln w="12700">
            <a:solidFill>
              <a:srgbClr val="26314F"/>
            </a:solidFill>
            <a:prstDash val="solid"/>
          </a:ln>
        </p:spPr>
      </p:sp>
      <p:pic>
        <p:nvPicPr>
          <p:cNvPr id="16" name="Image 2" descr="lock icon">    </p:cNvPr>
          <p:cNvPicPr>
            <a:picLocks noChangeAspect="1"/>
          </p:cNvPicPr>
          <p:nvPr/>
        </p:nvPicPr>
        <p:blipFill>
          <a:blip r:embed="rId3"/>
          <a:stretch>
            <a:fillRect/>
          </a:stretch>
        </p:blipFill>
        <p:spPr>
          <a:xfrm>
            <a:off x="8430768" y="1618488"/>
            <a:ext cx="384048" cy="384048"/>
          </a:xfrm>
          <a:prstGeom prst="rect">
            <a:avLst/>
          </a:prstGeom>
        </p:spPr>
      </p:pic>
      <p:sp>
        <p:nvSpPr>
          <p:cNvPr id="17" name="Text 12"/>
          <p:cNvSpPr txBox="1"/>
          <p:nvPr/>
        </p:nvSpPr>
        <p:spPr>
          <a:xfrm>
            <a:off x="9098280" y="1645920"/>
            <a:ext cx="2331720" cy="365760"/>
          </a:xfrm>
          <a:prstGeom prst="rect">
            <a:avLst/>
          </a:prstGeom>
          <a:noFill/>
          <a:ln/>
        </p:spPr>
        <p:txBody>
          <a:bodyPr wrap="square" lIns="0" tIns="0" rIns="0" bIns="0" rtlCol="0" anchor="t"/>
          <a:lstStyle/>
          <a:p>
            <a:pPr indent="0" marL="0">
              <a:buNone/>
            </a:pPr>
            <a:r>
              <a:rPr lang="en-US" sz="1700" b="1" dirty="0">
                <a:solidFill>
                  <a:srgbClr val="E7EBF3"/>
                </a:solidFill>
                <a:latin typeface="Calibri" pitchFamily="34" charset="0"/>
                <a:ea typeface="Calibri" pitchFamily="34" charset="-122"/>
                <a:cs typeface="Calibri" pitchFamily="34" charset="-120"/>
              </a:rPr>
              <a:t>Merchant in control</a:t>
            </a:r>
            <a:endParaRPr lang="en-US" sz="1700" dirty="0"/>
          </a:p>
        </p:txBody>
      </p:sp>
      <p:sp>
        <p:nvSpPr>
          <p:cNvPr id="18" name="Text 13"/>
          <p:cNvSpPr txBox="1"/>
          <p:nvPr/>
        </p:nvSpPr>
        <p:spPr>
          <a:xfrm>
            <a:off x="8321040" y="2331720"/>
            <a:ext cx="3017520" cy="1188720"/>
          </a:xfrm>
          <a:prstGeom prst="rect">
            <a:avLst/>
          </a:prstGeom>
          <a:noFill/>
          <a:ln/>
        </p:spPr>
        <p:txBody>
          <a:bodyPr wrap="square" lIns="0" tIns="0" rIns="0" bIns="0" rtlCol="0" anchor="t"/>
          <a:lstStyle/>
          <a:p>
            <a:pPr indent="0" marL="0">
              <a:buNone/>
            </a:pPr>
            <a:r>
              <a:rPr lang="en-US" sz="1300" dirty="0">
                <a:solidFill>
                  <a:srgbClr val="9AA4BD"/>
                </a:solidFill>
                <a:latin typeface="Calibri" pitchFamily="34" charset="0"/>
                <a:ea typeface="Calibri" pitchFamily="34" charset="-122"/>
                <a:cs typeface="Calibri" pitchFamily="34" charset="-120"/>
              </a:rPr>
              <a:t>Agents can only propose. Approval binds the exact offer; nothing is ever sent or paid in this prototype.</a:t>
            </a:r>
            <a:endParaRPr lang="en-US" sz="1300" dirty="0"/>
          </a:p>
        </p:txBody>
      </p:sp>
      <p:sp>
        <p:nvSpPr>
          <p:cNvPr id="19" name="Shape 14"/>
          <p:cNvSpPr/>
          <p:nvPr/>
        </p:nvSpPr>
        <p:spPr>
          <a:xfrm>
            <a:off x="548640" y="3886200"/>
            <a:ext cx="11094415" cy="2194560"/>
          </a:xfrm>
          <a:prstGeom prst="roundRect">
            <a:avLst>
              <a:gd name="adj" fmla="val 5000"/>
            </a:avLst>
          </a:prstGeom>
          <a:solidFill>
            <a:srgbClr val="18213F"/>
          </a:solidFill>
          <a:ln w="12700">
            <a:solidFill>
              <a:srgbClr val="26314F"/>
            </a:solidFill>
            <a:prstDash val="solid"/>
          </a:ln>
        </p:spPr>
      </p:sp>
      <p:sp>
        <p:nvSpPr>
          <p:cNvPr id="20" name="Text 15"/>
          <p:cNvSpPr txBox="1"/>
          <p:nvPr/>
        </p:nvSpPr>
        <p:spPr>
          <a:xfrm>
            <a:off x="868680" y="4023360"/>
            <a:ext cx="8229600" cy="320040"/>
          </a:xfrm>
          <a:prstGeom prst="rect">
            <a:avLst/>
          </a:prstGeom>
          <a:noFill/>
          <a:ln/>
        </p:spPr>
        <p:txBody>
          <a:bodyPr wrap="square" lIns="0" tIns="0" rIns="0" bIns="0" rtlCol="0" anchor="t"/>
          <a:lstStyle/>
          <a:p>
            <a:pPr indent="0" marL="0">
              <a:buNone/>
            </a:pPr>
            <a:r>
              <a:rPr lang="en-US" sz="1400" b="1" dirty="0">
                <a:solidFill>
                  <a:srgbClr val="F5B544"/>
                </a:solidFill>
                <a:latin typeface="Calibri" pitchFamily="34" charset="0"/>
                <a:ea typeface="Calibri" pitchFamily="34" charset="-122"/>
                <a:cs typeface="Calibri" pitchFamily="34" charset="-120"/>
              </a:rPr>
              <a:t>A real failure the reviewer now catches (regression-tested)</a:t>
            </a:r>
            <a:endParaRPr lang="en-US" sz="1400" dirty="0"/>
          </a:p>
        </p:txBody>
      </p:sp>
      <p:sp>
        <p:nvSpPr>
          <p:cNvPr id="21" name="Text 16"/>
          <p:cNvSpPr txBox="1"/>
          <p:nvPr/>
        </p:nvSpPr>
        <p:spPr>
          <a:xfrm>
            <a:off x="868680" y="4480560"/>
            <a:ext cx="10454335" cy="365760"/>
          </a:xfrm>
          <a:prstGeom prst="rect">
            <a:avLst/>
          </a:prstGeom>
          <a:noFill/>
          <a:ln/>
        </p:spPr>
        <p:txBody>
          <a:bodyPr wrap="square" lIns="0" tIns="0" rIns="0" bIns="0" rtlCol="0" anchor="t"/>
          <a:lstStyle/>
          <a:p>
            <a:pPr indent="0" marL="0">
              <a:buNone/>
            </a:pPr>
            <a:r>
              <a:rPr lang="en-US" sz="1500" b="1" dirty="0">
                <a:solidFill>
                  <a:srgbClr val="F87171"/>
                </a:solidFill>
                <a:latin typeface="Calibri" pitchFamily="34" charset="0"/>
                <a:ea typeface="Calibri" pitchFamily="34" charset="-122"/>
                <a:cs typeface="Calibri" pitchFamily="34" charset="-120"/>
              </a:rPr>
              <a:t>✗  </a:t>
            </a:r>
            <a:pPr indent="0" marL="0">
              <a:buNone/>
            </a:pPr>
            <a:r>
              <a:rPr lang="en-US" sz="1500" dirty="0">
                <a:solidFill>
                  <a:srgbClr val="9AA4BD"/>
                </a:solidFill>
                <a:latin typeface="Calibri" pitchFamily="34" charset="0"/>
                <a:ea typeface="Calibri" pitchFamily="34" charset="-122"/>
                <a:cs typeface="Calibri" pitchFamily="34" charset="-120"/>
              </a:rPr>
              <a:t>Model wrote: “Among 209 regular </a:t>
            </a:r>
            <a:pPr indent="0" marL="0">
              <a:buNone/>
            </a:pPr>
            <a:r>
              <a:rPr lang="en-US" sz="1500" b="1" dirty="0">
                <a:solidFill>
                  <a:srgbClr val="F87171"/>
                </a:solidFill>
                <a:latin typeface="Calibri" pitchFamily="34" charset="0"/>
                <a:ea typeface="Calibri" pitchFamily="34" charset="-122"/>
                <a:cs typeface="Calibri" pitchFamily="34" charset="-120"/>
              </a:rPr>
              <a:t>morning</a:t>
            </a:r>
            <a:pPr indent="0" marL="0">
              <a:buNone/>
            </a:pPr>
            <a:r>
              <a:rPr lang="en-US" sz="1500" dirty="0">
                <a:solidFill>
                  <a:srgbClr val="9AA4BD"/>
                </a:solidFill>
                <a:latin typeface="Calibri" pitchFamily="34" charset="0"/>
                <a:ea typeface="Calibri" pitchFamily="34" charset="-122"/>
                <a:cs typeface="Calibri" pitchFamily="34" charset="-120"/>
              </a:rPr>
              <a:t> customers, 34 showed an unusually long absence.”</a:t>
            </a:r>
            <a:endParaRPr lang="en-US" sz="1500" dirty="0"/>
          </a:p>
        </p:txBody>
      </p:sp>
      <p:sp>
        <p:nvSpPr>
          <p:cNvPr id="22" name="Text 17"/>
          <p:cNvSpPr txBox="1"/>
          <p:nvPr/>
        </p:nvSpPr>
        <p:spPr>
          <a:xfrm>
            <a:off x="1234440" y="4864608"/>
            <a:ext cx="10088575" cy="320040"/>
          </a:xfrm>
          <a:prstGeom prst="rect">
            <a:avLst/>
          </a:prstGeom>
          <a:noFill/>
          <a:ln/>
        </p:spPr>
        <p:txBody>
          <a:bodyPr wrap="square" lIns="0" tIns="0" rIns="0" bIns="0" rtlCol="0" anchor="t"/>
          <a:lstStyle/>
          <a:p>
            <a:pPr indent="0" marL="0">
              <a:buNone/>
            </a:pPr>
            <a:r>
              <a:rPr lang="en-US" sz="1250" i="1" dirty="0">
                <a:solidFill>
                  <a:srgbClr val="9AA4BD"/>
                </a:solidFill>
                <a:latin typeface="Calibri" pitchFamily="34" charset="0"/>
                <a:ea typeface="Calibri" pitchFamily="34" charset="-122"/>
                <a:cs typeface="Calibri" pitchFamily="34" charset="-120"/>
              </a:rPr>
              <a:t>The 209 is correct — but it counts all regulars, not morning ones. Rejected: segment mismatch (S1).</a:t>
            </a:r>
            <a:endParaRPr lang="en-US" sz="1250" dirty="0"/>
          </a:p>
        </p:txBody>
      </p:sp>
      <p:sp>
        <p:nvSpPr>
          <p:cNvPr id="23" name="Text 18"/>
          <p:cNvSpPr txBox="1"/>
          <p:nvPr/>
        </p:nvSpPr>
        <p:spPr>
          <a:xfrm>
            <a:off x="868680" y="5349240"/>
            <a:ext cx="10454335" cy="365760"/>
          </a:xfrm>
          <a:prstGeom prst="rect">
            <a:avLst/>
          </a:prstGeom>
          <a:noFill/>
          <a:ln/>
        </p:spPr>
        <p:txBody>
          <a:bodyPr wrap="square" lIns="0" tIns="0" rIns="0" bIns="0" rtlCol="0" anchor="t"/>
          <a:lstStyle/>
          <a:p>
            <a:pPr indent="0" marL="0">
              <a:buNone/>
            </a:pPr>
            <a:r>
              <a:rPr lang="en-US" sz="1500" b="1" dirty="0">
                <a:solidFill>
                  <a:srgbClr val="34D399"/>
                </a:solidFill>
                <a:latin typeface="Calibri" pitchFamily="34" charset="0"/>
                <a:ea typeface="Calibri" pitchFamily="34" charset="-122"/>
                <a:cs typeface="Calibri" pitchFamily="34" charset="-120"/>
              </a:rPr>
              <a:t>✓  </a:t>
            </a:r>
            <a:pPr indent="0" marL="0">
              <a:buNone/>
            </a:pPr>
            <a:r>
              <a:rPr lang="en-US" sz="1500" dirty="0">
                <a:solidFill>
                  <a:srgbClr val="E7EBF3"/>
                </a:solidFill>
                <a:latin typeface="Calibri" pitchFamily="34" charset="0"/>
                <a:ea typeface="Calibri" pitchFamily="34" charset="-122"/>
                <a:cs typeface="Calibri" pitchFamily="34" charset="-120"/>
              </a:rPr>
              <a:t>Shown instead: “34 of 209 regular customers have been away much longer than usual.”</a:t>
            </a:r>
            <a:endParaRPr lang="en-US" sz="1500" dirty="0"/>
          </a:p>
        </p:txBody>
      </p:sp>
      <p:sp>
        <p:nvSpPr>
          <p:cNvPr id="25" name="Slide Number Placeholder 0"/>
          <p:cNvSpPr>
            <a:spLocks noGrp="1"/>
          </p:cNvSpPr>
          <p:nvPr>
            <p:ph type="sldNum" sz="quarter" idx="4294967295"/>
          </p:nvPr>
        </p:nvSpPr>
        <p:spPr>
          <a:xfrm>
            <a:off x="11185855" y="647395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AA4BD"/>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146304"/>
            <a:ext cx="7315200" cy="219456"/>
          </a:xfrm>
          <a:prstGeom prst="rect">
            <a:avLst/>
          </a:prstGeom>
          <a:noFill/>
          <a:ln/>
        </p:spPr>
        <p:txBody>
          <a:bodyPr wrap="square" lIns="0" tIns="0" rIns="0" bIns="0" rtlCol="0" anchor="t"/>
          <a:lstStyle/>
          <a:p>
            <a:pPr indent="0" marL="0">
              <a:buNone/>
            </a:pPr>
            <a:r>
              <a:rPr lang="en-US" sz="1000" b="1" spc="200" kern="0" dirty="0">
                <a:solidFill>
                  <a:srgbClr val="4C8DFF"/>
                </a:solidFill>
                <a:latin typeface="Calibri" pitchFamily="34" charset="0"/>
                <a:ea typeface="Calibri" pitchFamily="34" charset="-122"/>
                <a:cs typeface="Calibri" pitchFamily="34" charset="-120"/>
              </a:rPr>
              <a:t>USP</a:t>
            </a:r>
            <a:endParaRPr lang="en-US" sz="1000" dirty="0"/>
          </a:p>
        </p:txBody>
      </p:sp>
      <p:sp>
        <p:nvSpPr>
          <p:cNvPr id="3" name="Text 0"/>
          <p:cNvSpPr/>
          <p:nvPr>
            <p:ph idx="100" type="title" hasCustomPrompt="1"/>
          </p:nvPr>
        </p:nvSpPr>
        <p:spPr>
          <a:xfrm>
            <a:off x="548640" y="384048"/>
            <a:ext cx="11094415" cy="777240"/>
          </a:xfrm>
          <a:prstGeom prst="rect">
            <a:avLst/>
          </a:prstGeom>
          <a:noFill/>
          <a:ln/>
        </p:spPr>
        <p:txBody>
          <a:bodyPr wrap="square" lIns="0" tIns="0" rIns="0" bIns="0" rtlCol="0" anchor="t"/>
          <a:lstStyle/>
          <a:p>
            <a:pPr algn="l" indent="0" marL="0">
              <a:buNone/>
            </a:pPr>
            <a:r>
              <a:rPr lang="en-US" sz="2800" b="1" dirty="0">
                <a:solidFill>
                  <a:srgbClr val="E7EBF3"/>
                </a:solidFill>
                <a:latin typeface="Cambria" pitchFamily="34" charset="0"/>
                <a:ea typeface="Cambria" pitchFamily="34" charset="-122"/>
                <a:cs typeface="Cambria" pitchFamily="34" charset="-120"/>
              </a:rPr>
              <a:t>How we know it works — and what that doesn’t prove</a:t>
            </a:r>
            <a:endParaRPr lang="en-US" sz="2800" dirty="0"/>
          </a:p>
        </p:txBody>
      </p:sp>
      <p:sp>
        <p:nvSpPr>
          <p:cNvPr id="4" name="Shape 2"/>
          <p:cNvSpPr/>
          <p:nvPr/>
        </p:nvSpPr>
        <p:spPr>
          <a:xfrm>
            <a:off x="548640" y="1325880"/>
            <a:ext cx="2606040" cy="2011680"/>
          </a:xfrm>
          <a:prstGeom prst="roundRect">
            <a:avLst>
              <a:gd name="adj" fmla="val 5455"/>
            </a:avLst>
          </a:prstGeom>
          <a:solidFill>
            <a:srgbClr val="111831"/>
          </a:solidFill>
          <a:ln w="12700">
            <a:solidFill>
              <a:srgbClr val="26314F"/>
            </a:solidFill>
            <a:prstDash val="solid"/>
          </a:ln>
        </p:spPr>
      </p:sp>
      <p:sp>
        <p:nvSpPr>
          <p:cNvPr id="5" name="Text 3"/>
          <p:cNvSpPr txBox="1"/>
          <p:nvPr/>
        </p:nvSpPr>
        <p:spPr>
          <a:xfrm>
            <a:off x="777240" y="1463040"/>
            <a:ext cx="2194560" cy="777240"/>
          </a:xfrm>
          <a:prstGeom prst="rect">
            <a:avLst/>
          </a:prstGeom>
          <a:noFill/>
          <a:ln/>
        </p:spPr>
        <p:txBody>
          <a:bodyPr wrap="square" lIns="0" tIns="0" rIns="0" bIns="0" rtlCol="0" anchor="t"/>
          <a:lstStyle/>
          <a:p>
            <a:pPr indent="0" marL="0">
              <a:buNone/>
            </a:pPr>
            <a:r>
              <a:rPr lang="en-US" sz="4000" b="1" dirty="0">
                <a:solidFill>
                  <a:srgbClr val="E7EBF3"/>
                </a:solidFill>
                <a:latin typeface="Cambria" pitchFamily="34" charset="0"/>
                <a:ea typeface="Cambria" pitchFamily="34" charset="-122"/>
                <a:cs typeface="Cambria" pitchFamily="34" charset="-120"/>
              </a:rPr>
              <a:t>414</a:t>
            </a:r>
            <a:endParaRPr lang="en-US" sz="4000" dirty="0"/>
          </a:p>
        </p:txBody>
      </p:sp>
      <p:sp>
        <p:nvSpPr>
          <p:cNvPr id="6" name="Text 4"/>
          <p:cNvSpPr txBox="1"/>
          <p:nvPr/>
        </p:nvSpPr>
        <p:spPr>
          <a:xfrm>
            <a:off x="777240" y="2286000"/>
            <a:ext cx="2194560" cy="320040"/>
          </a:xfrm>
          <a:prstGeom prst="rect">
            <a:avLst/>
          </a:prstGeom>
          <a:noFill/>
          <a:ln/>
        </p:spPr>
        <p:txBody>
          <a:bodyPr wrap="square" lIns="0" tIns="0" rIns="0" bIns="0" rtlCol="0" anchor="t"/>
          <a:lstStyle/>
          <a:p>
            <a:pPr indent="0" marL="0">
              <a:buNone/>
            </a:pPr>
            <a:r>
              <a:rPr lang="en-US" sz="1500" b="1" dirty="0">
                <a:solidFill>
                  <a:srgbClr val="E7EBF3"/>
                </a:solidFill>
                <a:latin typeface="Calibri" pitchFamily="34" charset="0"/>
                <a:ea typeface="Calibri" pitchFamily="34" charset="-122"/>
                <a:cs typeface="Calibri" pitchFamily="34" charset="-120"/>
              </a:rPr>
              <a:t>unit tests</a:t>
            </a:r>
            <a:endParaRPr lang="en-US" sz="1500" dirty="0"/>
          </a:p>
        </p:txBody>
      </p:sp>
      <p:sp>
        <p:nvSpPr>
          <p:cNvPr id="7" name="Text 5"/>
          <p:cNvSpPr txBox="1"/>
          <p:nvPr/>
        </p:nvSpPr>
        <p:spPr>
          <a:xfrm>
            <a:off x="777240" y="2651760"/>
            <a:ext cx="2194560" cy="548640"/>
          </a:xfrm>
          <a:prstGeom prst="rect">
            <a:avLst/>
          </a:prstGeom>
          <a:noFill/>
          <a:ln/>
        </p:spPr>
        <p:txBody>
          <a:bodyPr wrap="square" lIns="0" tIns="0" rIns="0" bIns="0" rtlCol="0" anchor="t"/>
          <a:lstStyle/>
          <a:p>
            <a:pPr indent="0" marL="0">
              <a:buNone/>
            </a:pPr>
            <a:r>
              <a:rPr lang="en-US" sz="1200" dirty="0">
                <a:solidFill>
                  <a:srgbClr val="9AA4BD"/>
                </a:solidFill>
                <a:latin typeface="Calibri" pitchFamily="34" charset="0"/>
                <a:ea typeface="Calibri" pitchFamily="34" charset="-122"/>
                <a:cs typeface="Calibri" pitchFamily="34" charset="-120"/>
              </a:rPr>
              <a:t>domain, state machine, agents, reviewer</a:t>
            </a:r>
            <a:endParaRPr lang="en-US" sz="1200" dirty="0"/>
          </a:p>
        </p:txBody>
      </p:sp>
      <p:sp>
        <p:nvSpPr>
          <p:cNvPr id="8" name="Shape 6"/>
          <p:cNvSpPr/>
          <p:nvPr/>
        </p:nvSpPr>
        <p:spPr>
          <a:xfrm>
            <a:off x="3355848" y="1325880"/>
            <a:ext cx="2606040" cy="2011680"/>
          </a:xfrm>
          <a:prstGeom prst="roundRect">
            <a:avLst>
              <a:gd name="adj" fmla="val 5455"/>
            </a:avLst>
          </a:prstGeom>
          <a:solidFill>
            <a:srgbClr val="111831"/>
          </a:solidFill>
          <a:ln w="12700">
            <a:solidFill>
              <a:srgbClr val="26314F"/>
            </a:solidFill>
            <a:prstDash val="solid"/>
          </a:ln>
        </p:spPr>
      </p:sp>
      <p:sp>
        <p:nvSpPr>
          <p:cNvPr id="9" name="Text 7"/>
          <p:cNvSpPr txBox="1"/>
          <p:nvPr/>
        </p:nvSpPr>
        <p:spPr>
          <a:xfrm>
            <a:off x="3584448" y="1463040"/>
            <a:ext cx="2194560" cy="777240"/>
          </a:xfrm>
          <a:prstGeom prst="rect">
            <a:avLst/>
          </a:prstGeom>
          <a:noFill/>
          <a:ln/>
        </p:spPr>
        <p:txBody>
          <a:bodyPr wrap="square" lIns="0" tIns="0" rIns="0" bIns="0" rtlCol="0" anchor="t"/>
          <a:lstStyle/>
          <a:p>
            <a:pPr indent="0" marL="0">
              <a:buNone/>
            </a:pPr>
            <a:r>
              <a:rPr lang="en-US" sz="4000" b="1" dirty="0">
                <a:solidFill>
                  <a:srgbClr val="E7EBF3"/>
                </a:solidFill>
                <a:latin typeface="Cambria" pitchFamily="34" charset="0"/>
                <a:ea typeface="Cambria" pitchFamily="34" charset="-122"/>
                <a:cs typeface="Cambria" pitchFamily="34" charset="-120"/>
              </a:rPr>
              <a:t>73</a:t>
            </a:r>
            <a:endParaRPr lang="en-US" sz="4000" dirty="0"/>
          </a:p>
        </p:txBody>
      </p:sp>
      <p:sp>
        <p:nvSpPr>
          <p:cNvPr id="10" name="Text 8"/>
          <p:cNvSpPr txBox="1"/>
          <p:nvPr/>
        </p:nvSpPr>
        <p:spPr>
          <a:xfrm>
            <a:off x="3584448" y="2286000"/>
            <a:ext cx="2194560" cy="320040"/>
          </a:xfrm>
          <a:prstGeom prst="rect">
            <a:avLst/>
          </a:prstGeom>
          <a:noFill/>
          <a:ln/>
        </p:spPr>
        <p:txBody>
          <a:bodyPr wrap="square" lIns="0" tIns="0" rIns="0" bIns="0" rtlCol="0" anchor="t"/>
          <a:lstStyle/>
          <a:p>
            <a:pPr indent="0" marL="0">
              <a:buNone/>
            </a:pPr>
            <a:r>
              <a:rPr lang="en-US" sz="1500" b="1" dirty="0">
                <a:solidFill>
                  <a:srgbClr val="E7EBF3"/>
                </a:solidFill>
                <a:latin typeface="Calibri" pitchFamily="34" charset="0"/>
                <a:ea typeface="Calibri" pitchFamily="34" charset="-122"/>
                <a:cs typeface="Calibri" pitchFamily="34" charset="-120"/>
              </a:rPr>
              <a:t>browser tests</a:t>
            </a:r>
            <a:endParaRPr lang="en-US" sz="1500" dirty="0"/>
          </a:p>
        </p:txBody>
      </p:sp>
      <p:sp>
        <p:nvSpPr>
          <p:cNvPr id="11" name="Text 9"/>
          <p:cNvSpPr txBox="1"/>
          <p:nvPr/>
        </p:nvSpPr>
        <p:spPr>
          <a:xfrm>
            <a:off x="3584448" y="2651760"/>
            <a:ext cx="2194560" cy="548640"/>
          </a:xfrm>
          <a:prstGeom prst="rect">
            <a:avLst/>
          </a:prstGeom>
          <a:noFill/>
          <a:ln/>
        </p:spPr>
        <p:txBody>
          <a:bodyPr wrap="square" lIns="0" tIns="0" rIns="0" bIns="0" rtlCol="0" anchor="t"/>
          <a:lstStyle/>
          <a:p>
            <a:pPr indent="0" marL="0">
              <a:buNone/>
            </a:pPr>
            <a:r>
              <a:rPr lang="en-US" sz="1200" dirty="0">
                <a:solidFill>
                  <a:srgbClr val="9AA4BD"/>
                </a:solidFill>
                <a:latin typeface="Calibri" pitchFamily="34" charset="0"/>
                <a:ea typeface="Calibri" pitchFamily="34" charset="-122"/>
                <a:cs typeface="Calibri" pitchFamily="34" charset="-120"/>
              </a:rPr>
              <a:t>full workflow, 3 consecutive runs</a:t>
            </a:r>
            <a:endParaRPr lang="en-US" sz="1200" dirty="0"/>
          </a:p>
        </p:txBody>
      </p:sp>
      <p:sp>
        <p:nvSpPr>
          <p:cNvPr id="12" name="Shape 10"/>
          <p:cNvSpPr/>
          <p:nvPr/>
        </p:nvSpPr>
        <p:spPr>
          <a:xfrm>
            <a:off x="6163056" y="1325880"/>
            <a:ext cx="2606040" cy="2011680"/>
          </a:xfrm>
          <a:prstGeom prst="roundRect">
            <a:avLst>
              <a:gd name="adj" fmla="val 5455"/>
            </a:avLst>
          </a:prstGeom>
          <a:solidFill>
            <a:srgbClr val="111831"/>
          </a:solidFill>
          <a:ln w="12700">
            <a:solidFill>
              <a:srgbClr val="26314F"/>
            </a:solidFill>
            <a:prstDash val="solid"/>
          </a:ln>
        </p:spPr>
      </p:sp>
      <p:sp>
        <p:nvSpPr>
          <p:cNvPr id="13" name="Text 11"/>
          <p:cNvSpPr txBox="1"/>
          <p:nvPr/>
        </p:nvSpPr>
        <p:spPr>
          <a:xfrm>
            <a:off x="6391656" y="1463040"/>
            <a:ext cx="2194560" cy="777240"/>
          </a:xfrm>
          <a:prstGeom prst="rect">
            <a:avLst/>
          </a:prstGeom>
          <a:noFill/>
          <a:ln/>
        </p:spPr>
        <p:txBody>
          <a:bodyPr wrap="square" lIns="0" tIns="0" rIns="0" bIns="0" rtlCol="0" anchor="t"/>
          <a:lstStyle/>
          <a:p>
            <a:pPr indent="0" marL="0">
              <a:buNone/>
            </a:pPr>
            <a:r>
              <a:rPr lang="en-US" sz="4000" b="1" dirty="0">
                <a:solidFill>
                  <a:srgbClr val="4C8DFF"/>
                </a:solidFill>
                <a:latin typeface="Cambria" pitchFamily="34" charset="0"/>
                <a:ea typeface="Cambria" pitchFamily="34" charset="-122"/>
                <a:cs typeface="Cambria" pitchFamily="34" charset="-120"/>
              </a:rPr>
              <a:t>12 / 12</a:t>
            </a:r>
            <a:endParaRPr lang="en-US" sz="4000" dirty="0"/>
          </a:p>
        </p:txBody>
      </p:sp>
      <p:sp>
        <p:nvSpPr>
          <p:cNvPr id="14" name="Text 12"/>
          <p:cNvSpPr txBox="1"/>
          <p:nvPr/>
        </p:nvSpPr>
        <p:spPr>
          <a:xfrm>
            <a:off x="6391656" y="2286000"/>
            <a:ext cx="2194560" cy="320040"/>
          </a:xfrm>
          <a:prstGeom prst="rect">
            <a:avLst/>
          </a:prstGeom>
          <a:noFill/>
          <a:ln/>
        </p:spPr>
        <p:txBody>
          <a:bodyPr wrap="square" lIns="0" tIns="0" rIns="0" bIns="0" rtlCol="0" anchor="t"/>
          <a:lstStyle/>
          <a:p>
            <a:pPr indent="0" marL="0">
              <a:buNone/>
            </a:pPr>
            <a:r>
              <a:rPr lang="en-US" sz="1500" b="1" dirty="0">
                <a:solidFill>
                  <a:srgbClr val="E7EBF3"/>
                </a:solidFill>
                <a:latin typeface="Calibri" pitchFamily="34" charset="0"/>
                <a:ea typeface="Calibri" pitchFamily="34" charset="-122"/>
                <a:cs typeface="Calibri" pitchFamily="34" charset="-120"/>
              </a:rPr>
              <a:t>live-model cases</a:t>
            </a:r>
            <a:endParaRPr lang="en-US" sz="1500" dirty="0"/>
          </a:p>
        </p:txBody>
      </p:sp>
      <p:sp>
        <p:nvSpPr>
          <p:cNvPr id="15" name="Text 13"/>
          <p:cNvSpPr txBox="1"/>
          <p:nvPr/>
        </p:nvSpPr>
        <p:spPr>
          <a:xfrm>
            <a:off x="6391656" y="2651760"/>
            <a:ext cx="2194560" cy="548640"/>
          </a:xfrm>
          <a:prstGeom prst="rect">
            <a:avLst/>
          </a:prstGeom>
          <a:noFill/>
          <a:ln/>
        </p:spPr>
        <p:txBody>
          <a:bodyPr wrap="square" lIns="0" tIns="0" rIns="0" bIns="0" rtlCol="0" anchor="t"/>
          <a:lstStyle/>
          <a:p>
            <a:pPr indent="0" marL="0">
              <a:buNone/>
            </a:pPr>
            <a:r>
              <a:rPr lang="en-US" sz="1200" dirty="0">
                <a:solidFill>
                  <a:srgbClr val="9AA4BD"/>
                </a:solidFill>
                <a:latin typeface="Calibri" pitchFamily="34" charset="0"/>
                <a:ea typeface="Calibri" pitchFamily="34" charset="-122"/>
                <a:cs typeface="Calibri" pitchFamily="34" charset="-120"/>
              </a:rPr>
              <a:t>local Qwen; every claim shown grounded</a:t>
            </a:r>
            <a:endParaRPr lang="en-US" sz="1200" dirty="0"/>
          </a:p>
        </p:txBody>
      </p:sp>
      <p:sp>
        <p:nvSpPr>
          <p:cNvPr id="16" name="Shape 14"/>
          <p:cNvSpPr/>
          <p:nvPr/>
        </p:nvSpPr>
        <p:spPr>
          <a:xfrm>
            <a:off x="8970264" y="1325880"/>
            <a:ext cx="2606040" cy="2011680"/>
          </a:xfrm>
          <a:prstGeom prst="roundRect">
            <a:avLst>
              <a:gd name="adj" fmla="val 5455"/>
            </a:avLst>
          </a:prstGeom>
          <a:solidFill>
            <a:srgbClr val="111831"/>
          </a:solidFill>
          <a:ln w="12700">
            <a:solidFill>
              <a:srgbClr val="26314F"/>
            </a:solidFill>
            <a:prstDash val="solid"/>
          </a:ln>
        </p:spPr>
      </p:sp>
      <p:sp>
        <p:nvSpPr>
          <p:cNvPr id="17" name="Text 15"/>
          <p:cNvSpPr txBox="1"/>
          <p:nvPr/>
        </p:nvSpPr>
        <p:spPr>
          <a:xfrm>
            <a:off x="9198864" y="1463040"/>
            <a:ext cx="2194560" cy="777240"/>
          </a:xfrm>
          <a:prstGeom prst="rect">
            <a:avLst/>
          </a:prstGeom>
          <a:noFill/>
          <a:ln/>
        </p:spPr>
        <p:txBody>
          <a:bodyPr wrap="square" lIns="0" tIns="0" rIns="0" bIns="0" rtlCol="0" anchor="t"/>
          <a:lstStyle/>
          <a:p>
            <a:pPr indent="0" marL="0">
              <a:buNone/>
            </a:pPr>
            <a:r>
              <a:rPr lang="en-US" sz="4000" b="1" dirty="0">
                <a:solidFill>
                  <a:srgbClr val="4C8DFF"/>
                </a:solidFill>
                <a:latin typeface="Cambria" pitchFamily="34" charset="0"/>
                <a:ea typeface="Cambria" pitchFamily="34" charset="-122"/>
                <a:cs typeface="Cambria" pitchFamily="34" charset="-120"/>
              </a:rPr>
              <a:t>12 / 12</a:t>
            </a:r>
            <a:endParaRPr lang="en-US" sz="4000" dirty="0"/>
          </a:p>
        </p:txBody>
      </p:sp>
      <p:sp>
        <p:nvSpPr>
          <p:cNvPr id="18" name="Text 16"/>
          <p:cNvSpPr txBox="1"/>
          <p:nvPr/>
        </p:nvSpPr>
        <p:spPr>
          <a:xfrm>
            <a:off x="9198864" y="2286000"/>
            <a:ext cx="2194560" cy="320040"/>
          </a:xfrm>
          <a:prstGeom prst="rect">
            <a:avLst/>
          </a:prstGeom>
          <a:noFill/>
          <a:ln/>
        </p:spPr>
        <p:txBody>
          <a:bodyPr wrap="square" lIns="0" tIns="0" rIns="0" bIns="0" rtlCol="0" anchor="t"/>
          <a:lstStyle/>
          <a:p>
            <a:pPr indent="0" marL="0">
              <a:buNone/>
            </a:pPr>
            <a:r>
              <a:rPr lang="en-US" sz="1500" b="1" dirty="0">
                <a:solidFill>
                  <a:srgbClr val="E7EBF3"/>
                </a:solidFill>
                <a:latin typeface="Calibri" pitchFamily="34" charset="0"/>
                <a:ea typeface="Calibri" pitchFamily="34" charset="-122"/>
                <a:cs typeface="Calibri" pitchFamily="34" charset="-120"/>
              </a:rPr>
              <a:t>bad claims rejected</a:t>
            </a:r>
            <a:endParaRPr lang="en-US" sz="1500" dirty="0"/>
          </a:p>
        </p:txBody>
      </p:sp>
      <p:sp>
        <p:nvSpPr>
          <p:cNvPr id="19" name="Text 17"/>
          <p:cNvSpPr txBox="1"/>
          <p:nvPr/>
        </p:nvSpPr>
        <p:spPr>
          <a:xfrm>
            <a:off x="9198864" y="2651760"/>
            <a:ext cx="2194560" cy="548640"/>
          </a:xfrm>
          <a:prstGeom prst="rect">
            <a:avLst/>
          </a:prstGeom>
          <a:noFill/>
          <a:ln/>
        </p:spPr>
        <p:txBody>
          <a:bodyPr wrap="square" lIns="0" tIns="0" rIns="0" bIns="0" rtlCol="0" anchor="t"/>
          <a:lstStyle/>
          <a:p>
            <a:pPr indent="0" marL="0">
              <a:buNone/>
            </a:pPr>
            <a:r>
              <a:rPr lang="en-US" sz="1200" dirty="0">
                <a:solidFill>
                  <a:srgbClr val="9AA4BD"/>
                </a:solidFill>
                <a:latin typeface="Calibri" pitchFamily="34" charset="0"/>
                <a:ea typeface="Calibri" pitchFamily="34" charset="-122"/>
                <a:cs typeface="Calibri" pitchFamily="34" charset="-120"/>
              </a:rPr>
              <a:t>planted claims, model and rules paths</a:t>
            </a:r>
            <a:endParaRPr lang="en-US" sz="1200" dirty="0"/>
          </a:p>
        </p:txBody>
      </p:sp>
      <p:sp>
        <p:nvSpPr>
          <p:cNvPr id="20" name="Text 18"/>
          <p:cNvSpPr txBox="1"/>
          <p:nvPr/>
        </p:nvSpPr>
        <p:spPr>
          <a:xfrm>
            <a:off x="548640" y="3611880"/>
            <a:ext cx="5486400" cy="320040"/>
          </a:xfrm>
          <a:prstGeom prst="rect">
            <a:avLst/>
          </a:prstGeom>
          <a:noFill/>
          <a:ln/>
        </p:spPr>
        <p:txBody>
          <a:bodyPr wrap="square" lIns="0" tIns="0" rIns="0" bIns="0" rtlCol="0" anchor="t"/>
          <a:lstStyle/>
          <a:p>
            <a:pPr indent="0" marL="0">
              <a:buNone/>
            </a:pPr>
            <a:r>
              <a:rPr lang="en-US" sz="1400" b="1" dirty="0">
                <a:solidFill>
                  <a:srgbClr val="9AA4BD"/>
                </a:solidFill>
                <a:latin typeface="Calibri" pitchFamily="34" charset="0"/>
                <a:ea typeface="Calibri" pitchFamily="34" charset="-122"/>
                <a:cs typeface="Calibri" pitchFamily="34" charset="-120"/>
              </a:rPr>
              <a:t>Adversarial cases tested</a:t>
            </a:r>
            <a:endParaRPr lang="en-US" sz="1400" dirty="0"/>
          </a:p>
        </p:txBody>
      </p:sp>
      <p:sp>
        <p:nvSpPr>
          <p:cNvPr id="21" name="Shape 19"/>
          <p:cNvSpPr/>
          <p:nvPr/>
        </p:nvSpPr>
        <p:spPr>
          <a:xfrm>
            <a:off x="548640" y="3977640"/>
            <a:ext cx="2103120" cy="347472"/>
          </a:xfrm>
          <a:prstGeom prst="roundRect">
            <a:avLst>
              <a:gd name="adj" fmla="val 50000"/>
            </a:avLst>
          </a:prstGeom>
          <a:solidFill>
            <a:srgbClr val="111831"/>
          </a:solidFill>
          <a:ln w="12700">
            <a:solidFill>
              <a:srgbClr val="26314F"/>
            </a:solidFill>
            <a:prstDash val="solid"/>
          </a:ln>
        </p:spPr>
      </p:sp>
      <p:sp>
        <p:nvSpPr>
          <p:cNvPr id="22" name="Text 20"/>
          <p:cNvSpPr txBox="1"/>
          <p:nvPr/>
        </p:nvSpPr>
        <p:spPr>
          <a:xfrm>
            <a:off x="548640" y="4041648"/>
            <a:ext cx="2103120" cy="237744"/>
          </a:xfrm>
          <a:prstGeom prst="rect">
            <a:avLst/>
          </a:prstGeom>
          <a:noFill/>
          <a:ln/>
        </p:spPr>
        <p:txBody>
          <a:bodyPr wrap="square" lIns="0" tIns="0" rIns="0" bIns="0" rtlCol="0" anchor="t"/>
          <a:lstStyle/>
          <a:p>
            <a:pPr algn="ctr" indent="0" marL="0">
              <a:buNone/>
            </a:pPr>
            <a:r>
              <a:rPr lang="en-US" sz="1100" dirty="0">
                <a:solidFill>
                  <a:srgbClr val="E7EBF3"/>
                </a:solidFill>
                <a:latin typeface="Calibri" pitchFamily="34" charset="0"/>
                <a:ea typeface="Calibri" pitchFamily="34" charset="-122"/>
                <a:cs typeface="Calibri" pitchFamily="34" charset="-120"/>
              </a:rPr>
              <a:t>Wrong customer segment</a:t>
            </a:r>
            <a:endParaRPr lang="en-US" sz="1100" dirty="0"/>
          </a:p>
        </p:txBody>
      </p:sp>
      <p:sp>
        <p:nvSpPr>
          <p:cNvPr id="23" name="Shape 21"/>
          <p:cNvSpPr/>
          <p:nvPr/>
        </p:nvSpPr>
        <p:spPr>
          <a:xfrm>
            <a:off x="2788920" y="3977640"/>
            <a:ext cx="2103120" cy="347472"/>
          </a:xfrm>
          <a:prstGeom prst="roundRect">
            <a:avLst>
              <a:gd name="adj" fmla="val 50000"/>
            </a:avLst>
          </a:prstGeom>
          <a:solidFill>
            <a:srgbClr val="111831"/>
          </a:solidFill>
          <a:ln w="12700">
            <a:solidFill>
              <a:srgbClr val="26314F"/>
            </a:solidFill>
            <a:prstDash val="solid"/>
          </a:ln>
        </p:spPr>
      </p:sp>
      <p:sp>
        <p:nvSpPr>
          <p:cNvPr id="24" name="Text 22"/>
          <p:cNvSpPr txBox="1"/>
          <p:nvPr/>
        </p:nvSpPr>
        <p:spPr>
          <a:xfrm>
            <a:off x="2788920" y="4041648"/>
            <a:ext cx="2103120" cy="237744"/>
          </a:xfrm>
          <a:prstGeom prst="rect">
            <a:avLst/>
          </a:prstGeom>
          <a:noFill/>
          <a:ln/>
        </p:spPr>
        <p:txBody>
          <a:bodyPr wrap="square" lIns="0" tIns="0" rIns="0" bIns="0" rtlCol="0" anchor="t"/>
          <a:lstStyle/>
          <a:p>
            <a:pPr algn="ctr" indent="0" marL="0">
              <a:buNone/>
            </a:pPr>
            <a:r>
              <a:rPr lang="en-US" sz="1100" dirty="0">
                <a:solidFill>
                  <a:srgbClr val="E7EBF3"/>
                </a:solidFill>
                <a:latin typeface="Calibri" pitchFamily="34" charset="0"/>
                <a:ea typeface="Calibri" pitchFamily="34" charset="-122"/>
                <a:cs typeface="Calibri" pitchFamily="34" charset="-120"/>
              </a:rPr>
              <a:t>Wrong time window</a:t>
            </a:r>
            <a:endParaRPr lang="en-US" sz="1100" dirty="0"/>
          </a:p>
        </p:txBody>
      </p:sp>
      <p:sp>
        <p:nvSpPr>
          <p:cNvPr id="25" name="Shape 23"/>
          <p:cNvSpPr/>
          <p:nvPr/>
        </p:nvSpPr>
        <p:spPr>
          <a:xfrm>
            <a:off x="5029200" y="3977640"/>
            <a:ext cx="2103120" cy="347472"/>
          </a:xfrm>
          <a:prstGeom prst="roundRect">
            <a:avLst>
              <a:gd name="adj" fmla="val 50000"/>
            </a:avLst>
          </a:prstGeom>
          <a:solidFill>
            <a:srgbClr val="111831"/>
          </a:solidFill>
          <a:ln w="12700">
            <a:solidFill>
              <a:srgbClr val="26314F"/>
            </a:solidFill>
            <a:prstDash val="solid"/>
          </a:ln>
        </p:spPr>
      </p:sp>
      <p:sp>
        <p:nvSpPr>
          <p:cNvPr id="26" name="Text 24"/>
          <p:cNvSpPr txBox="1"/>
          <p:nvPr/>
        </p:nvSpPr>
        <p:spPr>
          <a:xfrm>
            <a:off x="5029200" y="4041648"/>
            <a:ext cx="2103120" cy="237744"/>
          </a:xfrm>
          <a:prstGeom prst="rect">
            <a:avLst/>
          </a:prstGeom>
          <a:noFill/>
          <a:ln/>
        </p:spPr>
        <p:txBody>
          <a:bodyPr wrap="square" lIns="0" tIns="0" rIns="0" bIns="0" rtlCol="0" anchor="t"/>
          <a:lstStyle/>
          <a:p>
            <a:pPr algn="ctr" indent="0" marL="0">
              <a:buNone/>
            </a:pPr>
            <a:r>
              <a:rPr lang="en-US" sz="1100" dirty="0">
                <a:solidFill>
                  <a:srgbClr val="E7EBF3"/>
                </a:solidFill>
                <a:latin typeface="Calibri" pitchFamily="34" charset="0"/>
                <a:ea typeface="Calibri" pitchFamily="34" charset="-122"/>
                <a:cs typeface="Calibri" pitchFamily="34" charset="-120"/>
              </a:rPr>
              <a:t>Correlation as proof</a:t>
            </a:r>
            <a:endParaRPr lang="en-US" sz="1100" dirty="0"/>
          </a:p>
        </p:txBody>
      </p:sp>
      <p:sp>
        <p:nvSpPr>
          <p:cNvPr id="27" name="Shape 25"/>
          <p:cNvSpPr/>
          <p:nvPr/>
        </p:nvSpPr>
        <p:spPr>
          <a:xfrm>
            <a:off x="7269480" y="3977640"/>
            <a:ext cx="2103120" cy="347472"/>
          </a:xfrm>
          <a:prstGeom prst="roundRect">
            <a:avLst>
              <a:gd name="adj" fmla="val 50000"/>
            </a:avLst>
          </a:prstGeom>
          <a:solidFill>
            <a:srgbClr val="111831"/>
          </a:solidFill>
          <a:ln w="12700">
            <a:solidFill>
              <a:srgbClr val="26314F"/>
            </a:solidFill>
            <a:prstDash val="solid"/>
          </a:ln>
        </p:spPr>
      </p:sp>
      <p:sp>
        <p:nvSpPr>
          <p:cNvPr id="28" name="Text 26"/>
          <p:cNvSpPr txBox="1"/>
          <p:nvPr/>
        </p:nvSpPr>
        <p:spPr>
          <a:xfrm>
            <a:off x="7269480" y="4041648"/>
            <a:ext cx="2103120" cy="237744"/>
          </a:xfrm>
          <a:prstGeom prst="rect">
            <a:avLst/>
          </a:prstGeom>
          <a:noFill/>
          <a:ln/>
        </p:spPr>
        <p:txBody>
          <a:bodyPr wrap="square" lIns="0" tIns="0" rIns="0" bIns="0" rtlCol="0" anchor="t"/>
          <a:lstStyle/>
          <a:p>
            <a:pPr algn="ctr" indent="0" marL="0">
              <a:buNone/>
            </a:pPr>
            <a:r>
              <a:rPr lang="en-US" sz="1100" dirty="0">
                <a:solidFill>
                  <a:srgbClr val="E7EBF3"/>
                </a:solidFill>
                <a:latin typeface="Calibri" pitchFamily="34" charset="0"/>
                <a:ea typeface="Calibri" pitchFamily="34" charset="-122"/>
                <a:cs typeface="Calibri" pitchFamily="34" charset="-120"/>
              </a:rPr>
              <a:t>Simulated called real</a:t>
            </a:r>
            <a:endParaRPr lang="en-US" sz="1100" dirty="0"/>
          </a:p>
        </p:txBody>
      </p:sp>
      <p:sp>
        <p:nvSpPr>
          <p:cNvPr id="29" name="Shape 27"/>
          <p:cNvSpPr/>
          <p:nvPr/>
        </p:nvSpPr>
        <p:spPr>
          <a:xfrm>
            <a:off x="9509760" y="3977640"/>
            <a:ext cx="2103120" cy="347472"/>
          </a:xfrm>
          <a:prstGeom prst="roundRect">
            <a:avLst>
              <a:gd name="adj" fmla="val 50000"/>
            </a:avLst>
          </a:prstGeom>
          <a:solidFill>
            <a:srgbClr val="111831"/>
          </a:solidFill>
          <a:ln w="12700">
            <a:solidFill>
              <a:srgbClr val="26314F"/>
            </a:solidFill>
            <a:prstDash val="solid"/>
          </a:ln>
        </p:spPr>
      </p:sp>
      <p:sp>
        <p:nvSpPr>
          <p:cNvPr id="30" name="Text 28"/>
          <p:cNvSpPr txBox="1"/>
          <p:nvPr/>
        </p:nvSpPr>
        <p:spPr>
          <a:xfrm>
            <a:off x="9509760" y="4041648"/>
            <a:ext cx="2103120" cy="237744"/>
          </a:xfrm>
          <a:prstGeom prst="rect">
            <a:avLst/>
          </a:prstGeom>
          <a:noFill/>
          <a:ln/>
        </p:spPr>
        <p:txBody>
          <a:bodyPr wrap="square" lIns="0" tIns="0" rIns="0" bIns="0" rtlCol="0" anchor="t"/>
          <a:lstStyle/>
          <a:p>
            <a:pPr algn="ctr" indent="0" marL="0">
              <a:buNone/>
            </a:pPr>
            <a:r>
              <a:rPr lang="en-US" sz="1100" dirty="0">
                <a:solidFill>
                  <a:srgbClr val="E7EBF3"/>
                </a:solidFill>
                <a:latin typeface="Calibri" pitchFamily="34" charset="0"/>
                <a:ea typeface="Calibri" pitchFamily="34" charset="-122"/>
                <a:cs typeface="Calibri" pitchFamily="34" charset="-120"/>
              </a:rPr>
              <a:t>Invented or missing references</a:t>
            </a:r>
            <a:endParaRPr lang="en-US" sz="1100" dirty="0"/>
          </a:p>
        </p:txBody>
      </p:sp>
      <p:sp>
        <p:nvSpPr>
          <p:cNvPr id="31" name="Shape 29"/>
          <p:cNvSpPr/>
          <p:nvPr/>
        </p:nvSpPr>
        <p:spPr>
          <a:xfrm>
            <a:off x="548640" y="4434840"/>
            <a:ext cx="2103120" cy="347472"/>
          </a:xfrm>
          <a:prstGeom prst="roundRect">
            <a:avLst>
              <a:gd name="adj" fmla="val 50000"/>
            </a:avLst>
          </a:prstGeom>
          <a:solidFill>
            <a:srgbClr val="111831"/>
          </a:solidFill>
          <a:ln w="12700">
            <a:solidFill>
              <a:srgbClr val="26314F"/>
            </a:solidFill>
            <a:prstDash val="solid"/>
          </a:ln>
        </p:spPr>
      </p:sp>
      <p:sp>
        <p:nvSpPr>
          <p:cNvPr id="32" name="Text 30"/>
          <p:cNvSpPr txBox="1"/>
          <p:nvPr/>
        </p:nvSpPr>
        <p:spPr>
          <a:xfrm>
            <a:off x="548640" y="4498848"/>
            <a:ext cx="2103120" cy="237744"/>
          </a:xfrm>
          <a:prstGeom prst="rect">
            <a:avLst/>
          </a:prstGeom>
          <a:noFill/>
          <a:ln/>
        </p:spPr>
        <p:txBody>
          <a:bodyPr wrap="square" lIns="0" tIns="0" rIns="0" bIns="0" rtlCol="0" anchor="t"/>
          <a:lstStyle/>
          <a:p>
            <a:pPr algn="ctr" indent="0" marL="0">
              <a:buNone/>
            </a:pPr>
            <a:r>
              <a:rPr lang="en-US" sz="1100" dirty="0">
                <a:solidFill>
                  <a:srgbClr val="E7EBF3"/>
                </a:solidFill>
                <a:latin typeface="Calibri" pitchFamily="34" charset="0"/>
                <a:ea typeface="Calibri" pitchFamily="34" charset="-122"/>
                <a:cs typeface="Calibri" pitchFamily="34" charset="-120"/>
              </a:rPr>
              <a:t>Contradicting a tool</a:t>
            </a:r>
            <a:endParaRPr lang="en-US" sz="1100" dirty="0"/>
          </a:p>
        </p:txBody>
      </p:sp>
      <p:sp>
        <p:nvSpPr>
          <p:cNvPr id="33" name="Shape 31"/>
          <p:cNvSpPr/>
          <p:nvPr/>
        </p:nvSpPr>
        <p:spPr>
          <a:xfrm>
            <a:off x="2788920" y="4434840"/>
            <a:ext cx="2103120" cy="347472"/>
          </a:xfrm>
          <a:prstGeom prst="roundRect">
            <a:avLst>
              <a:gd name="adj" fmla="val 50000"/>
            </a:avLst>
          </a:prstGeom>
          <a:solidFill>
            <a:srgbClr val="111831"/>
          </a:solidFill>
          <a:ln w="12700">
            <a:solidFill>
              <a:srgbClr val="26314F"/>
            </a:solidFill>
            <a:prstDash val="solid"/>
          </a:ln>
        </p:spPr>
      </p:sp>
      <p:sp>
        <p:nvSpPr>
          <p:cNvPr id="34" name="Text 32"/>
          <p:cNvSpPr txBox="1"/>
          <p:nvPr/>
        </p:nvSpPr>
        <p:spPr>
          <a:xfrm>
            <a:off x="2788920" y="4498848"/>
            <a:ext cx="2103120" cy="237744"/>
          </a:xfrm>
          <a:prstGeom prst="rect">
            <a:avLst/>
          </a:prstGeom>
          <a:noFill/>
          <a:ln/>
        </p:spPr>
        <p:txBody>
          <a:bodyPr wrap="square" lIns="0" tIns="0" rIns="0" bIns="0" rtlCol="0" anchor="t"/>
          <a:lstStyle/>
          <a:p>
            <a:pPr algn="ctr" indent="0" marL="0">
              <a:buNone/>
            </a:pPr>
            <a:r>
              <a:rPr lang="en-US" sz="1100" dirty="0">
                <a:solidFill>
                  <a:srgbClr val="E7EBF3"/>
                </a:solidFill>
                <a:latin typeface="Calibri" pitchFamily="34" charset="0"/>
                <a:ea typeface="Calibri" pitchFamily="34" charset="-122"/>
                <a:cs typeface="Calibri" pitchFamily="34" charset="-120"/>
              </a:rPr>
              <a:t>Missing cost assumptions</a:t>
            </a:r>
            <a:endParaRPr lang="en-US" sz="1100" dirty="0"/>
          </a:p>
        </p:txBody>
      </p:sp>
      <p:sp>
        <p:nvSpPr>
          <p:cNvPr id="35" name="Shape 33"/>
          <p:cNvSpPr/>
          <p:nvPr/>
        </p:nvSpPr>
        <p:spPr>
          <a:xfrm>
            <a:off x="5029200" y="4434840"/>
            <a:ext cx="2103120" cy="347472"/>
          </a:xfrm>
          <a:prstGeom prst="roundRect">
            <a:avLst>
              <a:gd name="adj" fmla="val 50000"/>
            </a:avLst>
          </a:prstGeom>
          <a:solidFill>
            <a:srgbClr val="111831"/>
          </a:solidFill>
          <a:ln w="12700">
            <a:solidFill>
              <a:srgbClr val="26314F"/>
            </a:solidFill>
            <a:prstDash val="solid"/>
          </a:ln>
        </p:spPr>
      </p:sp>
      <p:sp>
        <p:nvSpPr>
          <p:cNvPr id="36" name="Text 34"/>
          <p:cNvSpPr txBox="1"/>
          <p:nvPr/>
        </p:nvSpPr>
        <p:spPr>
          <a:xfrm>
            <a:off x="5029200" y="4498848"/>
            <a:ext cx="2103120" cy="237744"/>
          </a:xfrm>
          <a:prstGeom prst="rect">
            <a:avLst/>
          </a:prstGeom>
          <a:noFill/>
          <a:ln/>
        </p:spPr>
        <p:txBody>
          <a:bodyPr wrap="square" lIns="0" tIns="0" rIns="0" bIns="0" rtlCol="0" anchor="t"/>
          <a:lstStyle/>
          <a:p>
            <a:pPr algn="ctr" indent="0" marL="0">
              <a:buNone/>
            </a:pPr>
            <a:r>
              <a:rPr lang="en-US" sz="1100" dirty="0">
                <a:solidFill>
                  <a:srgbClr val="E7EBF3"/>
                </a:solidFill>
                <a:latin typeface="Calibri" pitchFamily="34" charset="0"/>
                <a:ea typeface="Calibri" pitchFamily="34" charset="-122"/>
                <a:cs typeface="Calibri" pitchFamily="34" charset="-120"/>
              </a:rPr>
              <a:t>Unanswerable question</a:t>
            </a:r>
            <a:endParaRPr lang="en-US" sz="1100" dirty="0"/>
          </a:p>
        </p:txBody>
      </p:sp>
      <p:sp>
        <p:nvSpPr>
          <p:cNvPr id="37" name="Shape 35"/>
          <p:cNvSpPr/>
          <p:nvPr/>
        </p:nvSpPr>
        <p:spPr>
          <a:xfrm>
            <a:off x="7269480" y="4434840"/>
            <a:ext cx="2103120" cy="347472"/>
          </a:xfrm>
          <a:prstGeom prst="roundRect">
            <a:avLst>
              <a:gd name="adj" fmla="val 50000"/>
            </a:avLst>
          </a:prstGeom>
          <a:solidFill>
            <a:srgbClr val="111831"/>
          </a:solidFill>
          <a:ln w="12700">
            <a:solidFill>
              <a:srgbClr val="26314F"/>
            </a:solidFill>
            <a:prstDash val="solid"/>
          </a:ln>
        </p:spPr>
      </p:sp>
      <p:sp>
        <p:nvSpPr>
          <p:cNvPr id="38" name="Text 36"/>
          <p:cNvSpPr txBox="1"/>
          <p:nvPr/>
        </p:nvSpPr>
        <p:spPr>
          <a:xfrm>
            <a:off x="7269480" y="4498848"/>
            <a:ext cx="2103120" cy="237744"/>
          </a:xfrm>
          <a:prstGeom prst="rect">
            <a:avLst/>
          </a:prstGeom>
          <a:noFill/>
          <a:ln/>
        </p:spPr>
        <p:txBody>
          <a:bodyPr wrap="square" lIns="0" tIns="0" rIns="0" bIns="0" rtlCol="0" anchor="t"/>
          <a:lstStyle/>
          <a:p>
            <a:pPr algn="ctr" indent="0" marL="0">
              <a:buNone/>
            </a:pPr>
            <a:r>
              <a:rPr lang="en-US" sz="1100" dirty="0">
                <a:solidFill>
                  <a:srgbClr val="E7EBF3"/>
                </a:solidFill>
                <a:latin typeface="Calibri" pitchFamily="34" charset="0"/>
                <a:ea typeface="Calibri" pitchFamily="34" charset="-122"/>
                <a:cs typeface="Calibri" pitchFamily="34" charset="-120"/>
              </a:rPr>
              <a:t>Conflicting recommendation</a:t>
            </a:r>
            <a:endParaRPr lang="en-US" sz="1100" dirty="0"/>
          </a:p>
        </p:txBody>
      </p:sp>
      <p:sp>
        <p:nvSpPr>
          <p:cNvPr id="39" name="Shape 37"/>
          <p:cNvSpPr/>
          <p:nvPr/>
        </p:nvSpPr>
        <p:spPr>
          <a:xfrm>
            <a:off x="9509760" y="4434840"/>
            <a:ext cx="2103120" cy="347472"/>
          </a:xfrm>
          <a:prstGeom prst="roundRect">
            <a:avLst>
              <a:gd name="adj" fmla="val 50000"/>
            </a:avLst>
          </a:prstGeom>
          <a:solidFill>
            <a:srgbClr val="111831"/>
          </a:solidFill>
          <a:ln w="12700">
            <a:solidFill>
              <a:srgbClr val="26314F"/>
            </a:solidFill>
            <a:prstDash val="solid"/>
          </a:ln>
        </p:spPr>
      </p:sp>
      <p:sp>
        <p:nvSpPr>
          <p:cNvPr id="40" name="Text 38"/>
          <p:cNvSpPr txBox="1"/>
          <p:nvPr/>
        </p:nvSpPr>
        <p:spPr>
          <a:xfrm>
            <a:off x="9509760" y="4498848"/>
            <a:ext cx="2103120" cy="237744"/>
          </a:xfrm>
          <a:prstGeom prst="rect">
            <a:avLst/>
          </a:prstGeom>
          <a:noFill/>
          <a:ln/>
        </p:spPr>
        <p:txBody>
          <a:bodyPr wrap="square" lIns="0" tIns="0" rIns="0" bIns="0" rtlCol="0" anchor="t"/>
          <a:lstStyle/>
          <a:p>
            <a:pPr algn="ctr" indent="0" marL="0">
              <a:buNone/>
            </a:pPr>
            <a:r>
              <a:rPr lang="en-US" sz="1100" dirty="0">
                <a:solidFill>
                  <a:srgbClr val="E7EBF3"/>
                </a:solidFill>
                <a:latin typeface="Calibri" pitchFamily="34" charset="0"/>
                <a:ea typeface="Calibri" pitchFamily="34" charset="-122"/>
                <a:cs typeface="Calibri" pitchFamily="34" charset="-120"/>
              </a:rPr>
              <a:t>Attempted approve / send</a:t>
            </a:r>
            <a:endParaRPr lang="en-US" sz="1100" dirty="0"/>
          </a:p>
        </p:txBody>
      </p:sp>
      <p:sp>
        <p:nvSpPr>
          <p:cNvPr id="41" name="Shape 39"/>
          <p:cNvSpPr/>
          <p:nvPr/>
        </p:nvSpPr>
        <p:spPr>
          <a:xfrm>
            <a:off x="548640" y="5074920"/>
            <a:ext cx="11094415" cy="1005840"/>
          </a:xfrm>
          <a:prstGeom prst="roundRect">
            <a:avLst>
              <a:gd name="adj" fmla="val 10909"/>
            </a:avLst>
          </a:prstGeom>
          <a:solidFill>
            <a:srgbClr val="0A0F1E"/>
          </a:solidFill>
          <a:ln w="12700">
            <a:solidFill>
              <a:srgbClr val="F5B544"/>
            </a:solidFill>
            <a:prstDash val="solid"/>
          </a:ln>
        </p:spPr>
      </p:sp>
      <p:sp>
        <p:nvSpPr>
          <p:cNvPr id="42" name="Text 40"/>
          <p:cNvSpPr txBox="1"/>
          <p:nvPr/>
        </p:nvSpPr>
        <p:spPr>
          <a:xfrm>
            <a:off x="822960" y="5138928"/>
            <a:ext cx="10545775" cy="868680"/>
          </a:xfrm>
          <a:prstGeom prst="rect">
            <a:avLst/>
          </a:prstGeom>
          <a:noFill/>
          <a:ln/>
        </p:spPr>
        <p:txBody>
          <a:bodyPr wrap="square" lIns="0" tIns="0" rIns="0" bIns="0" rtlCol="0" anchor="ctr"/>
          <a:lstStyle/>
          <a:p>
            <a:pPr indent="0" marL="0">
              <a:buNone/>
            </a:pPr>
            <a:r>
              <a:rPr lang="en-US" sz="1400" b="1" dirty="0">
                <a:solidFill>
                  <a:srgbClr val="F5B544"/>
                </a:solidFill>
                <a:latin typeface="Calibri" pitchFamily="34" charset="0"/>
                <a:ea typeface="Calibri" pitchFamily="34" charset="-122"/>
                <a:cs typeface="Calibri" pitchFamily="34" charset="-120"/>
              </a:rPr>
              <a:t>What this proves: </a:t>
            </a:r>
            <a:pPr indent="0" marL="0">
              <a:buNone/>
            </a:pPr>
            <a:r>
              <a:rPr lang="en-US" sz="1400" dirty="0">
                <a:solidFill>
                  <a:srgbClr val="E7EBF3"/>
                </a:solidFill>
                <a:latin typeface="Calibri" pitchFamily="34" charset="0"/>
                <a:ea typeface="Calibri" pitchFamily="34" charset="-122"/>
                <a:cs typeface="Calibri" pitchFamily="34" charset="-120"/>
              </a:rPr>
              <a:t>answers are grounded, scoped and honestly labelled on tested synthetic cases, and agents cannot act.  </a:t>
            </a:r>
            <a:pPr indent="0" marL="0">
              <a:buNone/>
            </a:pPr>
            <a:r>
              <a:rPr lang="en-US" sz="1400" b="1" dirty="0">
                <a:solidFill>
                  <a:srgbClr val="F5B544"/>
                </a:solidFill>
                <a:latin typeface="Calibri" pitchFamily="34" charset="0"/>
                <a:ea typeface="Calibri" pitchFamily="34" charset="-122"/>
                <a:cs typeface="Calibri" pitchFamily="34" charset="-120"/>
              </a:rPr>
              <a:t>What it does not: </a:t>
            </a:r>
            <a:pPr indent="0" marL="0">
              <a:buNone/>
            </a:pPr>
            <a:r>
              <a:rPr lang="en-US" sz="1400" dirty="0">
                <a:solidFill>
                  <a:srgbClr val="E7EBF3"/>
                </a:solidFill>
                <a:latin typeface="Calibri" pitchFamily="34" charset="0"/>
                <a:ea typeface="Calibri" pitchFamily="34" charset="-122"/>
                <a:cs typeface="Calibri" pitchFamily="34" charset="-120"/>
              </a:rPr>
              <a:t>that any recommendation increases real merchant revenue. That needs a real, adequately sized randomized test.</a:t>
            </a:r>
            <a:endParaRPr lang="en-US" sz="1400" dirty="0"/>
          </a:p>
        </p:txBody>
      </p:sp>
      <p:sp>
        <p:nvSpPr>
          <p:cNvPr id="25" name="Slide Number Placeholder 0"/>
          <p:cNvSpPr>
            <a:spLocks noGrp="1"/>
          </p:cNvSpPr>
          <p:nvPr>
            <p:ph type="sldNum" sz="quarter" idx="4294967295"/>
          </p:nvPr>
        </p:nvSpPr>
        <p:spPr>
          <a:xfrm>
            <a:off x="11185855" y="647395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AA4BD"/>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146304"/>
            <a:ext cx="7315200" cy="219456"/>
          </a:xfrm>
          <a:prstGeom prst="rect">
            <a:avLst/>
          </a:prstGeom>
          <a:noFill/>
          <a:ln/>
        </p:spPr>
        <p:txBody>
          <a:bodyPr wrap="square" lIns="0" tIns="0" rIns="0" bIns="0" rtlCol="0" anchor="t"/>
          <a:lstStyle/>
          <a:p>
            <a:pPr indent="0" marL="0">
              <a:buNone/>
            </a:pPr>
            <a:r>
              <a:rPr lang="en-US" sz="1000" b="1" spc="200" kern="0" dirty="0">
                <a:solidFill>
                  <a:srgbClr val="4C8DFF"/>
                </a:solidFill>
                <a:latin typeface="Calibri" pitchFamily="34" charset="0"/>
                <a:ea typeface="Calibri" pitchFamily="34" charset="-122"/>
                <a:cs typeface="Calibri" pitchFamily="34" charset="-120"/>
              </a:rPr>
              <a:t>IMPACT &amp; BENEFITS</a:t>
            </a:r>
            <a:endParaRPr lang="en-US" sz="1000" dirty="0"/>
          </a:p>
        </p:txBody>
      </p:sp>
      <p:sp>
        <p:nvSpPr>
          <p:cNvPr id="3" name="Text 0"/>
          <p:cNvSpPr/>
          <p:nvPr>
            <p:ph idx="100" type="title" hasCustomPrompt="1"/>
          </p:nvPr>
        </p:nvSpPr>
        <p:spPr>
          <a:xfrm>
            <a:off x="548640" y="384048"/>
            <a:ext cx="11094415" cy="777240"/>
          </a:xfrm>
          <a:prstGeom prst="rect">
            <a:avLst/>
          </a:prstGeom>
          <a:noFill/>
          <a:ln/>
        </p:spPr>
        <p:txBody>
          <a:bodyPr wrap="square" lIns="0" tIns="0" rIns="0" bIns="0" rtlCol="0" anchor="t"/>
          <a:lstStyle/>
          <a:p>
            <a:pPr algn="l" indent="0" marL="0">
              <a:buNone/>
            </a:pPr>
            <a:r>
              <a:rPr lang="en-US" sz="2800" b="1" dirty="0">
                <a:solidFill>
                  <a:srgbClr val="E7EBF3"/>
                </a:solidFill>
                <a:latin typeface="Cambria" pitchFamily="34" charset="0"/>
                <a:ea typeface="Cambria" pitchFamily="34" charset="-122"/>
                <a:cs typeface="Cambria" pitchFamily="34" charset="-120"/>
              </a:rPr>
              <a:t>Impact &amp; benefits: better decisions now, revenue proof next</a:t>
            </a:r>
            <a:endParaRPr lang="en-US" sz="2800" dirty="0"/>
          </a:p>
        </p:txBody>
      </p:sp>
      <p:sp>
        <p:nvSpPr>
          <p:cNvPr id="4" name="Shape 2"/>
          <p:cNvSpPr/>
          <p:nvPr/>
        </p:nvSpPr>
        <p:spPr>
          <a:xfrm>
            <a:off x="548640" y="1325880"/>
            <a:ext cx="3520440" cy="3977640"/>
          </a:xfrm>
          <a:prstGeom prst="roundRect">
            <a:avLst>
              <a:gd name="adj" fmla="val 3117"/>
            </a:avLst>
          </a:prstGeom>
          <a:solidFill>
            <a:srgbClr val="111831"/>
          </a:solidFill>
          <a:ln w="12700">
            <a:solidFill>
              <a:srgbClr val="26314F"/>
            </a:solidFill>
            <a:prstDash val="solid"/>
          </a:ln>
        </p:spPr>
      </p:sp>
      <p:sp>
        <p:nvSpPr>
          <p:cNvPr id="5" name="Shape 3"/>
          <p:cNvSpPr/>
          <p:nvPr/>
        </p:nvSpPr>
        <p:spPr>
          <a:xfrm>
            <a:off x="822960" y="1508760"/>
            <a:ext cx="603504" cy="603504"/>
          </a:xfrm>
          <a:prstGeom prst="ellipse">
            <a:avLst/>
          </a:prstGeom>
          <a:solidFill>
            <a:srgbClr val="18213F"/>
          </a:solidFill>
          <a:ln w="12700">
            <a:solidFill>
              <a:srgbClr val="26314F"/>
            </a:solidFill>
            <a:prstDash val="solid"/>
          </a:ln>
        </p:spPr>
      </p:sp>
      <p:pic>
        <p:nvPicPr>
          <p:cNvPr id="6" name="Image 0" descr="store icon">    </p:cNvPr>
          <p:cNvPicPr>
            <a:picLocks noChangeAspect="1"/>
          </p:cNvPicPr>
          <p:nvPr/>
        </p:nvPicPr>
        <p:blipFill>
          <a:blip r:embed="rId1"/>
          <a:stretch>
            <a:fillRect/>
          </a:stretch>
        </p:blipFill>
        <p:spPr>
          <a:xfrm>
            <a:off x="932688" y="1618488"/>
            <a:ext cx="384048" cy="384048"/>
          </a:xfrm>
          <a:prstGeom prst="rect">
            <a:avLst/>
          </a:prstGeom>
        </p:spPr>
      </p:pic>
      <p:sp>
        <p:nvSpPr>
          <p:cNvPr id="7" name="Text 4"/>
          <p:cNvSpPr txBox="1"/>
          <p:nvPr/>
        </p:nvSpPr>
        <p:spPr>
          <a:xfrm>
            <a:off x="1600200" y="1645920"/>
            <a:ext cx="2377440" cy="365760"/>
          </a:xfrm>
          <a:prstGeom prst="rect">
            <a:avLst/>
          </a:prstGeom>
          <a:noFill/>
          <a:ln/>
        </p:spPr>
        <p:txBody>
          <a:bodyPr wrap="square" lIns="0" tIns="0" rIns="0" bIns="0" rtlCol="0" anchor="t"/>
          <a:lstStyle/>
          <a:p>
            <a:pPr indent="0" marL="0">
              <a:buNone/>
            </a:pPr>
            <a:r>
              <a:rPr lang="en-US" sz="1700" b="1" dirty="0">
                <a:solidFill>
                  <a:srgbClr val="E7EBF3"/>
                </a:solidFill>
                <a:latin typeface="Calibri" pitchFamily="34" charset="0"/>
                <a:ea typeface="Calibri" pitchFamily="34" charset="-122"/>
                <a:cs typeface="Calibri" pitchFamily="34" charset="-120"/>
              </a:rPr>
              <a:t>For the merchant</a:t>
            </a:r>
            <a:endParaRPr lang="en-US" sz="1700" dirty="0"/>
          </a:p>
        </p:txBody>
      </p:sp>
      <p:sp>
        <p:nvSpPr>
          <p:cNvPr id="8" name="Shape 5"/>
          <p:cNvSpPr/>
          <p:nvPr/>
        </p:nvSpPr>
        <p:spPr>
          <a:xfrm>
            <a:off x="822960" y="2377440"/>
            <a:ext cx="1691640" cy="256032"/>
          </a:xfrm>
          <a:prstGeom prst="roundRect">
            <a:avLst>
              <a:gd name="adj" fmla="val 50000"/>
            </a:avLst>
          </a:prstGeom>
          <a:solidFill>
            <a:srgbClr val="0A0F1E"/>
          </a:solidFill>
          <a:ln w="12700">
            <a:solidFill>
              <a:srgbClr val="34D399"/>
            </a:solidFill>
            <a:prstDash val="solid"/>
          </a:ln>
        </p:spPr>
      </p:sp>
      <p:sp>
        <p:nvSpPr>
          <p:cNvPr id="9" name="Text 6"/>
          <p:cNvSpPr txBox="1"/>
          <p:nvPr/>
        </p:nvSpPr>
        <p:spPr>
          <a:xfrm>
            <a:off x="822960" y="2409444"/>
            <a:ext cx="1691640" cy="201168"/>
          </a:xfrm>
          <a:prstGeom prst="rect">
            <a:avLst/>
          </a:prstGeom>
          <a:noFill/>
          <a:ln/>
        </p:spPr>
        <p:txBody>
          <a:bodyPr wrap="square" lIns="0" tIns="0" rIns="0" bIns="0" rtlCol="0" anchor="t"/>
          <a:lstStyle/>
          <a:p>
            <a:pPr algn="ctr" indent="0" marL="0">
              <a:buNone/>
            </a:pPr>
            <a:r>
              <a:rPr lang="en-US" sz="900" b="1" spc="150" kern="0" dirty="0">
                <a:solidFill>
                  <a:srgbClr val="34D399"/>
                </a:solidFill>
                <a:latin typeface="Calibri" pitchFamily="34" charset="0"/>
                <a:ea typeface="Calibri" pitchFamily="34" charset="-122"/>
                <a:cs typeface="Calibri" pitchFamily="34" charset="-120"/>
              </a:rPr>
              <a:t>SHOWN IN PROTOTYPE</a:t>
            </a:r>
            <a:endParaRPr lang="en-US" sz="900" dirty="0"/>
          </a:p>
        </p:txBody>
      </p:sp>
      <p:sp>
        <p:nvSpPr>
          <p:cNvPr id="10" name="Text 7"/>
          <p:cNvSpPr txBox="1"/>
          <p:nvPr/>
        </p:nvSpPr>
        <p:spPr>
          <a:xfrm>
            <a:off x="822960" y="2706624"/>
            <a:ext cx="3017520" cy="566928"/>
          </a:xfrm>
          <a:prstGeom prst="rect">
            <a:avLst/>
          </a:prstGeom>
          <a:noFill/>
          <a:ln/>
        </p:spPr>
        <p:txBody>
          <a:bodyPr wrap="square" lIns="0" tIns="0" rIns="0" bIns="0" rtlCol="0" anchor="t"/>
          <a:lstStyle/>
          <a:p>
            <a:pPr indent="0" marL="0">
              <a:buNone/>
            </a:pPr>
            <a:r>
              <a:rPr lang="en-US" sz="1200" dirty="0">
                <a:solidFill>
                  <a:srgbClr val="E7EBF3"/>
                </a:solidFill>
                <a:latin typeface="Calibri" pitchFamily="34" charset="0"/>
                <a:ea typeface="Calibri" pitchFamily="34" charset="-122"/>
                <a:cs typeface="Calibri" pitchFamily="34" charset="-120"/>
              </a:rPr>
              <a:t>Avoids blind storewide discounts: ₹30 off for all needs +27% orders to break even</a:t>
            </a:r>
            <a:endParaRPr lang="en-US" sz="1200" dirty="0"/>
          </a:p>
        </p:txBody>
      </p:sp>
      <p:sp>
        <p:nvSpPr>
          <p:cNvPr id="11" name="Shape 8"/>
          <p:cNvSpPr/>
          <p:nvPr/>
        </p:nvSpPr>
        <p:spPr>
          <a:xfrm>
            <a:off x="822960" y="3310128"/>
            <a:ext cx="1691640" cy="256032"/>
          </a:xfrm>
          <a:prstGeom prst="roundRect">
            <a:avLst>
              <a:gd name="adj" fmla="val 50000"/>
            </a:avLst>
          </a:prstGeom>
          <a:solidFill>
            <a:srgbClr val="0A0F1E"/>
          </a:solidFill>
          <a:ln w="12700">
            <a:solidFill>
              <a:srgbClr val="34D399"/>
            </a:solidFill>
            <a:prstDash val="solid"/>
          </a:ln>
        </p:spPr>
      </p:sp>
      <p:sp>
        <p:nvSpPr>
          <p:cNvPr id="12" name="Text 9"/>
          <p:cNvSpPr txBox="1"/>
          <p:nvPr/>
        </p:nvSpPr>
        <p:spPr>
          <a:xfrm>
            <a:off x="822960" y="3342132"/>
            <a:ext cx="1691640" cy="201168"/>
          </a:xfrm>
          <a:prstGeom prst="rect">
            <a:avLst/>
          </a:prstGeom>
          <a:noFill/>
          <a:ln/>
        </p:spPr>
        <p:txBody>
          <a:bodyPr wrap="square" lIns="0" tIns="0" rIns="0" bIns="0" rtlCol="0" anchor="t"/>
          <a:lstStyle/>
          <a:p>
            <a:pPr algn="ctr" indent="0" marL="0">
              <a:buNone/>
            </a:pPr>
            <a:r>
              <a:rPr lang="en-US" sz="900" b="1" spc="150" kern="0" dirty="0">
                <a:solidFill>
                  <a:srgbClr val="34D399"/>
                </a:solidFill>
                <a:latin typeface="Calibri" pitchFamily="34" charset="0"/>
                <a:ea typeface="Calibri" pitchFamily="34" charset="-122"/>
                <a:cs typeface="Calibri" pitchFamily="34" charset="-120"/>
              </a:rPr>
              <a:t>SHOWN IN PROTOTYPE</a:t>
            </a:r>
            <a:endParaRPr lang="en-US" sz="900" dirty="0"/>
          </a:p>
        </p:txBody>
      </p:sp>
      <p:sp>
        <p:nvSpPr>
          <p:cNvPr id="13" name="Text 10"/>
          <p:cNvSpPr txBox="1"/>
          <p:nvPr/>
        </p:nvSpPr>
        <p:spPr>
          <a:xfrm>
            <a:off x="822960" y="3639312"/>
            <a:ext cx="3017520" cy="566928"/>
          </a:xfrm>
          <a:prstGeom prst="rect">
            <a:avLst/>
          </a:prstGeom>
          <a:noFill/>
          <a:ln/>
        </p:spPr>
        <p:txBody>
          <a:bodyPr wrap="square" lIns="0" tIns="0" rIns="0" bIns="0" rtlCol="0" anchor="t"/>
          <a:lstStyle/>
          <a:p>
            <a:pPr indent="0" marL="0">
              <a:buNone/>
            </a:pPr>
            <a:r>
              <a:rPr lang="en-US" sz="1200" dirty="0">
                <a:solidFill>
                  <a:srgbClr val="E7EBF3"/>
                </a:solidFill>
                <a:latin typeface="Calibri" pitchFamily="34" charset="0"/>
                <a:ea typeface="Calibri" pitchFamily="34" charset="-122"/>
                <a:cs typeface="Calibri" pitchFamily="34" charset="-120"/>
              </a:rPr>
              <a:t>One clear decision in plain words: who, what it costs, the risk and the alternatives</a:t>
            </a:r>
            <a:endParaRPr lang="en-US" sz="1200" dirty="0"/>
          </a:p>
        </p:txBody>
      </p:sp>
      <p:sp>
        <p:nvSpPr>
          <p:cNvPr id="14" name="Shape 11"/>
          <p:cNvSpPr/>
          <p:nvPr/>
        </p:nvSpPr>
        <p:spPr>
          <a:xfrm>
            <a:off x="822960" y="4242816"/>
            <a:ext cx="1691640" cy="256032"/>
          </a:xfrm>
          <a:prstGeom prst="roundRect">
            <a:avLst>
              <a:gd name="adj" fmla="val 50000"/>
            </a:avLst>
          </a:prstGeom>
          <a:solidFill>
            <a:srgbClr val="0A0F1E"/>
          </a:solidFill>
          <a:ln w="12700">
            <a:solidFill>
              <a:srgbClr val="34D399"/>
            </a:solidFill>
            <a:prstDash val="solid"/>
          </a:ln>
        </p:spPr>
      </p:sp>
      <p:sp>
        <p:nvSpPr>
          <p:cNvPr id="15" name="Text 12"/>
          <p:cNvSpPr txBox="1"/>
          <p:nvPr/>
        </p:nvSpPr>
        <p:spPr>
          <a:xfrm>
            <a:off x="822960" y="4274820"/>
            <a:ext cx="1691640" cy="201168"/>
          </a:xfrm>
          <a:prstGeom prst="rect">
            <a:avLst/>
          </a:prstGeom>
          <a:noFill/>
          <a:ln/>
        </p:spPr>
        <p:txBody>
          <a:bodyPr wrap="square" lIns="0" tIns="0" rIns="0" bIns="0" rtlCol="0" anchor="t"/>
          <a:lstStyle/>
          <a:p>
            <a:pPr algn="ctr" indent="0" marL="0">
              <a:buNone/>
            </a:pPr>
            <a:r>
              <a:rPr lang="en-US" sz="900" b="1" spc="150" kern="0" dirty="0">
                <a:solidFill>
                  <a:srgbClr val="34D399"/>
                </a:solidFill>
                <a:latin typeface="Calibri" pitchFamily="34" charset="0"/>
                <a:ea typeface="Calibri" pitchFamily="34" charset="-122"/>
                <a:cs typeface="Calibri" pitchFamily="34" charset="-120"/>
              </a:rPr>
              <a:t>SHOWN IN PROTOTYPE</a:t>
            </a:r>
            <a:endParaRPr lang="en-US" sz="900" dirty="0"/>
          </a:p>
        </p:txBody>
      </p:sp>
      <p:sp>
        <p:nvSpPr>
          <p:cNvPr id="16" name="Text 13"/>
          <p:cNvSpPr txBox="1"/>
          <p:nvPr/>
        </p:nvSpPr>
        <p:spPr>
          <a:xfrm>
            <a:off x="822960" y="4572000"/>
            <a:ext cx="3017520" cy="566928"/>
          </a:xfrm>
          <a:prstGeom prst="rect">
            <a:avLst/>
          </a:prstGeom>
          <a:noFill/>
          <a:ln/>
        </p:spPr>
        <p:txBody>
          <a:bodyPr wrap="square" lIns="0" tIns="0" rIns="0" bIns="0" rtlCol="0" anchor="t"/>
          <a:lstStyle/>
          <a:p>
            <a:pPr indent="0" marL="0">
              <a:buNone/>
            </a:pPr>
            <a:r>
              <a:rPr lang="en-US" sz="1200" dirty="0">
                <a:solidFill>
                  <a:srgbClr val="E7EBF3"/>
                </a:solidFill>
                <a:latin typeface="Calibri" pitchFamily="34" charset="0"/>
                <a:ea typeface="Calibri" pitchFamily="34" charset="-122"/>
                <a:cs typeface="Calibri" pitchFamily="34" charset="-120"/>
              </a:rPr>
              <a:t>Knows whether it worked — or that the test was too small to tell</a:t>
            </a:r>
            <a:endParaRPr lang="en-US" sz="1200" dirty="0"/>
          </a:p>
        </p:txBody>
      </p:sp>
      <p:sp>
        <p:nvSpPr>
          <p:cNvPr id="17" name="Shape 14"/>
          <p:cNvSpPr/>
          <p:nvPr/>
        </p:nvSpPr>
        <p:spPr>
          <a:xfrm>
            <a:off x="4297680" y="1325880"/>
            <a:ext cx="3520440" cy="3977640"/>
          </a:xfrm>
          <a:prstGeom prst="roundRect">
            <a:avLst>
              <a:gd name="adj" fmla="val 3117"/>
            </a:avLst>
          </a:prstGeom>
          <a:solidFill>
            <a:srgbClr val="111831"/>
          </a:solidFill>
          <a:ln w="12700">
            <a:solidFill>
              <a:srgbClr val="26314F"/>
            </a:solidFill>
            <a:prstDash val="solid"/>
          </a:ln>
        </p:spPr>
      </p:sp>
      <p:sp>
        <p:nvSpPr>
          <p:cNvPr id="18" name="Shape 15"/>
          <p:cNvSpPr/>
          <p:nvPr/>
        </p:nvSpPr>
        <p:spPr>
          <a:xfrm>
            <a:off x="4572000" y="1508760"/>
            <a:ext cx="603504" cy="603504"/>
          </a:xfrm>
          <a:prstGeom prst="ellipse">
            <a:avLst/>
          </a:prstGeom>
          <a:solidFill>
            <a:srgbClr val="18213F"/>
          </a:solidFill>
          <a:ln w="12700">
            <a:solidFill>
              <a:srgbClr val="26314F"/>
            </a:solidFill>
            <a:prstDash val="solid"/>
          </a:ln>
        </p:spPr>
      </p:sp>
      <p:pic>
        <p:nvPicPr>
          <p:cNvPr id="19" name="Image 1" descr="user icon">    </p:cNvPr>
          <p:cNvPicPr>
            <a:picLocks noChangeAspect="1"/>
          </p:cNvPicPr>
          <p:nvPr/>
        </p:nvPicPr>
        <p:blipFill>
          <a:blip r:embed="rId2"/>
          <a:stretch>
            <a:fillRect/>
          </a:stretch>
        </p:blipFill>
        <p:spPr>
          <a:xfrm>
            <a:off x="4681728" y="1618488"/>
            <a:ext cx="384048" cy="384048"/>
          </a:xfrm>
          <a:prstGeom prst="rect">
            <a:avLst/>
          </a:prstGeom>
        </p:spPr>
      </p:pic>
      <p:sp>
        <p:nvSpPr>
          <p:cNvPr id="20" name="Text 16"/>
          <p:cNvSpPr txBox="1"/>
          <p:nvPr/>
        </p:nvSpPr>
        <p:spPr>
          <a:xfrm>
            <a:off x="5349240" y="1645920"/>
            <a:ext cx="2377440" cy="365760"/>
          </a:xfrm>
          <a:prstGeom prst="rect">
            <a:avLst/>
          </a:prstGeom>
          <a:noFill/>
          <a:ln/>
        </p:spPr>
        <p:txBody>
          <a:bodyPr wrap="square" lIns="0" tIns="0" rIns="0" bIns="0" rtlCol="0" anchor="t"/>
          <a:lstStyle/>
          <a:p>
            <a:pPr indent="0" marL="0">
              <a:buNone/>
            </a:pPr>
            <a:r>
              <a:rPr lang="en-US" sz="1700" b="1" dirty="0">
                <a:solidFill>
                  <a:srgbClr val="E7EBF3"/>
                </a:solidFill>
                <a:latin typeface="Calibri" pitchFamily="34" charset="0"/>
                <a:ea typeface="Calibri" pitchFamily="34" charset="-122"/>
                <a:cs typeface="Calibri" pitchFamily="34" charset="-120"/>
              </a:rPr>
              <a:t>For their customers</a:t>
            </a:r>
            <a:endParaRPr lang="en-US" sz="1700" dirty="0"/>
          </a:p>
        </p:txBody>
      </p:sp>
      <p:sp>
        <p:nvSpPr>
          <p:cNvPr id="21" name="Shape 17"/>
          <p:cNvSpPr/>
          <p:nvPr/>
        </p:nvSpPr>
        <p:spPr>
          <a:xfrm>
            <a:off x="4572000" y="2377440"/>
            <a:ext cx="1691640" cy="256032"/>
          </a:xfrm>
          <a:prstGeom prst="roundRect">
            <a:avLst>
              <a:gd name="adj" fmla="val 50000"/>
            </a:avLst>
          </a:prstGeom>
          <a:solidFill>
            <a:srgbClr val="0A0F1E"/>
          </a:solidFill>
          <a:ln w="12700">
            <a:solidFill>
              <a:srgbClr val="34D399"/>
            </a:solidFill>
            <a:prstDash val="solid"/>
          </a:ln>
        </p:spPr>
      </p:sp>
      <p:sp>
        <p:nvSpPr>
          <p:cNvPr id="22" name="Text 18"/>
          <p:cNvSpPr txBox="1"/>
          <p:nvPr/>
        </p:nvSpPr>
        <p:spPr>
          <a:xfrm>
            <a:off x="4572000" y="2409444"/>
            <a:ext cx="1691640" cy="201168"/>
          </a:xfrm>
          <a:prstGeom prst="rect">
            <a:avLst/>
          </a:prstGeom>
          <a:noFill/>
          <a:ln/>
        </p:spPr>
        <p:txBody>
          <a:bodyPr wrap="square" lIns="0" tIns="0" rIns="0" bIns="0" rtlCol="0" anchor="t"/>
          <a:lstStyle/>
          <a:p>
            <a:pPr algn="ctr" indent="0" marL="0">
              <a:buNone/>
            </a:pPr>
            <a:r>
              <a:rPr lang="en-US" sz="900" b="1" spc="150" kern="0" dirty="0">
                <a:solidFill>
                  <a:srgbClr val="34D399"/>
                </a:solidFill>
                <a:latin typeface="Calibri" pitchFamily="34" charset="0"/>
                <a:ea typeface="Calibri" pitchFamily="34" charset="-122"/>
                <a:cs typeface="Calibri" pitchFamily="34" charset="-120"/>
              </a:rPr>
              <a:t>SHOWN IN PROTOTYPE</a:t>
            </a:r>
            <a:endParaRPr lang="en-US" sz="900" dirty="0"/>
          </a:p>
        </p:txBody>
      </p:sp>
      <p:sp>
        <p:nvSpPr>
          <p:cNvPr id="23" name="Text 19"/>
          <p:cNvSpPr txBox="1"/>
          <p:nvPr/>
        </p:nvSpPr>
        <p:spPr>
          <a:xfrm>
            <a:off x="4572000" y="2706624"/>
            <a:ext cx="3017520" cy="566928"/>
          </a:xfrm>
          <a:prstGeom prst="rect">
            <a:avLst/>
          </a:prstGeom>
          <a:noFill/>
          <a:ln/>
        </p:spPr>
        <p:txBody>
          <a:bodyPr wrap="square" lIns="0" tIns="0" rIns="0" bIns="0" rtlCol="0" anchor="t"/>
          <a:lstStyle/>
          <a:p>
            <a:pPr indent="0" marL="0">
              <a:buNone/>
            </a:pPr>
            <a:r>
              <a:rPr lang="en-US" sz="1200" dirty="0">
                <a:solidFill>
                  <a:srgbClr val="E7EBF3"/>
                </a:solidFill>
                <a:latin typeface="Calibri" pitchFamily="34" charset="0"/>
                <a:ea typeface="Calibri" pitchFamily="34" charset="-122"/>
                <a:cs typeface="Calibri" pitchFamily="34" charset="-120"/>
              </a:rPr>
              <a:t>Fewer, more relevant offers: 27 lapsed regulars contacted, not every customer</a:t>
            </a:r>
            <a:endParaRPr lang="en-US" sz="1200" dirty="0"/>
          </a:p>
        </p:txBody>
      </p:sp>
      <p:sp>
        <p:nvSpPr>
          <p:cNvPr id="24" name="Shape 20"/>
          <p:cNvSpPr/>
          <p:nvPr/>
        </p:nvSpPr>
        <p:spPr>
          <a:xfrm>
            <a:off x="4572000" y="3310128"/>
            <a:ext cx="1691640" cy="256032"/>
          </a:xfrm>
          <a:prstGeom prst="roundRect">
            <a:avLst>
              <a:gd name="adj" fmla="val 50000"/>
            </a:avLst>
          </a:prstGeom>
          <a:solidFill>
            <a:srgbClr val="0A0F1E"/>
          </a:solidFill>
          <a:ln w="12700">
            <a:solidFill>
              <a:srgbClr val="34D399"/>
            </a:solidFill>
            <a:prstDash val="solid"/>
          </a:ln>
        </p:spPr>
      </p:sp>
      <p:sp>
        <p:nvSpPr>
          <p:cNvPr id="25" name="Text 21"/>
          <p:cNvSpPr txBox="1"/>
          <p:nvPr/>
        </p:nvSpPr>
        <p:spPr>
          <a:xfrm>
            <a:off x="4572000" y="3342132"/>
            <a:ext cx="1691640" cy="201168"/>
          </a:xfrm>
          <a:prstGeom prst="rect">
            <a:avLst/>
          </a:prstGeom>
          <a:noFill/>
          <a:ln/>
        </p:spPr>
        <p:txBody>
          <a:bodyPr wrap="square" lIns="0" tIns="0" rIns="0" bIns="0" rtlCol="0" anchor="t"/>
          <a:lstStyle/>
          <a:p>
            <a:pPr algn="ctr" indent="0" marL="0">
              <a:buNone/>
            </a:pPr>
            <a:r>
              <a:rPr lang="en-US" sz="900" b="1" spc="150" kern="0" dirty="0">
                <a:solidFill>
                  <a:srgbClr val="34D399"/>
                </a:solidFill>
                <a:latin typeface="Calibri" pitchFamily="34" charset="0"/>
                <a:ea typeface="Calibri" pitchFamily="34" charset="-122"/>
                <a:cs typeface="Calibri" pitchFamily="34" charset="-120"/>
              </a:rPr>
              <a:t>SHOWN IN PROTOTYPE</a:t>
            </a:r>
            <a:endParaRPr lang="en-US" sz="900" dirty="0"/>
          </a:p>
        </p:txBody>
      </p:sp>
      <p:sp>
        <p:nvSpPr>
          <p:cNvPr id="26" name="Text 22"/>
          <p:cNvSpPr txBox="1"/>
          <p:nvPr/>
        </p:nvSpPr>
        <p:spPr>
          <a:xfrm>
            <a:off x="4572000" y="3639312"/>
            <a:ext cx="3017520" cy="566928"/>
          </a:xfrm>
          <a:prstGeom prst="rect">
            <a:avLst/>
          </a:prstGeom>
          <a:noFill/>
          <a:ln/>
        </p:spPr>
        <p:txBody>
          <a:bodyPr wrap="square" lIns="0" tIns="0" rIns="0" bIns="0" rtlCol="0" anchor="t"/>
          <a:lstStyle/>
          <a:p>
            <a:pPr indent="0" marL="0">
              <a:buNone/>
            </a:pPr>
            <a:r>
              <a:rPr lang="en-US" sz="1200" dirty="0">
                <a:solidFill>
                  <a:srgbClr val="E7EBF3"/>
                </a:solidFill>
                <a:latin typeface="Calibri" pitchFamily="34" charset="0"/>
                <a:ea typeface="Calibri" pitchFamily="34" charset="-122"/>
                <a:cs typeface="Calibri" pitchFamily="34" charset="-120"/>
              </a:rPr>
              <a:t>Messages must state the offer’s real terms</a:t>
            </a:r>
            <a:endParaRPr lang="en-US" sz="1200" dirty="0"/>
          </a:p>
        </p:txBody>
      </p:sp>
      <p:sp>
        <p:nvSpPr>
          <p:cNvPr id="27" name="Shape 23"/>
          <p:cNvSpPr/>
          <p:nvPr/>
        </p:nvSpPr>
        <p:spPr>
          <a:xfrm>
            <a:off x="8046720" y="1325880"/>
            <a:ext cx="3520440" cy="3977640"/>
          </a:xfrm>
          <a:prstGeom prst="roundRect">
            <a:avLst>
              <a:gd name="adj" fmla="val 3117"/>
            </a:avLst>
          </a:prstGeom>
          <a:solidFill>
            <a:srgbClr val="111831"/>
          </a:solidFill>
          <a:ln w="12700">
            <a:solidFill>
              <a:srgbClr val="26314F"/>
            </a:solidFill>
            <a:prstDash val="solid"/>
          </a:ln>
        </p:spPr>
      </p:sp>
      <p:sp>
        <p:nvSpPr>
          <p:cNvPr id="28" name="Shape 24"/>
          <p:cNvSpPr/>
          <p:nvPr/>
        </p:nvSpPr>
        <p:spPr>
          <a:xfrm>
            <a:off x="8321040" y="1508760"/>
            <a:ext cx="603504" cy="603504"/>
          </a:xfrm>
          <a:prstGeom prst="ellipse">
            <a:avLst/>
          </a:prstGeom>
          <a:solidFill>
            <a:srgbClr val="18213F"/>
          </a:solidFill>
          <a:ln w="12700">
            <a:solidFill>
              <a:srgbClr val="26314F"/>
            </a:solidFill>
            <a:prstDash val="solid"/>
          </a:ln>
        </p:spPr>
      </p:sp>
      <p:pic>
        <p:nvPicPr>
          <p:cNvPr id="29" name="Image 2" descr="zap icon">    </p:cNvPr>
          <p:cNvPicPr>
            <a:picLocks noChangeAspect="1"/>
          </p:cNvPicPr>
          <p:nvPr/>
        </p:nvPicPr>
        <p:blipFill>
          <a:blip r:embed="rId3"/>
          <a:stretch>
            <a:fillRect/>
          </a:stretch>
        </p:blipFill>
        <p:spPr>
          <a:xfrm>
            <a:off x="8430768" y="1618488"/>
            <a:ext cx="384048" cy="384048"/>
          </a:xfrm>
          <a:prstGeom prst="rect">
            <a:avLst/>
          </a:prstGeom>
        </p:spPr>
      </p:pic>
      <p:sp>
        <p:nvSpPr>
          <p:cNvPr id="30" name="Text 25"/>
          <p:cNvSpPr txBox="1"/>
          <p:nvPr/>
        </p:nvSpPr>
        <p:spPr>
          <a:xfrm>
            <a:off x="9098280" y="1645920"/>
            <a:ext cx="2377440" cy="365760"/>
          </a:xfrm>
          <a:prstGeom prst="rect">
            <a:avLst/>
          </a:prstGeom>
          <a:noFill/>
          <a:ln/>
        </p:spPr>
        <p:txBody>
          <a:bodyPr wrap="square" lIns="0" tIns="0" rIns="0" bIns="0" rtlCol="0" anchor="t"/>
          <a:lstStyle/>
          <a:p>
            <a:pPr indent="0" marL="0">
              <a:buNone/>
            </a:pPr>
            <a:r>
              <a:rPr lang="en-US" sz="1700" b="1" dirty="0">
                <a:solidFill>
                  <a:srgbClr val="E7EBF3"/>
                </a:solidFill>
                <a:latin typeface="Calibri" pitchFamily="34" charset="0"/>
                <a:ea typeface="Calibri" pitchFamily="34" charset="-122"/>
                <a:cs typeface="Calibri" pitchFamily="34" charset="-120"/>
              </a:rPr>
              <a:t>For the platform</a:t>
            </a:r>
            <a:endParaRPr lang="en-US" sz="1700" dirty="0"/>
          </a:p>
        </p:txBody>
      </p:sp>
      <p:sp>
        <p:nvSpPr>
          <p:cNvPr id="31" name="Shape 26"/>
          <p:cNvSpPr/>
          <p:nvPr/>
        </p:nvSpPr>
        <p:spPr>
          <a:xfrm>
            <a:off x="8321040" y="2377440"/>
            <a:ext cx="1691640" cy="256032"/>
          </a:xfrm>
          <a:prstGeom prst="roundRect">
            <a:avLst>
              <a:gd name="adj" fmla="val 50000"/>
            </a:avLst>
          </a:prstGeom>
          <a:solidFill>
            <a:srgbClr val="0A0F1E"/>
          </a:solidFill>
          <a:ln w="12700">
            <a:solidFill>
              <a:srgbClr val="34D399"/>
            </a:solidFill>
            <a:prstDash val="solid"/>
          </a:ln>
        </p:spPr>
      </p:sp>
      <p:sp>
        <p:nvSpPr>
          <p:cNvPr id="32" name="Text 27"/>
          <p:cNvSpPr txBox="1"/>
          <p:nvPr/>
        </p:nvSpPr>
        <p:spPr>
          <a:xfrm>
            <a:off x="8321040" y="2409444"/>
            <a:ext cx="1691640" cy="201168"/>
          </a:xfrm>
          <a:prstGeom prst="rect">
            <a:avLst/>
          </a:prstGeom>
          <a:noFill/>
          <a:ln/>
        </p:spPr>
        <p:txBody>
          <a:bodyPr wrap="square" lIns="0" tIns="0" rIns="0" bIns="0" rtlCol="0" anchor="t"/>
          <a:lstStyle/>
          <a:p>
            <a:pPr algn="ctr" indent="0" marL="0">
              <a:buNone/>
            </a:pPr>
            <a:r>
              <a:rPr lang="en-US" sz="900" b="1" spc="150" kern="0" dirty="0">
                <a:solidFill>
                  <a:srgbClr val="34D399"/>
                </a:solidFill>
                <a:latin typeface="Calibri" pitchFamily="34" charset="0"/>
                <a:ea typeface="Calibri" pitchFamily="34" charset="-122"/>
                <a:cs typeface="Calibri" pitchFamily="34" charset="-120"/>
              </a:rPr>
              <a:t>SHOWN IN PROTOTYPE</a:t>
            </a:r>
            <a:endParaRPr lang="en-US" sz="900" dirty="0"/>
          </a:p>
        </p:txBody>
      </p:sp>
      <p:sp>
        <p:nvSpPr>
          <p:cNvPr id="33" name="Text 28"/>
          <p:cNvSpPr txBox="1"/>
          <p:nvPr/>
        </p:nvSpPr>
        <p:spPr>
          <a:xfrm>
            <a:off x="8321040" y="2706624"/>
            <a:ext cx="3017520" cy="566928"/>
          </a:xfrm>
          <a:prstGeom prst="rect">
            <a:avLst/>
          </a:prstGeom>
          <a:noFill/>
          <a:ln/>
        </p:spPr>
        <p:txBody>
          <a:bodyPr wrap="square" lIns="0" tIns="0" rIns="0" bIns="0" rtlCol="0" anchor="t"/>
          <a:lstStyle/>
          <a:p>
            <a:pPr indent="0" marL="0">
              <a:buNone/>
            </a:pPr>
            <a:r>
              <a:rPr lang="en-US" sz="1200" dirty="0">
                <a:solidFill>
                  <a:srgbClr val="E7EBF3"/>
                </a:solidFill>
                <a:latin typeface="Calibri" pitchFamily="34" charset="0"/>
                <a:ea typeface="Calibri" pitchFamily="34" charset="-122"/>
                <a:cs typeface="Calibri" pitchFamily="34" charset="-120"/>
              </a:rPr>
              <a:t>Merchant-facing AI that does not invent figures (on tested cases)</a:t>
            </a:r>
            <a:endParaRPr lang="en-US" sz="1200" dirty="0"/>
          </a:p>
        </p:txBody>
      </p:sp>
      <p:sp>
        <p:nvSpPr>
          <p:cNvPr id="34" name="Shape 29"/>
          <p:cNvSpPr/>
          <p:nvPr/>
        </p:nvSpPr>
        <p:spPr>
          <a:xfrm>
            <a:off x="8321040" y="3310128"/>
            <a:ext cx="1600200" cy="256032"/>
          </a:xfrm>
          <a:prstGeom prst="roundRect">
            <a:avLst>
              <a:gd name="adj" fmla="val 50000"/>
            </a:avLst>
          </a:prstGeom>
          <a:solidFill>
            <a:srgbClr val="0A0F1E"/>
          </a:solidFill>
          <a:ln w="12700">
            <a:solidFill>
              <a:srgbClr val="F5B544"/>
            </a:solidFill>
            <a:prstDash val="solid"/>
          </a:ln>
        </p:spPr>
      </p:sp>
      <p:sp>
        <p:nvSpPr>
          <p:cNvPr id="35" name="Text 30"/>
          <p:cNvSpPr txBox="1"/>
          <p:nvPr/>
        </p:nvSpPr>
        <p:spPr>
          <a:xfrm>
            <a:off x="8321040" y="3342132"/>
            <a:ext cx="1600200" cy="201168"/>
          </a:xfrm>
          <a:prstGeom prst="rect">
            <a:avLst/>
          </a:prstGeom>
          <a:noFill/>
          <a:ln/>
        </p:spPr>
        <p:txBody>
          <a:bodyPr wrap="square" lIns="0" tIns="0" rIns="0" bIns="0" rtlCol="0" anchor="t"/>
          <a:lstStyle/>
          <a:p>
            <a:pPr algn="ctr" indent="0" marL="0">
              <a:buNone/>
            </a:pPr>
            <a:r>
              <a:rPr lang="en-US" sz="900" b="1" spc="150" kern="0" dirty="0">
                <a:solidFill>
                  <a:srgbClr val="F5B544"/>
                </a:solidFill>
                <a:latin typeface="Calibri" pitchFamily="34" charset="0"/>
                <a:ea typeface="Calibri" pitchFamily="34" charset="-122"/>
                <a:cs typeface="Calibri" pitchFamily="34" charset="-120"/>
              </a:rPr>
              <a:t>EXPECTED — TO TEST</a:t>
            </a:r>
            <a:endParaRPr lang="en-US" sz="900" dirty="0"/>
          </a:p>
        </p:txBody>
      </p:sp>
      <p:sp>
        <p:nvSpPr>
          <p:cNvPr id="36" name="Text 31"/>
          <p:cNvSpPr txBox="1"/>
          <p:nvPr/>
        </p:nvSpPr>
        <p:spPr>
          <a:xfrm>
            <a:off x="8321040" y="3639312"/>
            <a:ext cx="3017520" cy="566928"/>
          </a:xfrm>
          <a:prstGeom prst="rect">
            <a:avLst/>
          </a:prstGeom>
          <a:noFill/>
          <a:ln/>
        </p:spPr>
        <p:txBody>
          <a:bodyPr wrap="square" lIns="0" tIns="0" rIns="0" bIns="0" rtlCol="0" anchor="t"/>
          <a:lstStyle/>
          <a:p>
            <a:pPr indent="0" marL="0">
              <a:buNone/>
            </a:pPr>
            <a:r>
              <a:rPr lang="en-US" sz="1200" dirty="0">
                <a:solidFill>
                  <a:srgbClr val="E7EBF3"/>
                </a:solidFill>
                <a:latin typeface="Calibri" pitchFamily="34" charset="0"/>
                <a:ea typeface="Calibri" pitchFamily="34" charset="-122"/>
                <a:cs typeface="Calibri" pitchFamily="34" charset="-120"/>
              </a:rPr>
              <a:t>A weekly reason for merchants to come back to the app</a:t>
            </a:r>
            <a:endParaRPr lang="en-US" sz="1200" dirty="0"/>
          </a:p>
        </p:txBody>
      </p:sp>
      <p:sp>
        <p:nvSpPr>
          <p:cNvPr id="37" name="Shape 32"/>
          <p:cNvSpPr/>
          <p:nvPr/>
        </p:nvSpPr>
        <p:spPr>
          <a:xfrm>
            <a:off x="8321040" y="4242816"/>
            <a:ext cx="1600200" cy="256032"/>
          </a:xfrm>
          <a:prstGeom prst="roundRect">
            <a:avLst>
              <a:gd name="adj" fmla="val 50000"/>
            </a:avLst>
          </a:prstGeom>
          <a:solidFill>
            <a:srgbClr val="0A0F1E"/>
          </a:solidFill>
          <a:ln w="12700">
            <a:solidFill>
              <a:srgbClr val="F5B544"/>
            </a:solidFill>
            <a:prstDash val="solid"/>
          </a:ln>
        </p:spPr>
      </p:sp>
      <p:sp>
        <p:nvSpPr>
          <p:cNvPr id="38" name="Text 33"/>
          <p:cNvSpPr txBox="1"/>
          <p:nvPr/>
        </p:nvSpPr>
        <p:spPr>
          <a:xfrm>
            <a:off x="8321040" y="4274820"/>
            <a:ext cx="1600200" cy="201168"/>
          </a:xfrm>
          <a:prstGeom prst="rect">
            <a:avLst/>
          </a:prstGeom>
          <a:noFill/>
          <a:ln/>
        </p:spPr>
        <p:txBody>
          <a:bodyPr wrap="square" lIns="0" tIns="0" rIns="0" bIns="0" rtlCol="0" anchor="t"/>
          <a:lstStyle/>
          <a:p>
            <a:pPr algn="ctr" indent="0" marL="0">
              <a:buNone/>
            </a:pPr>
            <a:r>
              <a:rPr lang="en-US" sz="900" b="1" spc="150" kern="0" dirty="0">
                <a:solidFill>
                  <a:srgbClr val="F5B544"/>
                </a:solidFill>
                <a:latin typeface="Calibri" pitchFamily="34" charset="0"/>
                <a:ea typeface="Calibri" pitchFamily="34" charset="-122"/>
                <a:cs typeface="Calibri" pitchFamily="34" charset="-120"/>
              </a:rPr>
              <a:t>EXPECTED — TO TEST</a:t>
            </a:r>
            <a:endParaRPr lang="en-US" sz="900" dirty="0"/>
          </a:p>
        </p:txBody>
      </p:sp>
      <p:sp>
        <p:nvSpPr>
          <p:cNvPr id="39" name="Text 34"/>
          <p:cNvSpPr txBox="1"/>
          <p:nvPr/>
        </p:nvSpPr>
        <p:spPr>
          <a:xfrm>
            <a:off x="8321040" y="4572000"/>
            <a:ext cx="3017520" cy="566928"/>
          </a:xfrm>
          <a:prstGeom prst="rect">
            <a:avLst/>
          </a:prstGeom>
          <a:noFill/>
          <a:ln/>
        </p:spPr>
        <p:txBody>
          <a:bodyPr wrap="square" lIns="0" tIns="0" rIns="0" bIns="0" rtlCol="0" anchor="t"/>
          <a:lstStyle/>
          <a:p>
            <a:pPr indent="0" marL="0">
              <a:buNone/>
            </a:pPr>
            <a:r>
              <a:rPr lang="en-US" sz="1200" dirty="0">
                <a:solidFill>
                  <a:srgbClr val="E7EBF3"/>
                </a:solidFill>
                <a:latin typeface="Calibri" pitchFamily="34" charset="0"/>
                <a:ea typeface="Calibri" pitchFamily="34" charset="-122"/>
                <a:cs typeface="Calibri" pitchFamily="34" charset="-120"/>
              </a:rPr>
              <a:t>Holdout results across merchants show which offers really work</a:t>
            </a:r>
            <a:endParaRPr lang="en-US" sz="1200" dirty="0"/>
          </a:p>
        </p:txBody>
      </p:sp>
      <p:sp>
        <p:nvSpPr>
          <p:cNvPr id="40" name="Shape 35"/>
          <p:cNvSpPr/>
          <p:nvPr/>
        </p:nvSpPr>
        <p:spPr>
          <a:xfrm>
            <a:off x="548640" y="5486400"/>
            <a:ext cx="11094415" cy="566928"/>
          </a:xfrm>
          <a:prstGeom prst="roundRect">
            <a:avLst>
              <a:gd name="adj" fmla="val 19355"/>
            </a:avLst>
          </a:prstGeom>
          <a:solidFill>
            <a:srgbClr val="0A0F1E"/>
          </a:solidFill>
          <a:ln w="12700">
            <a:solidFill>
              <a:srgbClr val="F5B544"/>
            </a:solidFill>
            <a:prstDash val="solid"/>
          </a:ln>
        </p:spPr>
      </p:sp>
      <p:sp>
        <p:nvSpPr>
          <p:cNvPr id="41" name="Text 36"/>
          <p:cNvSpPr txBox="1"/>
          <p:nvPr/>
        </p:nvSpPr>
        <p:spPr>
          <a:xfrm>
            <a:off x="822960" y="5486400"/>
            <a:ext cx="10545775" cy="566928"/>
          </a:xfrm>
          <a:prstGeom prst="rect">
            <a:avLst/>
          </a:prstGeom>
          <a:noFill/>
          <a:ln/>
        </p:spPr>
        <p:txBody>
          <a:bodyPr wrap="square" lIns="0" tIns="0" rIns="0" bIns="0" rtlCol="0" anchor="ctr"/>
          <a:lstStyle/>
          <a:p>
            <a:pPr indent="0" marL="0">
              <a:buNone/>
            </a:pPr>
            <a:r>
              <a:rPr lang="en-US" sz="1300" b="1" dirty="0">
                <a:solidFill>
                  <a:srgbClr val="F5B544"/>
                </a:solidFill>
                <a:latin typeface="Calibri" pitchFamily="34" charset="0"/>
                <a:ea typeface="Calibri" pitchFamily="34" charset="-122"/>
                <a:cs typeface="Calibri" pitchFamily="34" charset="-120"/>
              </a:rPr>
              <a:t>Not yet shown: </a:t>
            </a:r>
            <a:pPr indent="0" marL="0">
              <a:buNone/>
            </a:pPr>
            <a:r>
              <a:rPr lang="en-US" sz="1300" dirty="0">
                <a:solidFill>
                  <a:srgbClr val="E7EBF3"/>
                </a:solidFill>
                <a:latin typeface="Calibri" pitchFamily="34" charset="0"/>
                <a:ea typeface="Calibri" pitchFamily="34" charset="-122"/>
                <a:cs typeface="Calibri" pitchFamily="34" charset="-120"/>
              </a:rPr>
              <a:t>revenue impact for real merchants. “Shown” means demonstrated on synthetic data; proving real impact is the pilot’s job.</a:t>
            </a:r>
            <a:endParaRPr lang="en-US" sz="1300" dirty="0"/>
          </a:p>
        </p:txBody>
      </p:sp>
      <p:sp>
        <p:nvSpPr>
          <p:cNvPr id="25" name="Slide Number Placeholder 0"/>
          <p:cNvSpPr>
            <a:spLocks noGrp="1"/>
          </p:cNvSpPr>
          <p:nvPr>
            <p:ph type="sldNum" sz="quarter" idx="4294967295"/>
          </p:nvPr>
        </p:nvSpPr>
        <p:spPr>
          <a:xfrm>
            <a:off x="11185855" y="647395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AA4BD"/>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146304"/>
            <a:ext cx="7315200" cy="219456"/>
          </a:xfrm>
          <a:prstGeom prst="rect">
            <a:avLst/>
          </a:prstGeom>
          <a:noFill/>
          <a:ln/>
        </p:spPr>
        <p:txBody>
          <a:bodyPr wrap="square" lIns="0" tIns="0" rIns="0" bIns="0" rtlCol="0" anchor="t"/>
          <a:lstStyle/>
          <a:p>
            <a:pPr indent="0" marL="0">
              <a:buNone/>
            </a:pPr>
            <a:r>
              <a:rPr lang="en-US" sz="1000" b="1" spc="200" kern="0" dirty="0">
                <a:solidFill>
                  <a:srgbClr val="4C8DFF"/>
                </a:solidFill>
                <a:latin typeface="Calibri" pitchFamily="34" charset="0"/>
                <a:ea typeface="Calibri" pitchFamily="34" charset="-122"/>
                <a:cs typeface="Calibri" pitchFamily="34" charset="-120"/>
              </a:rPr>
              <a:t>BUSINESS MODEL</a:t>
            </a:r>
            <a:endParaRPr lang="en-US" sz="1000" dirty="0"/>
          </a:p>
        </p:txBody>
      </p:sp>
      <p:sp>
        <p:nvSpPr>
          <p:cNvPr id="3" name="Text 0"/>
          <p:cNvSpPr/>
          <p:nvPr>
            <p:ph idx="100" type="title" hasCustomPrompt="1"/>
          </p:nvPr>
        </p:nvSpPr>
        <p:spPr>
          <a:xfrm>
            <a:off x="548640" y="384048"/>
            <a:ext cx="11094415" cy="777240"/>
          </a:xfrm>
          <a:prstGeom prst="rect">
            <a:avLst/>
          </a:prstGeom>
          <a:noFill/>
          <a:ln/>
        </p:spPr>
        <p:txBody>
          <a:bodyPr wrap="square" lIns="0" tIns="0" rIns="0" bIns="0" rtlCol="0" anchor="t"/>
          <a:lstStyle/>
          <a:p>
            <a:pPr algn="l" indent="0" marL="0">
              <a:buNone/>
            </a:pPr>
            <a:r>
              <a:rPr lang="en-US" sz="2800" b="1" dirty="0">
                <a:solidFill>
                  <a:srgbClr val="E7EBF3"/>
                </a:solidFill>
                <a:latin typeface="Cambria" pitchFamily="34" charset="0"/>
                <a:ea typeface="Cambria" pitchFamily="34" charset="-122"/>
                <a:cs typeface="Cambria" pitchFamily="34" charset="-120"/>
              </a:rPr>
              <a:t>Business model (proposed): a decision layer in the payment app</a:t>
            </a:r>
            <a:endParaRPr lang="en-US" sz="2800" dirty="0"/>
          </a:p>
        </p:txBody>
      </p:sp>
      <p:sp>
        <p:nvSpPr>
          <p:cNvPr id="4" name="Shape 2"/>
          <p:cNvSpPr/>
          <p:nvPr/>
        </p:nvSpPr>
        <p:spPr>
          <a:xfrm>
            <a:off x="548640" y="1234440"/>
            <a:ext cx="2377440" cy="256032"/>
          </a:xfrm>
          <a:prstGeom prst="roundRect">
            <a:avLst>
              <a:gd name="adj" fmla="val 50000"/>
            </a:avLst>
          </a:prstGeom>
          <a:solidFill>
            <a:srgbClr val="0A0F1E"/>
          </a:solidFill>
          <a:ln w="12700">
            <a:solidFill>
              <a:srgbClr val="F5B544"/>
            </a:solidFill>
            <a:prstDash val="solid"/>
          </a:ln>
        </p:spPr>
      </p:sp>
      <p:sp>
        <p:nvSpPr>
          <p:cNvPr id="5" name="Text 3"/>
          <p:cNvSpPr txBox="1"/>
          <p:nvPr/>
        </p:nvSpPr>
        <p:spPr>
          <a:xfrm>
            <a:off x="548640" y="1266444"/>
            <a:ext cx="2377440" cy="201168"/>
          </a:xfrm>
          <a:prstGeom prst="rect">
            <a:avLst/>
          </a:prstGeom>
          <a:noFill/>
          <a:ln/>
        </p:spPr>
        <p:txBody>
          <a:bodyPr wrap="square" lIns="0" tIns="0" rIns="0" bIns="0" rtlCol="0" anchor="t"/>
          <a:lstStyle/>
          <a:p>
            <a:pPr algn="ctr" indent="0" marL="0">
              <a:buNone/>
            </a:pPr>
            <a:r>
              <a:rPr lang="en-US" sz="900" b="1" spc="150" kern="0" dirty="0">
                <a:solidFill>
                  <a:srgbClr val="F5B544"/>
                </a:solidFill>
                <a:latin typeface="Calibri" pitchFamily="34" charset="0"/>
                <a:ea typeface="Calibri" pitchFamily="34" charset="-122"/>
                <a:cs typeface="Calibri" pitchFamily="34" charset="-120"/>
              </a:rPr>
              <a:t>PROPOSED — NOT VALIDATED</a:t>
            </a:r>
            <a:endParaRPr lang="en-US" sz="900" dirty="0"/>
          </a:p>
        </p:txBody>
      </p:sp>
      <p:sp>
        <p:nvSpPr>
          <p:cNvPr id="6" name="Shape 4"/>
          <p:cNvSpPr/>
          <p:nvPr/>
        </p:nvSpPr>
        <p:spPr>
          <a:xfrm>
            <a:off x="548640" y="1737360"/>
            <a:ext cx="5394960" cy="1645920"/>
          </a:xfrm>
          <a:prstGeom prst="roundRect">
            <a:avLst>
              <a:gd name="adj" fmla="val 6667"/>
            </a:avLst>
          </a:prstGeom>
          <a:solidFill>
            <a:srgbClr val="111831"/>
          </a:solidFill>
          <a:ln w="12700">
            <a:solidFill>
              <a:srgbClr val="26314F"/>
            </a:solidFill>
            <a:prstDash val="solid"/>
          </a:ln>
        </p:spPr>
      </p:sp>
      <p:sp>
        <p:nvSpPr>
          <p:cNvPr id="7" name="Shape 5"/>
          <p:cNvSpPr/>
          <p:nvPr/>
        </p:nvSpPr>
        <p:spPr>
          <a:xfrm>
            <a:off x="822960" y="2011680"/>
            <a:ext cx="603504" cy="603504"/>
          </a:xfrm>
          <a:prstGeom prst="ellipse">
            <a:avLst/>
          </a:prstGeom>
          <a:solidFill>
            <a:srgbClr val="18213F"/>
          </a:solidFill>
          <a:ln w="12700">
            <a:solidFill>
              <a:srgbClr val="26314F"/>
            </a:solidFill>
            <a:prstDash val="solid"/>
          </a:ln>
        </p:spPr>
      </p:sp>
      <p:pic>
        <p:nvPicPr>
          <p:cNvPr id="8" name="Image 0" descr="store icon">    </p:cNvPr>
          <p:cNvPicPr>
            <a:picLocks noChangeAspect="1"/>
          </p:cNvPicPr>
          <p:nvPr/>
        </p:nvPicPr>
        <p:blipFill>
          <a:blip r:embed="rId1"/>
          <a:stretch>
            <a:fillRect/>
          </a:stretch>
        </p:blipFill>
        <p:spPr>
          <a:xfrm>
            <a:off x="932688" y="2121408"/>
            <a:ext cx="384048" cy="384048"/>
          </a:xfrm>
          <a:prstGeom prst="rect">
            <a:avLst/>
          </a:prstGeom>
        </p:spPr>
      </p:pic>
      <p:sp>
        <p:nvSpPr>
          <p:cNvPr id="9" name="Text 6"/>
          <p:cNvSpPr txBox="1"/>
          <p:nvPr/>
        </p:nvSpPr>
        <p:spPr>
          <a:xfrm>
            <a:off x="1645920" y="2029968"/>
            <a:ext cx="4114800" cy="365760"/>
          </a:xfrm>
          <a:prstGeom prst="rect">
            <a:avLst/>
          </a:prstGeom>
          <a:noFill/>
          <a:ln/>
        </p:spPr>
        <p:txBody>
          <a:bodyPr wrap="square" lIns="0" tIns="0" rIns="0" bIns="0" rtlCol="0" anchor="t"/>
          <a:lstStyle/>
          <a:p>
            <a:pPr indent="0" marL="0">
              <a:buNone/>
            </a:pPr>
            <a:r>
              <a:rPr lang="en-US" sz="1700" b="1" dirty="0">
                <a:solidFill>
                  <a:srgbClr val="E7EBF3"/>
                </a:solidFill>
                <a:latin typeface="Calibri" pitchFamily="34" charset="0"/>
                <a:ea typeface="Calibri" pitchFamily="34" charset="-122"/>
                <a:cs typeface="Calibri" pitchFamily="34" charset="-120"/>
              </a:rPr>
              <a:t>First merchants</a:t>
            </a:r>
            <a:endParaRPr lang="en-US" sz="1700" dirty="0"/>
          </a:p>
        </p:txBody>
      </p:sp>
      <p:sp>
        <p:nvSpPr>
          <p:cNvPr id="10" name="Text 7"/>
          <p:cNvSpPr txBox="1"/>
          <p:nvPr/>
        </p:nvSpPr>
        <p:spPr>
          <a:xfrm>
            <a:off x="1645920" y="2450592"/>
            <a:ext cx="4114800" cy="1005840"/>
          </a:xfrm>
          <a:prstGeom prst="rect">
            <a:avLst/>
          </a:prstGeom>
          <a:noFill/>
          <a:ln/>
        </p:spPr>
        <p:txBody>
          <a:bodyPr wrap="square" lIns="0" tIns="0" rIns="0" bIns="0" rtlCol="0" anchor="t"/>
          <a:lstStyle/>
          <a:p>
            <a:pPr indent="0" marL="0">
              <a:buNone/>
            </a:pPr>
            <a:r>
              <a:rPr lang="en-US" sz="1250" dirty="0">
                <a:solidFill>
                  <a:srgbClr val="9AA4BD"/>
                </a:solidFill>
                <a:latin typeface="Calibri" pitchFamily="34" charset="0"/>
                <a:ea typeface="Calibri" pitchFamily="34" charset="-122"/>
                <a:cs typeface="Calibri" pitchFamily="34" charset="-120"/>
              </a:rPr>
              <a:t>Repeat-visit businesses already taking digital payments — bakeries, cafés, kiranas — where regulars drive revenue (91% of revenue from returning customers in our synthetic shop).</a:t>
            </a:r>
            <a:endParaRPr lang="en-US" sz="1250" dirty="0"/>
          </a:p>
        </p:txBody>
      </p:sp>
      <p:sp>
        <p:nvSpPr>
          <p:cNvPr id="11" name="Shape 8"/>
          <p:cNvSpPr/>
          <p:nvPr/>
        </p:nvSpPr>
        <p:spPr>
          <a:xfrm>
            <a:off x="6172200" y="1737360"/>
            <a:ext cx="5394960" cy="1645920"/>
          </a:xfrm>
          <a:prstGeom prst="roundRect">
            <a:avLst>
              <a:gd name="adj" fmla="val 6667"/>
            </a:avLst>
          </a:prstGeom>
          <a:solidFill>
            <a:srgbClr val="111831"/>
          </a:solidFill>
          <a:ln w="12700">
            <a:solidFill>
              <a:srgbClr val="26314F"/>
            </a:solidFill>
            <a:prstDash val="solid"/>
          </a:ln>
        </p:spPr>
      </p:sp>
      <p:sp>
        <p:nvSpPr>
          <p:cNvPr id="12" name="Shape 9"/>
          <p:cNvSpPr/>
          <p:nvPr/>
        </p:nvSpPr>
        <p:spPr>
          <a:xfrm>
            <a:off x="6446520" y="2011680"/>
            <a:ext cx="603504" cy="603504"/>
          </a:xfrm>
          <a:prstGeom prst="ellipse">
            <a:avLst/>
          </a:prstGeom>
          <a:solidFill>
            <a:srgbClr val="18213F"/>
          </a:solidFill>
          <a:ln w="12700">
            <a:solidFill>
              <a:srgbClr val="26314F"/>
            </a:solidFill>
            <a:prstDash val="solid"/>
          </a:ln>
        </p:spPr>
      </p:sp>
      <p:pic>
        <p:nvPicPr>
          <p:cNvPr id="13" name="Image 1" descr="refresh icon">    </p:cNvPr>
          <p:cNvPicPr>
            <a:picLocks noChangeAspect="1"/>
          </p:cNvPicPr>
          <p:nvPr/>
        </p:nvPicPr>
        <p:blipFill>
          <a:blip r:embed="rId2"/>
          <a:stretch>
            <a:fillRect/>
          </a:stretch>
        </p:blipFill>
        <p:spPr>
          <a:xfrm>
            <a:off x="6556248" y="2121408"/>
            <a:ext cx="384048" cy="384048"/>
          </a:xfrm>
          <a:prstGeom prst="rect">
            <a:avLst/>
          </a:prstGeom>
        </p:spPr>
      </p:pic>
      <p:sp>
        <p:nvSpPr>
          <p:cNvPr id="14" name="Text 10"/>
          <p:cNvSpPr txBox="1"/>
          <p:nvPr/>
        </p:nvSpPr>
        <p:spPr>
          <a:xfrm>
            <a:off x="7269480" y="2029968"/>
            <a:ext cx="4114800" cy="365760"/>
          </a:xfrm>
          <a:prstGeom prst="rect">
            <a:avLst/>
          </a:prstGeom>
          <a:noFill/>
          <a:ln/>
        </p:spPr>
        <p:txBody>
          <a:bodyPr wrap="square" lIns="0" tIns="0" rIns="0" bIns="0" rtlCol="0" anchor="t"/>
          <a:lstStyle/>
          <a:p>
            <a:pPr indent="0" marL="0">
              <a:buNone/>
            </a:pPr>
            <a:r>
              <a:rPr lang="en-US" sz="1700" b="1" dirty="0">
                <a:solidFill>
                  <a:srgbClr val="E7EBF3"/>
                </a:solidFill>
                <a:latin typeface="Calibri" pitchFamily="34" charset="0"/>
                <a:ea typeface="Calibri" pitchFamily="34" charset="-122"/>
                <a:cs typeface="Calibri" pitchFamily="34" charset="-120"/>
              </a:rPr>
              <a:t>Distribution</a:t>
            </a:r>
            <a:endParaRPr lang="en-US" sz="1700" dirty="0"/>
          </a:p>
        </p:txBody>
      </p:sp>
      <p:sp>
        <p:nvSpPr>
          <p:cNvPr id="15" name="Text 11"/>
          <p:cNvSpPr txBox="1"/>
          <p:nvPr/>
        </p:nvSpPr>
        <p:spPr>
          <a:xfrm>
            <a:off x="7269480" y="2450592"/>
            <a:ext cx="4114800" cy="1005840"/>
          </a:xfrm>
          <a:prstGeom prst="rect">
            <a:avLst/>
          </a:prstGeom>
          <a:noFill/>
          <a:ln/>
        </p:spPr>
        <p:txBody>
          <a:bodyPr wrap="square" lIns="0" tIns="0" rIns="0" bIns="0" rtlCol="0" anchor="t"/>
          <a:lstStyle/>
          <a:p>
            <a:pPr indent="0" marL="0">
              <a:buNone/>
            </a:pPr>
            <a:r>
              <a:rPr lang="en-US" sz="1250" dirty="0">
                <a:solidFill>
                  <a:srgbClr val="9AA4BD"/>
                </a:solidFill>
                <a:latin typeface="Calibri" pitchFamily="34" charset="0"/>
                <a:ea typeface="Calibri" pitchFamily="34" charset="-122"/>
                <a:cs typeface="Calibri" pitchFamily="34" charset="-120"/>
              </a:rPr>
              <a:t>Surfaced where merchants already check payments: a weekly “one decision worth making” with evidence, not another dashboard.</a:t>
            </a:r>
            <a:endParaRPr lang="en-US" sz="1250" dirty="0"/>
          </a:p>
        </p:txBody>
      </p:sp>
      <p:sp>
        <p:nvSpPr>
          <p:cNvPr id="16" name="Shape 12"/>
          <p:cNvSpPr/>
          <p:nvPr/>
        </p:nvSpPr>
        <p:spPr>
          <a:xfrm>
            <a:off x="548640" y="3547872"/>
            <a:ext cx="5394960" cy="1645920"/>
          </a:xfrm>
          <a:prstGeom prst="roundRect">
            <a:avLst>
              <a:gd name="adj" fmla="val 6667"/>
            </a:avLst>
          </a:prstGeom>
          <a:solidFill>
            <a:srgbClr val="111831"/>
          </a:solidFill>
          <a:ln w="12700">
            <a:solidFill>
              <a:srgbClr val="26314F"/>
            </a:solidFill>
            <a:prstDash val="solid"/>
          </a:ln>
        </p:spPr>
      </p:sp>
      <p:sp>
        <p:nvSpPr>
          <p:cNvPr id="17" name="Shape 13"/>
          <p:cNvSpPr/>
          <p:nvPr/>
        </p:nvSpPr>
        <p:spPr>
          <a:xfrm>
            <a:off x="822960" y="3822192"/>
            <a:ext cx="603504" cy="603504"/>
          </a:xfrm>
          <a:prstGeom prst="ellipse">
            <a:avLst/>
          </a:prstGeom>
          <a:solidFill>
            <a:srgbClr val="18213F"/>
          </a:solidFill>
          <a:ln w="12700">
            <a:solidFill>
              <a:srgbClr val="26314F"/>
            </a:solidFill>
            <a:prstDash val="solid"/>
          </a:ln>
        </p:spPr>
      </p:sp>
      <p:pic>
        <p:nvPicPr>
          <p:cNvPr id="18" name="Image 2" descr="zap icon">    </p:cNvPr>
          <p:cNvPicPr>
            <a:picLocks noChangeAspect="1"/>
          </p:cNvPicPr>
          <p:nvPr/>
        </p:nvPicPr>
        <p:blipFill>
          <a:blip r:embed="rId3"/>
          <a:stretch>
            <a:fillRect/>
          </a:stretch>
        </p:blipFill>
        <p:spPr>
          <a:xfrm>
            <a:off x="932688" y="3931920"/>
            <a:ext cx="384048" cy="384048"/>
          </a:xfrm>
          <a:prstGeom prst="rect">
            <a:avLst/>
          </a:prstGeom>
        </p:spPr>
      </p:pic>
      <p:sp>
        <p:nvSpPr>
          <p:cNvPr id="19" name="Text 14"/>
          <p:cNvSpPr txBox="1"/>
          <p:nvPr/>
        </p:nvSpPr>
        <p:spPr>
          <a:xfrm>
            <a:off x="1645920" y="3840480"/>
            <a:ext cx="4114800" cy="365760"/>
          </a:xfrm>
          <a:prstGeom prst="rect">
            <a:avLst/>
          </a:prstGeom>
          <a:noFill/>
          <a:ln/>
        </p:spPr>
        <p:txBody>
          <a:bodyPr wrap="square" lIns="0" tIns="0" rIns="0" bIns="0" rtlCol="0" anchor="t"/>
          <a:lstStyle/>
          <a:p>
            <a:pPr indent="0" marL="0">
              <a:buNone/>
            </a:pPr>
            <a:r>
              <a:rPr lang="en-US" sz="1700" b="1" dirty="0">
                <a:solidFill>
                  <a:srgbClr val="E7EBF3"/>
                </a:solidFill>
                <a:latin typeface="Calibri" pitchFamily="34" charset="0"/>
                <a:ea typeface="Calibri" pitchFamily="34" charset="-122"/>
                <a:cs typeface="Calibri" pitchFamily="34" charset="-120"/>
              </a:rPr>
              <a:t>How it could earn — options to test</a:t>
            </a:r>
            <a:endParaRPr lang="en-US" sz="1700" dirty="0"/>
          </a:p>
        </p:txBody>
      </p:sp>
      <p:sp>
        <p:nvSpPr>
          <p:cNvPr id="20" name="Text 15"/>
          <p:cNvSpPr txBox="1"/>
          <p:nvPr/>
        </p:nvSpPr>
        <p:spPr>
          <a:xfrm>
            <a:off x="1645920" y="4261104"/>
            <a:ext cx="4114800" cy="1005840"/>
          </a:xfrm>
          <a:prstGeom prst="rect">
            <a:avLst/>
          </a:prstGeom>
          <a:noFill/>
          <a:ln/>
        </p:spPr>
        <p:txBody>
          <a:bodyPr wrap="square" lIns="0" tIns="0" rIns="0" bIns="0" rtlCol="0" anchor="t"/>
          <a:lstStyle/>
          <a:p>
            <a:pPr indent="0" marL="0">
              <a:buNone/>
            </a:pPr>
            <a:r>
              <a:rPr lang="en-US" sz="1250" dirty="0">
                <a:solidFill>
                  <a:srgbClr val="9AA4BD"/>
                </a:solidFill>
                <a:latin typeface="Calibri" pitchFamily="34" charset="0"/>
                <a:ea typeface="Calibri" pitchFamily="34" charset="-122"/>
                <a:cs typeface="Calibri" pitchFamily="34" charset="-120"/>
              </a:rPr>
              <a:t>Free weekly insight to drive engagement; a paid campaign-and-measurement tier; or a fee linked to measured incremental profit. No pricing validated yet.</a:t>
            </a:r>
            <a:endParaRPr lang="en-US" sz="1250" dirty="0"/>
          </a:p>
        </p:txBody>
      </p:sp>
      <p:sp>
        <p:nvSpPr>
          <p:cNvPr id="21" name="Shape 16"/>
          <p:cNvSpPr/>
          <p:nvPr/>
        </p:nvSpPr>
        <p:spPr>
          <a:xfrm>
            <a:off x="6172200" y="3547872"/>
            <a:ext cx="5394960" cy="1645920"/>
          </a:xfrm>
          <a:prstGeom prst="roundRect">
            <a:avLst>
              <a:gd name="adj" fmla="val 6667"/>
            </a:avLst>
          </a:prstGeom>
          <a:solidFill>
            <a:srgbClr val="111831"/>
          </a:solidFill>
          <a:ln w="12700">
            <a:solidFill>
              <a:srgbClr val="26314F"/>
            </a:solidFill>
            <a:prstDash val="solid"/>
          </a:ln>
        </p:spPr>
      </p:sp>
      <p:sp>
        <p:nvSpPr>
          <p:cNvPr id="22" name="Shape 17"/>
          <p:cNvSpPr/>
          <p:nvPr/>
        </p:nvSpPr>
        <p:spPr>
          <a:xfrm>
            <a:off x="6446520" y="3822192"/>
            <a:ext cx="603504" cy="603504"/>
          </a:xfrm>
          <a:prstGeom prst="ellipse">
            <a:avLst/>
          </a:prstGeom>
          <a:solidFill>
            <a:srgbClr val="18213F"/>
          </a:solidFill>
          <a:ln w="12700">
            <a:solidFill>
              <a:srgbClr val="26314F"/>
            </a:solidFill>
            <a:prstDash val="solid"/>
          </a:ln>
        </p:spPr>
      </p:sp>
      <p:pic>
        <p:nvPicPr>
          <p:cNvPr id="23" name="Image 3" descr="cpu icon">    </p:cNvPr>
          <p:cNvPicPr>
            <a:picLocks noChangeAspect="1"/>
          </p:cNvPicPr>
          <p:nvPr/>
        </p:nvPicPr>
        <p:blipFill>
          <a:blip r:embed="rId4"/>
          <a:stretch>
            <a:fillRect/>
          </a:stretch>
        </p:blipFill>
        <p:spPr>
          <a:xfrm>
            <a:off x="6556248" y="3931920"/>
            <a:ext cx="384048" cy="384048"/>
          </a:xfrm>
          <a:prstGeom prst="rect">
            <a:avLst/>
          </a:prstGeom>
        </p:spPr>
      </p:pic>
      <p:sp>
        <p:nvSpPr>
          <p:cNvPr id="24" name="Text 18"/>
          <p:cNvSpPr txBox="1"/>
          <p:nvPr/>
        </p:nvSpPr>
        <p:spPr>
          <a:xfrm>
            <a:off x="7269480" y="3840480"/>
            <a:ext cx="4114800" cy="365760"/>
          </a:xfrm>
          <a:prstGeom prst="rect">
            <a:avLst/>
          </a:prstGeom>
          <a:noFill/>
          <a:ln/>
        </p:spPr>
        <p:txBody>
          <a:bodyPr wrap="square" lIns="0" tIns="0" rIns="0" bIns="0" rtlCol="0" anchor="t"/>
          <a:lstStyle/>
          <a:p>
            <a:pPr indent="0" marL="0">
              <a:buNone/>
            </a:pPr>
            <a:r>
              <a:rPr lang="en-US" sz="1700" b="1" dirty="0">
                <a:solidFill>
                  <a:srgbClr val="E7EBF3"/>
                </a:solidFill>
                <a:latin typeface="Calibri" pitchFamily="34" charset="0"/>
                <a:ea typeface="Calibri" pitchFamily="34" charset="-122"/>
                <a:cs typeface="Calibri" pitchFamily="34" charset="-120"/>
              </a:rPr>
              <a:t>Cost to serve</a:t>
            </a:r>
            <a:endParaRPr lang="en-US" sz="1700" dirty="0"/>
          </a:p>
        </p:txBody>
      </p:sp>
      <p:sp>
        <p:nvSpPr>
          <p:cNvPr id="25" name="Text 19"/>
          <p:cNvSpPr txBox="1"/>
          <p:nvPr/>
        </p:nvSpPr>
        <p:spPr>
          <a:xfrm>
            <a:off x="7269480" y="4261104"/>
            <a:ext cx="4114800" cy="1005840"/>
          </a:xfrm>
          <a:prstGeom prst="rect">
            <a:avLst/>
          </a:prstGeom>
          <a:noFill/>
          <a:ln/>
        </p:spPr>
        <p:txBody>
          <a:bodyPr wrap="square" lIns="0" tIns="0" rIns="0" bIns="0" rtlCol="0" anchor="t"/>
          <a:lstStyle/>
          <a:p>
            <a:pPr indent="0" marL="0">
              <a:buNone/>
            </a:pPr>
            <a:r>
              <a:rPr lang="en-US" sz="1250" dirty="0">
                <a:solidFill>
                  <a:srgbClr val="9AA4BD"/>
                </a:solidFill>
                <a:latin typeface="Calibri" pitchFamily="34" charset="0"/>
                <a:ea typeface="Calibri" pitchFamily="34" charset="-122"/>
                <a:cs typeface="Calibri" pitchFamily="34" charset="-120"/>
              </a:rPr>
              <a:t>Deterministic tools do the maths; a compact local model or a hosted model writes the narrative — and a rules-only mode costs nothing to run.</a:t>
            </a:r>
            <a:endParaRPr lang="en-US" sz="1250" dirty="0"/>
          </a:p>
        </p:txBody>
      </p:sp>
      <p:sp>
        <p:nvSpPr>
          <p:cNvPr id="26" name="Shape 20"/>
          <p:cNvSpPr/>
          <p:nvPr/>
        </p:nvSpPr>
        <p:spPr>
          <a:xfrm>
            <a:off x="548640" y="5486400"/>
            <a:ext cx="11094415" cy="566928"/>
          </a:xfrm>
          <a:prstGeom prst="roundRect">
            <a:avLst>
              <a:gd name="adj" fmla="val 19355"/>
            </a:avLst>
          </a:prstGeom>
          <a:solidFill>
            <a:srgbClr val="0A0F1E"/>
          </a:solidFill>
          <a:ln w="12700">
            <a:solidFill>
              <a:srgbClr val="F5B544"/>
            </a:solidFill>
            <a:prstDash val="solid"/>
          </a:ln>
        </p:spPr>
      </p:sp>
      <p:sp>
        <p:nvSpPr>
          <p:cNvPr id="27" name="Text 21"/>
          <p:cNvSpPr txBox="1"/>
          <p:nvPr/>
        </p:nvSpPr>
        <p:spPr>
          <a:xfrm>
            <a:off x="822960" y="5486400"/>
            <a:ext cx="10545775" cy="566928"/>
          </a:xfrm>
          <a:prstGeom prst="rect">
            <a:avLst/>
          </a:prstGeom>
          <a:noFill/>
          <a:ln/>
        </p:spPr>
        <p:txBody>
          <a:bodyPr wrap="square" lIns="0" tIns="0" rIns="0" bIns="0" rtlCol="0" anchor="ctr"/>
          <a:lstStyle/>
          <a:p>
            <a:pPr indent="0" marL="0">
              <a:buNone/>
            </a:pPr>
            <a:r>
              <a:rPr lang="en-US" sz="1300" b="1" dirty="0">
                <a:solidFill>
                  <a:srgbClr val="F5B544"/>
                </a:solidFill>
                <a:latin typeface="Calibri" pitchFamily="34" charset="0"/>
                <a:ea typeface="Calibri" pitchFamily="34" charset="-122"/>
                <a:cs typeface="Calibri" pitchFamily="34" charset="-120"/>
              </a:rPr>
              <a:t>Assumption the pilot must test: </a:t>
            </a:r>
            <a:pPr indent="0" marL="0">
              <a:buNone/>
            </a:pPr>
            <a:r>
              <a:rPr lang="en-US" sz="1300" dirty="0">
                <a:solidFill>
                  <a:srgbClr val="E7EBF3"/>
                </a:solidFill>
                <a:latin typeface="Calibri" pitchFamily="34" charset="0"/>
                <a:ea typeface="Calibri" pitchFamily="34" charset="-122"/>
                <a:cs typeface="Calibri" pitchFamily="34" charset="-120"/>
              </a:rPr>
              <a:t>merchants act on a weekly decision, and the campaigns they approve pay back when measured against a holdout.</a:t>
            </a:r>
            <a:endParaRPr lang="en-US" sz="1300" dirty="0"/>
          </a:p>
        </p:txBody>
      </p:sp>
      <p:sp>
        <p:nvSpPr>
          <p:cNvPr id="25" name="Slide Number Placeholder 0"/>
          <p:cNvSpPr>
            <a:spLocks noGrp="1"/>
          </p:cNvSpPr>
          <p:nvPr>
            <p:ph type="sldNum" sz="quarter" idx="4294967295"/>
          </p:nvPr>
        </p:nvSpPr>
        <p:spPr>
          <a:xfrm>
            <a:off x="11185855" y="647395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AA4BD"/>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146304"/>
            <a:ext cx="7315200" cy="219456"/>
          </a:xfrm>
          <a:prstGeom prst="rect">
            <a:avLst/>
          </a:prstGeom>
          <a:noFill/>
          <a:ln/>
        </p:spPr>
        <p:txBody>
          <a:bodyPr wrap="square" lIns="0" tIns="0" rIns="0" bIns="0" rtlCol="0" anchor="t"/>
          <a:lstStyle/>
          <a:p>
            <a:pPr indent="0" marL="0">
              <a:buNone/>
            </a:pPr>
            <a:r>
              <a:rPr lang="en-US" sz="1000" b="1" spc="200" kern="0" dirty="0">
                <a:solidFill>
                  <a:srgbClr val="4C8DFF"/>
                </a:solidFill>
                <a:latin typeface="Calibri" pitchFamily="34" charset="0"/>
                <a:ea typeface="Calibri" pitchFamily="34" charset="-122"/>
                <a:cs typeface="Calibri" pitchFamily="34" charset="-120"/>
              </a:rPr>
              <a:t>ROADMAP &amp; ASK</a:t>
            </a:r>
            <a:endParaRPr lang="en-US" sz="1000" dirty="0"/>
          </a:p>
        </p:txBody>
      </p:sp>
      <p:sp>
        <p:nvSpPr>
          <p:cNvPr id="3" name="Text 0"/>
          <p:cNvSpPr/>
          <p:nvPr>
            <p:ph idx="100" type="title" hasCustomPrompt="1"/>
          </p:nvPr>
        </p:nvSpPr>
        <p:spPr>
          <a:xfrm>
            <a:off x="548640" y="384048"/>
            <a:ext cx="11094415" cy="777240"/>
          </a:xfrm>
          <a:prstGeom prst="rect">
            <a:avLst/>
          </a:prstGeom>
          <a:noFill/>
          <a:ln/>
        </p:spPr>
        <p:txBody>
          <a:bodyPr wrap="square" lIns="0" tIns="0" rIns="0" bIns="0" rtlCol="0" anchor="t"/>
          <a:lstStyle/>
          <a:p>
            <a:pPr algn="l" indent="0" marL="0">
              <a:buNone/>
            </a:pPr>
            <a:r>
              <a:rPr lang="en-US" sz="2800" b="1" dirty="0">
                <a:solidFill>
                  <a:srgbClr val="E7EBF3"/>
                </a:solidFill>
                <a:latin typeface="Cambria" pitchFamily="34" charset="0"/>
                <a:ea typeface="Cambria" pitchFamily="34" charset="-122"/>
                <a:cs typeface="Cambria" pitchFamily="34" charset="-120"/>
              </a:rPr>
              <a:t>Next: prove it with real merchants, measured properly</a:t>
            </a:r>
            <a:endParaRPr lang="en-US" sz="2800" dirty="0"/>
          </a:p>
        </p:txBody>
      </p:sp>
      <p:sp>
        <p:nvSpPr>
          <p:cNvPr id="4" name="Shape 2"/>
          <p:cNvSpPr/>
          <p:nvPr/>
        </p:nvSpPr>
        <p:spPr>
          <a:xfrm>
            <a:off x="548640" y="1444752"/>
            <a:ext cx="548640" cy="548640"/>
          </a:xfrm>
          <a:prstGeom prst="ellipse">
            <a:avLst/>
          </a:prstGeom>
          <a:solidFill>
            <a:srgbClr val="18213F"/>
          </a:solidFill>
          <a:ln w="19050">
            <a:solidFill>
              <a:srgbClr val="4C8DFF"/>
            </a:solidFill>
            <a:prstDash val="solid"/>
          </a:ln>
        </p:spPr>
      </p:sp>
      <p:sp>
        <p:nvSpPr>
          <p:cNvPr id="5" name="Text 3"/>
          <p:cNvSpPr txBox="1"/>
          <p:nvPr/>
        </p:nvSpPr>
        <p:spPr>
          <a:xfrm>
            <a:off x="548640" y="1444752"/>
            <a:ext cx="548640" cy="548640"/>
          </a:xfrm>
          <a:prstGeom prst="rect">
            <a:avLst/>
          </a:prstGeom>
          <a:noFill/>
          <a:ln/>
        </p:spPr>
        <p:txBody>
          <a:bodyPr wrap="square" lIns="0" tIns="0" rIns="0" bIns="0" rtlCol="0" anchor="ctr"/>
          <a:lstStyle/>
          <a:p>
            <a:pPr algn="ctr" indent="0" marL="0">
              <a:buNone/>
            </a:pPr>
            <a:r>
              <a:rPr lang="en-US" sz="2000" b="1" dirty="0">
                <a:solidFill>
                  <a:srgbClr val="E7EBF3"/>
                </a:solidFill>
                <a:latin typeface="Cambria" pitchFamily="34" charset="0"/>
                <a:ea typeface="Cambria" pitchFamily="34" charset="-122"/>
                <a:cs typeface="Cambria" pitchFamily="34" charset="-120"/>
              </a:rPr>
              <a:t>1</a:t>
            </a:r>
            <a:endParaRPr lang="en-US" sz="2000" dirty="0"/>
          </a:p>
        </p:txBody>
      </p:sp>
      <p:sp>
        <p:nvSpPr>
          <p:cNvPr id="6" name="Shape 4"/>
          <p:cNvSpPr/>
          <p:nvPr/>
        </p:nvSpPr>
        <p:spPr>
          <a:xfrm>
            <a:off x="822960" y="2011680"/>
            <a:ext cx="0" cy="457200"/>
          </a:xfrm>
          <a:prstGeom prst="line">
            <a:avLst/>
          </a:prstGeom>
          <a:noFill/>
          <a:ln w="19050">
            <a:solidFill>
              <a:srgbClr val="26314F"/>
            </a:solidFill>
            <a:prstDash val="solid"/>
          </a:ln>
        </p:spPr>
      </p:sp>
      <p:sp>
        <p:nvSpPr>
          <p:cNvPr id="7" name="Text 5"/>
          <p:cNvSpPr txBox="1"/>
          <p:nvPr/>
        </p:nvSpPr>
        <p:spPr>
          <a:xfrm>
            <a:off x="1325880" y="1417320"/>
            <a:ext cx="3840480" cy="320040"/>
          </a:xfrm>
          <a:prstGeom prst="rect">
            <a:avLst/>
          </a:prstGeom>
          <a:noFill/>
          <a:ln/>
        </p:spPr>
        <p:txBody>
          <a:bodyPr wrap="square" lIns="0" tIns="0" rIns="0" bIns="0" rtlCol="0" anchor="t"/>
          <a:lstStyle/>
          <a:p>
            <a:pPr indent="0" marL="0">
              <a:buNone/>
            </a:pPr>
            <a:r>
              <a:rPr lang="en-US" sz="1600" b="1" dirty="0">
                <a:solidFill>
                  <a:srgbClr val="E7EBF3"/>
                </a:solidFill>
                <a:latin typeface="Calibri" pitchFamily="34" charset="0"/>
                <a:ea typeface="Calibri" pitchFamily="34" charset="-122"/>
                <a:cs typeface="Calibri" pitchFamily="34" charset="-120"/>
              </a:rPr>
              <a:t>Pilot data</a:t>
            </a:r>
            <a:endParaRPr lang="en-US" sz="1600" dirty="0"/>
          </a:p>
        </p:txBody>
      </p:sp>
      <p:sp>
        <p:nvSpPr>
          <p:cNvPr id="8" name="Text 6"/>
          <p:cNvSpPr txBox="1"/>
          <p:nvPr/>
        </p:nvSpPr>
        <p:spPr>
          <a:xfrm>
            <a:off x="1325880" y="1755648"/>
            <a:ext cx="5852160" cy="548640"/>
          </a:xfrm>
          <a:prstGeom prst="rect">
            <a:avLst/>
          </a:prstGeom>
          <a:noFill/>
          <a:ln/>
        </p:spPr>
        <p:txBody>
          <a:bodyPr wrap="square" lIns="0" tIns="0" rIns="0" bIns="0" rtlCol="0" anchor="t"/>
          <a:lstStyle/>
          <a:p>
            <a:pPr indent="0" marL="0">
              <a:buNone/>
            </a:pPr>
            <a:r>
              <a:rPr lang="en-US" sz="1250" dirty="0">
                <a:solidFill>
                  <a:srgbClr val="9AA4BD"/>
                </a:solidFill>
                <a:latin typeface="Calibri" pitchFamily="34" charset="0"/>
                <a:ea typeface="Calibri" pitchFamily="34" charset="-122"/>
                <a:cs typeface="Calibri" pitchFamily="34" charset="-120"/>
              </a:rPr>
              <a:t>Consented payment data from a small set of repeat-visit merchants; detector and tools re-run unchanged.</a:t>
            </a:r>
            <a:endParaRPr lang="en-US" sz="1250" dirty="0"/>
          </a:p>
        </p:txBody>
      </p:sp>
      <p:sp>
        <p:nvSpPr>
          <p:cNvPr id="9" name="Text 7"/>
          <p:cNvSpPr txBox="1"/>
          <p:nvPr/>
        </p:nvSpPr>
        <p:spPr>
          <a:xfrm>
            <a:off x="7269480" y="1444752"/>
            <a:ext cx="1097280" cy="274320"/>
          </a:xfrm>
          <a:prstGeom prst="rect">
            <a:avLst/>
          </a:prstGeom>
          <a:noFill/>
          <a:ln/>
        </p:spPr>
        <p:txBody>
          <a:bodyPr wrap="square" lIns="0" tIns="0" rIns="0" bIns="0" rtlCol="0" anchor="t"/>
          <a:lstStyle/>
          <a:p>
            <a:pPr algn="r" indent="0" marL="0">
              <a:buNone/>
            </a:pPr>
            <a:r>
              <a:rPr lang="en-US" sz="1100" dirty="0">
                <a:solidFill>
                  <a:srgbClr val="9AA4BD"/>
                </a:solidFill>
                <a:latin typeface="Calibri" pitchFamily="34" charset="0"/>
                <a:ea typeface="Calibri" pitchFamily="34" charset="-122"/>
                <a:cs typeface="Calibri" pitchFamily="34" charset="-120"/>
              </a:rPr>
              <a:t>0–1 month</a:t>
            </a:r>
            <a:endParaRPr lang="en-US" sz="1100" dirty="0"/>
          </a:p>
        </p:txBody>
      </p:sp>
      <p:sp>
        <p:nvSpPr>
          <p:cNvPr id="10" name="Shape 8"/>
          <p:cNvSpPr/>
          <p:nvPr/>
        </p:nvSpPr>
        <p:spPr>
          <a:xfrm>
            <a:off x="548640" y="2468880"/>
            <a:ext cx="548640" cy="548640"/>
          </a:xfrm>
          <a:prstGeom prst="ellipse">
            <a:avLst/>
          </a:prstGeom>
          <a:solidFill>
            <a:srgbClr val="4C8DFF"/>
          </a:solidFill>
          <a:ln w="19050">
            <a:solidFill>
              <a:srgbClr val="4C8DFF"/>
            </a:solidFill>
            <a:prstDash val="solid"/>
          </a:ln>
        </p:spPr>
      </p:sp>
      <p:sp>
        <p:nvSpPr>
          <p:cNvPr id="11" name="Text 9"/>
          <p:cNvSpPr txBox="1"/>
          <p:nvPr/>
        </p:nvSpPr>
        <p:spPr>
          <a:xfrm>
            <a:off x="548640" y="2468880"/>
            <a:ext cx="548640" cy="548640"/>
          </a:xfrm>
          <a:prstGeom prst="rect">
            <a:avLst/>
          </a:prstGeom>
          <a:noFill/>
          <a:ln/>
        </p:spPr>
        <p:txBody>
          <a:bodyPr wrap="square" lIns="0" tIns="0" rIns="0" bIns="0" rtlCol="0" anchor="ctr"/>
          <a:lstStyle/>
          <a:p>
            <a:pPr algn="ctr" indent="0" marL="0">
              <a:buNone/>
            </a:pPr>
            <a:r>
              <a:rPr lang="en-US" sz="2000" b="1" dirty="0">
                <a:solidFill>
                  <a:srgbClr val="0A0F1E"/>
                </a:solidFill>
                <a:latin typeface="Cambria" pitchFamily="34" charset="0"/>
                <a:ea typeface="Cambria" pitchFamily="34" charset="-122"/>
                <a:cs typeface="Cambria" pitchFamily="34" charset="-120"/>
              </a:rPr>
              <a:t>2</a:t>
            </a:r>
            <a:endParaRPr lang="en-US" sz="2000" dirty="0"/>
          </a:p>
        </p:txBody>
      </p:sp>
      <p:sp>
        <p:nvSpPr>
          <p:cNvPr id="12" name="Shape 10"/>
          <p:cNvSpPr/>
          <p:nvPr/>
        </p:nvSpPr>
        <p:spPr>
          <a:xfrm>
            <a:off x="822960" y="3035808"/>
            <a:ext cx="0" cy="457200"/>
          </a:xfrm>
          <a:prstGeom prst="line">
            <a:avLst/>
          </a:prstGeom>
          <a:noFill/>
          <a:ln w="19050">
            <a:solidFill>
              <a:srgbClr val="26314F"/>
            </a:solidFill>
            <a:prstDash val="solid"/>
          </a:ln>
        </p:spPr>
      </p:sp>
      <p:sp>
        <p:nvSpPr>
          <p:cNvPr id="13" name="Text 11"/>
          <p:cNvSpPr txBox="1"/>
          <p:nvPr/>
        </p:nvSpPr>
        <p:spPr>
          <a:xfrm>
            <a:off x="1325880" y="2441448"/>
            <a:ext cx="3840480" cy="320040"/>
          </a:xfrm>
          <a:prstGeom prst="rect">
            <a:avLst/>
          </a:prstGeom>
          <a:noFill/>
          <a:ln/>
        </p:spPr>
        <p:txBody>
          <a:bodyPr wrap="square" lIns="0" tIns="0" rIns="0" bIns="0" rtlCol="0" anchor="t"/>
          <a:lstStyle/>
          <a:p>
            <a:pPr indent="0" marL="0">
              <a:buNone/>
            </a:pPr>
            <a:r>
              <a:rPr lang="en-US" sz="1600" b="1" dirty="0">
                <a:solidFill>
                  <a:srgbClr val="E7EBF3"/>
                </a:solidFill>
                <a:latin typeface="Calibri" pitchFamily="34" charset="0"/>
                <a:ea typeface="Calibri" pitchFamily="34" charset="-122"/>
                <a:cs typeface="Calibri" pitchFamily="34" charset="-120"/>
              </a:rPr>
              <a:t>Real holdout tests</a:t>
            </a:r>
            <a:endParaRPr lang="en-US" sz="1600" dirty="0"/>
          </a:p>
        </p:txBody>
      </p:sp>
      <p:sp>
        <p:nvSpPr>
          <p:cNvPr id="14" name="Text 12"/>
          <p:cNvSpPr txBox="1"/>
          <p:nvPr/>
        </p:nvSpPr>
        <p:spPr>
          <a:xfrm>
            <a:off x="1325880" y="2779776"/>
            <a:ext cx="5852160" cy="548640"/>
          </a:xfrm>
          <a:prstGeom prst="rect">
            <a:avLst/>
          </a:prstGeom>
          <a:noFill/>
          <a:ln/>
        </p:spPr>
        <p:txBody>
          <a:bodyPr wrap="square" lIns="0" tIns="0" rIns="0" bIns="0" rtlCol="0" anchor="t"/>
          <a:lstStyle/>
          <a:p>
            <a:pPr indent="0" marL="0">
              <a:buNone/>
            </a:pPr>
            <a:r>
              <a:rPr lang="en-US" sz="1250" dirty="0">
                <a:solidFill>
                  <a:srgbClr val="9AA4BD"/>
                </a:solidFill>
                <a:latin typeface="Calibri" pitchFamily="34" charset="0"/>
                <a:ea typeface="Calibri" pitchFamily="34" charset="-122"/>
                <a:cs typeface="Calibri" pitchFamily="34" charset="-120"/>
              </a:rPr>
              <a:t>Randomized offer vs holdout, sized for power (≈62+ per group per test); merchant approves every campaign.</a:t>
            </a:r>
            <a:endParaRPr lang="en-US" sz="1250" dirty="0"/>
          </a:p>
        </p:txBody>
      </p:sp>
      <p:sp>
        <p:nvSpPr>
          <p:cNvPr id="15" name="Text 13"/>
          <p:cNvSpPr txBox="1"/>
          <p:nvPr/>
        </p:nvSpPr>
        <p:spPr>
          <a:xfrm>
            <a:off x="7269480" y="2468880"/>
            <a:ext cx="1097280" cy="274320"/>
          </a:xfrm>
          <a:prstGeom prst="rect">
            <a:avLst/>
          </a:prstGeom>
          <a:noFill/>
          <a:ln/>
        </p:spPr>
        <p:txBody>
          <a:bodyPr wrap="square" lIns="0" tIns="0" rIns="0" bIns="0" rtlCol="0" anchor="t"/>
          <a:lstStyle/>
          <a:p>
            <a:pPr algn="r" indent="0" marL="0">
              <a:buNone/>
            </a:pPr>
            <a:r>
              <a:rPr lang="en-US" sz="1100" dirty="0">
                <a:solidFill>
                  <a:srgbClr val="9AA4BD"/>
                </a:solidFill>
                <a:latin typeface="Calibri" pitchFamily="34" charset="0"/>
                <a:ea typeface="Calibri" pitchFamily="34" charset="-122"/>
                <a:cs typeface="Calibri" pitchFamily="34" charset="-120"/>
              </a:rPr>
              <a:t>1–3 months</a:t>
            </a:r>
            <a:endParaRPr lang="en-US" sz="1100" dirty="0"/>
          </a:p>
        </p:txBody>
      </p:sp>
      <p:sp>
        <p:nvSpPr>
          <p:cNvPr id="16" name="Shape 14"/>
          <p:cNvSpPr/>
          <p:nvPr/>
        </p:nvSpPr>
        <p:spPr>
          <a:xfrm>
            <a:off x="548640" y="3493008"/>
            <a:ext cx="548640" cy="548640"/>
          </a:xfrm>
          <a:prstGeom prst="ellipse">
            <a:avLst/>
          </a:prstGeom>
          <a:solidFill>
            <a:srgbClr val="18213F"/>
          </a:solidFill>
          <a:ln w="19050">
            <a:solidFill>
              <a:srgbClr val="4C8DFF"/>
            </a:solidFill>
            <a:prstDash val="solid"/>
          </a:ln>
        </p:spPr>
      </p:sp>
      <p:sp>
        <p:nvSpPr>
          <p:cNvPr id="17" name="Text 15"/>
          <p:cNvSpPr txBox="1"/>
          <p:nvPr/>
        </p:nvSpPr>
        <p:spPr>
          <a:xfrm>
            <a:off x="548640" y="3493008"/>
            <a:ext cx="548640" cy="548640"/>
          </a:xfrm>
          <a:prstGeom prst="rect">
            <a:avLst/>
          </a:prstGeom>
          <a:noFill/>
          <a:ln/>
        </p:spPr>
        <p:txBody>
          <a:bodyPr wrap="square" lIns="0" tIns="0" rIns="0" bIns="0" rtlCol="0" anchor="ctr"/>
          <a:lstStyle/>
          <a:p>
            <a:pPr algn="ctr" indent="0" marL="0">
              <a:buNone/>
            </a:pPr>
            <a:r>
              <a:rPr lang="en-US" sz="2000" b="1" dirty="0">
                <a:solidFill>
                  <a:srgbClr val="E7EBF3"/>
                </a:solidFill>
                <a:latin typeface="Cambria" pitchFamily="34" charset="0"/>
                <a:ea typeface="Cambria" pitchFamily="34" charset="-122"/>
                <a:cs typeface="Cambria" pitchFamily="34" charset="-120"/>
              </a:rPr>
              <a:t>3</a:t>
            </a:r>
            <a:endParaRPr lang="en-US" sz="2000" dirty="0"/>
          </a:p>
        </p:txBody>
      </p:sp>
      <p:sp>
        <p:nvSpPr>
          <p:cNvPr id="18" name="Shape 16"/>
          <p:cNvSpPr/>
          <p:nvPr/>
        </p:nvSpPr>
        <p:spPr>
          <a:xfrm>
            <a:off x="822960" y="4059936"/>
            <a:ext cx="0" cy="457200"/>
          </a:xfrm>
          <a:prstGeom prst="line">
            <a:avLst/>
          </a:prstGeom>
          <a:noFill/>
          <a:ln w="19050">
            <a:solidFill>
              <a:srgbClr val="26314F"/>
            </a:solidFill>
            <a:prstDash val="solid"/>
          </a:ln>
        </p:spPr>
      </p:sp>
      <p:sp>
        <p:nvSpPr>
          <p:cNvPr id="19" name="Text 17"/>
          <p:cNvSpPr txBox="1"/>
          <p:nvPr/>
        </p:nvSpPr>
        <p:spPr>
          <a:xfrm>
            <a:off x="1325880" y="3465576"/>
            <a:ext cx="3840480" cy="320040"/>
          </a:xfrm>
          <a:prstGeom prst="rect">
            <a:avLst/>
          </a:prstGeom>
          <a:noFill/>
          <a:ln/>
        </p:spPr>
        <p:txBody>
          <a:bodyPr wrap="square" lIns="0" tIns="0" rIns="0" bIns="0" rtlCol="0" anchor="t"/>
          <a:lstStyle/>
          <a:p>
            <a:pPr indent="0" marL="0">
              <a:buNone/>
            </a:pPr>
            <a:r>
              <a:rPr lang="en-US" sz="1600" b="1" dirty="0">
                <a:solidFill>
                  <a:srgbClr val="E7EBF3"/>
                </a:solidFill>
                <a:latin typeface="Calibri" pitchFamily="34" charset="0"/>
                <a:ea typeface="Calibri" pitchFamily="34" charset="-122"/>
                <a:cs typeface="Calibri" pitchFamily="34" charset="-120"/>
              </a:rPr>
              <a:t>Measure what matters</a:t>
            </a:r>
            <a:endParaRPr lang="en-US" sz="1600" dirty="0"/>
          </a:p>
        </p:txBody>
      </p:sp>
      <p:sp>
        <p:nvSpPr>
          <p:cNvPr id="20" name="Text 18"/>
          <p:cNvSpPr txBox="1"/>
          <p:nvPr/>
        </p:nvSpPr>
        <p:spPr>
          <a:xfrm>
            <a:off x="1325880" y="3803904"/>
            <a:ext cx="5852160" cy="548640"/>
          </a:xfrm>
          <a:prstGeom prst="rect">
            <a:avLst/>
          </a:prstGeom>
          <a:noFill/>
          <a:ln/>
        </p:spPr>
        <p:txBody>
          <a:bodyPr wrap="square" lIns="0" tIns="0" rIns="0" bIns="0" rtlCol="0" anchor="t"/>
          <a:lstStyle/>
          <a:p>
            <a:pPr indent="0" marL="0">
              <a:buNone/>
            </a:pPr>
            <a:r>
              <a:rPr lang="en-US" sz="1250" dirty="0">
                <a:solidFill>
                  <a:srgbClr val="9AA4BD"/>
                </a:solidFill>
                <a:latin typeface="Calibri" pitchFamily="34" charset="0"/>
                <a:ea typeface="Calibri" pitchFamily="34" charset="-122"/>
                <a:cs typeface="Calibri" pitchFamily="34" charset="-120"/>
              </a:rPr>
              <a:t>Incremental return rate and margin per merchant — reported with uncertainty, including no-effect results.</a:t>
            </a:r>
            <a:endParaRPr lang="en-US" sz="1250" dirty="0"/>
          </a:p>
        </p:txBody>
      </p:sp>
      <p:sp>
        <p:nvSpPr>
          <p:cNvPr id="21" name="Text 19"/>
          <p:cNvSpPr txBox="1"/>
          <p:nvPr/>
        </p:nvSpPr>
        <p:spPr>
          <a:xfrm>
            <a:off x="7269480" y="3493008"/>
            <a:ext cx="1097280" cy="274320"/>
          </a:xfrm>
          <a:prstGeom prst="rect">
            <a:avLst/>
          </a:prstGeom>
          <a:noFill/>
          <a:ln/>
        </p:spPr>
        <p:txBody>
          <a:bodyPr wrap="square" lIns="0" tIns="0" rIns="0" bIns="0" rtlCol="0" anchor="t"/>
          <a:lstStyle/>
          <a:p>
            <a:pPr algn="r" indent="0" marL="0">
              <a:buNone/>
            </a:pPr>
            <a:r>
              <a:rPr lang="en-US" sz="1100" dirty="0">
                <a:solidFill>
                  <a:srgbClr val="9AA4BD"/>
                </a:solidFill>
                <a:latin typeface="Calibri" pitchFamily="34" charset="0"/>
                <a:ea typeface="Calibri" pitchFamily="34" charset="-122"/>
                <a:cs typeface="Calibri" pitchFamily="34" charset="-120"/>
              </a:rPr>
              <a:t>3–4 months</a:t>
            </a:r>
            <a:endParaRPr lang="en-US" sz="1100" dirty="0"/>
          </a:p>
        </p:txBody>
      </p:sp>
      <p:sp>
        <p:nvSpPr>
          <p:cNvPr id="22" name="Shape 20"/>
          <p:cNvSpPr/>
          <p:nvPr/>
        </p:nvSpPr>
        <p:spPr>
          <a:xfrm>
            <a:off x="548640" y="4517136"/>
            <a:ext cx="548640" cy="548640"/>
          </a:xfrm>
          <a:prstGeom prst="ellipse">
            <a:avLst/>
          </a:prstGeom>
          <a:solidFill>
            <a:srgbClr val="18213F"/>
          </a:solidFill>
          <a:ln w="19050">
            <a:solidFill>
              <a:srgbClr val="4C8DFF"/>
            </a:solidFill>
            <a:prstDash val="solid"/>
          </a:ln>
        </p:spPr>
      </p:sp>
      <p:sp>
        <p:nvSpPr>
          <p:cNvPr id="23" name="Text 21"/>
          <p:cNvSpPr txBox="1"/>
          <p:nvPr/>
        </p:nvSpPr>
        <p:spPr>
          <a:xfrm>
            <a:off x="548640" y="4517136"/>
            <a:ext cx="548640" cy="548640"/>
          </a:xfrm>
          <a:prstGeom prst="rect">
            <a:avLst/>
          </a:prstGeom>
          <a:noFill/>
          <a:ln/>
        </p:spPr>
        <p:txBody>
          <a:bodyPr wrap="square" lIns="0" tIns="0" rIns="0" bIns="0" rtlCol="0" anchor="ctr"/>
          <a:lstStyle/>
          <a:p>
            <a:pPr algn="ctr" indent="0" marL="0">
              <a:buNone/>
            </a:pPr>
            <a:r>
              <a:rPr lang="en-US" sz="2000" b="1" dirty="0">
                <a:solidFill>
                  <a:srgbClr val="E7EBF3"/>
                </a:solidFill>
                <a:latin typeface="Cambria" pitchFamily="34" charset="0"/>
                <a:ea typeface="Cambria" pitchFamily="34" charset="-122"/>
                <a:cs typeface="Cambria" pitchFamily="34" charset="-120"/>
              </a:rPr>
              <a:t>4</a:t>
            </a:r>
            <a:endParaRPr lang="en-US" sz="2000" dirty="0"/>
          </a:p>
        </p:txBody>
      </p:sp>
      <p:sp>
        <p:nvSpPr>
          <p:cNvPr id="24" name="Text 22"/>
          <p:cNvSpPr txBox="1"/>
          <p:nvPr/>
        </p:nvSpPr>
        <p:spPr>
          <a:xfrm>
            <a:off x="1325880" y="4489704"/>
            <a:ext cx="3840480" cy="320040"/>
          </a:xfrm>
          <a:prstGeom prst="rect">
            <a:avLst/>
          </a:prstGeom>
          <a:noFill/>
          <a:ln/>
        </p:spPr>
        <p:txBody>
          <a:bodyPr wrap="square" lIns="0" tIns="0" rIns="0" bIns="0" rtlCol="0" anchor="t"/>
          <a:lstStyle/>
          <a:p>
            <a:pPr indent="0" marL="0">
              <a:buNone/>
            </a:pPr>
            <a:r>
              <a:rPr lang="en-US" sz="1600" b="1" dirty="0">
                <a:solidFill>
                  <a:srgbClr val="E7EBF3"/>
                </a:solidFill>
                <a:latin typeface="Calibri" pitchFamily="34" charset="0"/>
                <a:ea typeface="Calibri" pitchFamily="34" charset="-122"/>
                <a:cs typeface="Calibri" pitchFamily="34" charset="-120"/>
              </a:rPr>
              <a:t>Scale what works</a:t>
            </a:r>
            <a:endParaRPr lang="en-US" sz="1600" dirty="0"/>
          </a:p>
        </p:txBody>
      </p:sp>
      <p:sp>
        <p:nvSpPr>
          <p:cNvPr id="25" name="Text 23"/>
          <p:cNvSpPr txBox="1"/>
          <p:nvPr/>
        </p:nvSpPr>
        <p:spPr>
          <a:xfrm>
            <a:off x="1325880" y="4828032"/>
            <a:ext cx="5852160" cy="548640"/>
          </a:xfrm>
          <a:prstGeom prst="rect">
            <a:avLst/>
          </a:prstGeom>
          <a:noFill/>
          <a:ln/>
        </p:spPr>
        <p:txBody>
          <a:bodyPr wrap="square" lIns="0" tIns="0" rIns="0" bIns="0" rtlCol="0" anchor="t"/>
          <a:lstStyle/>
          <a:p>
            <a:pPr indent="0" marL="0">
              <a:buNone/>
            </a:pPr>
            <a:r>
              <a:rPr lang="en-US" sz="1250" dirty="0">
                <a:solidFill>
                  <a:srgbClr val="9AA4BD"/>
                </a:solidFill>
                <a:latin typeface="Calibri" pitchFamily="34" charset="0"/>
                <a:ea typeface="Calibri" pitchFamily="34" charset="-122"/>
                <a:cs typeface="Calibri" pitchFamily="34" charset="-120"/>
              </a:rPr>
              <a:t>Keep the offers that pay back; add opportunity types beyond lapsed regulars.</a:t>
            </a:r>
            <a:endParaRPr lang="en-US" sz="1250" dirty="0"/>
          </a:p>
        </p:txBody>
      </p:sp>
      <p:sp>
        <p:nvSpPr>
          <p:cNvPr id="26" name="Text 24"/>
          <p:cNvSpPr txBox="1"/>
          <p:nvPr/>
        </p:nvSpPr>
        <p:spPr>
          <a:xfrm>
            <a:off x="7269480" y="4517136"/>
            <a:ext cx="1097280" cy="274320"/>
          </a:xfrm>
          <a:prstGeom prst="rect">
            <a:avLst/>
          </a:prstGeom>
          <a:noFill/>
          <a:ln/>
        </p:spPr>
        <p:txBody>
          <a:bodyPr wrap="square" lIns="0" tIns="0" rIns="0" bIns="0" rtlCol="0" anchor="t"/>
          <a:lstStyle/>
          <a:p>
            <a:pPr algn="r" indent="0" marL="0">
              <a:buNone/>
            </a:pPr>
            <a:r>
              <a:rPr lang="en-US" sz="1100" dirty="0">
                <a:solidFill>
                  <a:srgbClr val="9AA4BD"/>
                </a:solidFill>
                <a:latin typeface="Calibri" pitchFamily="34" charset="0"/>
                <a:ea typeface="Calibri" pitchFamily="34" charset="-122"/>
                <a:cs typeface="Calibri" pitchFamily="34" charset="-120"/>
              </a:rPr>
              <a:t>after evidence</a:t>
            </a:r>
            <a:endParaRPr lang="en-US" sz="1100" dirty="0"/>
          </a:p>
        </p:txBody>
      </p:sp>
      <p:sp>
        <p:nvSpPr>
          <p:cNvPr id="27" name="Shape 25"/>
          <p:cNvSpPr/>
          <p:nvPr/>
        </p:nvSpPr>
        <p:spPr>
          <a:xfrm>
            <a:off x="8641080" y="1371600"/>
            <a:ext cx="3017520" cy="3977640"/>
          </a:xfrm>
          <a:prstGeom prst="roundRect">
            <a:avLst>
              <a:gd name="adj" fmla="val 3636"/>
            </a:avLst>
          </a:prstGeom>
          <a:solidFill>
            <a:srgbClr val="18213F"/>
          </a:solidFill>
          <a:ln w="19050">
            <a:solidFill>
              <a:srgbClr val="4C8DFF"/>
            </a:solidFill>
            <a:prstDash val="solid"/>
          </a:ln>
        </p:spPr>
      </p:sp>
      <p:sp>
        <p:nvSpPr>
          <p:cNvPr id="28" name="Text 26"/>
          <p:cNvSpPr txBox="1"/>
          <p:nvPr/>
        </p:nvSpPr>
        <p:spPr>
          <a:xfrm>
            <a:off x="8915400" y="1600200"/>
            <a:ext cx="2560320" cy="411480"/>
          </a:xfrm>
          <a:prstGeom prst="rect">
            <a:avLst/>
          </a:prstGeom>
          <a:noFill/>
          <a:ln/>
        </p:spPr>
        <p:txBody>
          <a:bodyPr wrap="square" lIns="0" tIns="0" rIns="0" bIns="0" rtlCol="0" anchor="t"/>
          <a:lstStyle/>
          <a:p>
            <a:pPr indent="0" marL="0">
              <a:buNone/>
            </a:pPr>
            <a:r>
              <a:rPr lang="en-US" sz="2200" b="1" dirty="0">
                <a:solidFill>
                  <a:srgbClr val="E7EBF3"/>
                </a:solidFill>
                <a:latin typeface="Cambria" pitchFamily="34" charset="0"/>
                <a:ea typeface="Cambria" pitchFamily="34" charset="-122"/>
                <a:cs typeface="Cambria" pitchFamily="34" charset="-120"/>
              </a:rPr>
              <a:t>Our ask</a:t>
            </a:r>
            <a:endParaRPr lang="en-US" sz="2200" dirty="0"/>
          </a:p>
        </p:txBody>
      </p:sp>
      <p:sp>
        <p:nvSpPr>
          <p:cNvPr id="29" name="Text 27"/>
          <p:cNvSpPr txBox="1"/>
          <p:nvPr/>
        </p:nvSpPr>
        <p:spPr>
          <a:xfrm>
            <a:off x="8915400" y="2194560"/>
            <a:ext cx="2606040" cy="2377440"/>
          </a:xfrm>
          <a:prstGeom prst="rect">
            <a:avLst/>
          </a:prstGeom>
          <a:noFill/>
          <a:ln/>
        </p:spPr>
        <p:txBody>
          <a:bodyPr wrap="square" lIns="0" tIns="0" rIns="0" bIns="0" rtlCol="0" anchor="t"/>
          <a:lstStyle/>
          <a:p>
            <a:pPr marL="177800" indent="-177800">
              <a:spcAft>
                <a:spcPts val="1400"/>
              </a:spcAft>
              <a:buSzPct val="100000"/>
              <a:buChar char="•"/>
            </a:pPr>
            <a:r>
              <a:rPr lang="en-US" sz="1500" dirty="0">
                <a:solidFill>
                  <a:srgbClr val="E7EBF3"/>
                </a:solidFill>
                <a:latin typeface="Calibri" pitchFamily="34" charset="0"/>
                <a:ea typeface="Calibri" pitchFamily="34" charset="-122"/>
                <a:cs typeface="Calibri" pitchFamily="34" charset="-120"/>
              </a:rPr>
              <a:t>A pilot with a handful of merchants</a:t>
            </a:r>
            <a:endParaRPr lang="en-US" sz="1500" dirty="0"/>
          </a:p>
          <a:p>
            <a:pPr marL="177800" indent="-177800">
              <a:spcAft>
                <a:spcPts val="1400"/>
              </a:spcAft>
              <a:buSzPct val="100000"/>
              <a:buChar char="•"/>
            </a:pPr>
            <a:r>
              <a:rPr lang="en-US" sz="1500" dirty="0">
                <a:solidFill>
                  <a:srgbClr val="E7EBF3"/>
                </a:solidFill>
                <a:latin typeface="Calibri" pitchFamily="34" charset="0"/>
                <a:ea typeface="Calibri" pitchFamily="34" charset="-122"/>
                <a:cs typeface="Calibri" pitchFamily="34" charset="-120"/>
              </a:rPr>
              <a:t>Guidance on consented data access</a:t>
            </a:r>
            <a:endParaRPr lang="en-US" sz="1500" dirty="0"/>
          </a:p>
          <a:p>
            <a:pPr marL="177800" indent="-177800">
              <a:spcAft>
                <a:spcPts val="1400"/>
              </a:spcAft>
              <a:buSzPct val="100000"/>
              <a:buChar char="•"/>
            </a:pPr>
            <a:r>
              <a:rPr lang="en-US" sz="1500" dirty="0">
                <a:solidFill>
                  <a:srgbClr val="E7EBF3"/>
                </a:solidFill>
                <a:latin typeface="Calibri" pitchFamily="34" charset="0"/>
                <a:ea typeface="Calibri" pitchFamily="34" charset="-122"/>
                <a:cs typeface="Calibri" pitchFamily="34" charset="-120"/>
              </a:rPr>
              <a:t>Mentors to shape the experiment design</a:t>
            </a:r>
            <a:endParaRPr lang="en-US" sz="1500" dirty="0"/>
          </a:p>
        </p:txBody>
      </p:sp>
      <p:sp>
        <p:nvSpPr>
          <p:cNvPr id="30" name="Text 28"/>
          <p:cNvSpPr txBox="1"/>
          <p:nvPr/>
        </p:nvSpPr>
        <p:spPr>
          <a:xfrm>
            <a:off x="548640" y="5577840"/>
            <a:ext cx="7772400" cy="274320"/>
          </a:xfrm>
          <a:prstGeom prst="rect">
            <a:avLst/>
          </a:prstGeom>
          <a:noFill/>
          <a:ln/>
        </p:spPr>
        <p:txBody>
          <a:bodyPr wrap="square" lIns="0" tIns="0" rIns="0" bIns="0" rtlCol="0" anchor="t"/>
          <a:lstStyle/>
          <a:p>
            <a:pPr indent="0" marL="0">
              <a:buNone/>
            </a:pPr>
            <a:r>
              <a:rPr lang="en-US" sz="1150" i="1" dirty="0">
                <a:solidFill>
                  <a:srgbClr val="9AA4BD"/>
                </a:solidFill>
                <a:latin typeface="Calibri" pitchFamily="34" charset="0"/>
                <a:ea typeface="Calibri" pitchFamily="34" charset="-122"/>
                <a:cs typeface="Calibri" pitchFamily="34" charset="-120"/>
              </a:rPr>
              <a:t>Timelines are our plan, not commitments from anyone else.</a:t>
            </a:r>
            <a:endParaRPr lang="en-US" sz="1150" dirty="0"/>
          </a:p>
        </p:txBody>
      </p:sp>
      <p:sp>
        <p:nvSpPr>
          <p:cNvPr id="25" name="Slide Number Placeholder 0"/>
          <p:cNvSpPr>
            <a:spLocks noGrp="1"/>
          </p:cNvSpPr>
          <p:nvPr>
            <p:ph type="sldNum" sz="quarter" idx="4294967295"/>
          </p:nvPr>
        </p:nvSpPr>
        <p:spPr>
          <a:xfrm>
            <a:off x="11185855" y="647395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AA4BD"/>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914400" y="1920240"/>
            <a:ext cx="10972800" cy="914400"/>
          </a:xfrm>
          <a:prstGeom prst="rect">
            <a:avLst/>
          </a:prstGeom>
          <a:noFill/>
          <a:ln/>
        </p:spPr>
        <p:txBody>
          <a:bodyPr wrap="square" lIns="0" tIns="0" rIns="0" bIns="0" rtlCol="0" anchor="t"/>
          <a:lstStyle/>
          <a:p>
            <a:pPr indent="0" marL="0">
              <a:buNone/>
            </a:pPr>
            <a:r>
              <a:rPr lang="en-US" sz="5000" b="1" dirty="0">
                <a:solidFill>
                  <a:srgbClr val="E7EBF3"/>
                </a:solidFill>
                <a:latin typeface="Cambria" pitchFamily="34" charset="0"/>
                <a:ea typeface="Cambria" pitchFamily="34" charset="-122"/>
                <a:cs typeface="Cambria" pitchFamily="34" charset="-120"/>
              </a:rPr>
              <a:t>Evidence, not guesses.</a:t>
            </a:r>
            <a:endParaRPr lang="en-US" sz="5000" dirty="0"/>
          </a:p>
        </p:txBody>
      </p:sp>
      <p:sp>
        <p:nvSpPr>
          <p:cNvPr id="3" name="Text 1"/>
          <p:cNvSpPr txBox="1"/>
          <p:nvPr/>
        </p:nvSpPr>
        <p:spPr>
          <a:xfrm>
            <a:off x="914400" y="2834640"/>
            <a:ext cx="10972800" cy="914400"/>
          </a:xfrm>
          <a:prstGeom prst="rect">
            <a:avLst/>
          </a:prstGeom>
          <a:noFill/>
          <a:ln/>
        </p:spPr>
        <p:txBody>
          <a:bodyPr wrap="square" lIns="0" tIns="0" rIns="0" bIns="0" rtlCol="0" anchor="t"/>
          <a:lstStyle/>
          <a:p>
            <a:pPr indent="0" marL="0">
              <a:buNone/>
            </a:pPr>
            <a:r>
              <a:rPr lang="en-US" sz="5000" b="1" i="1" dirty="0">
                <a:solidFill>
                  <a:srgbClr val="4C8DFF"/>
                </a:solidFill>
                <a:latin typeface="Cambria" pitchFamily="34" charset="0"/>
                <a:ea typeface="Cambria" pitchFamily="34" charset="-122"/>
                <a:cs typeface="Cambria" pitchFamily="34" charset="-120"/>
              </a:rPr>
              <a:t>Decisions, not dashboards.</a:t>
            </a:r>
            <a:endParaRPr lang="en-US" sz="5000" dirty="0"/>
          </a:p>
        </p:txBody>
      </p:sp>
      <p:sp>
        <p:nvSpPr>
          <p:cNvPr id="4" name="Text 2"/>
          <p:cNvSpPr txBox="1"/>
          <p:nvPr/>
        </p:nvSpPr>
        <p:spPr>
          <a:xfrm>
            <a:off x="914400" y="3931920"/>
            <a:ext cx="10058400" cy="548640"/>
          </a:xfrm>
          <a:prstGeom prst="rect">
            <a:avLst/>
          </a:prstGeom>
          <a:noFill/>
          <a:ln/>
        </p:spPr>
        <p:txBody>
          <a:bodyPr wrap="square" lIns="0" tIns="0" rIns="0" bIns="0" rtlCol="0" anchor="t"/>
          <a:lstStyle/>
          <a:p>
            <a:pPr indent="0" marL="0">
              <a:buNone/>
            </a:pPr>
            <a:r>
              <a:rPr lang="en-US" sz="2400" dirty="0">
                <a:solidFill>
                  <a:srgbClr val="E7EBF3"/>
                </a:solidFill>
                <a:latin typeface="Calibri" pitchFamily="34" charset="0"/>
                <a:ea typeface="Calibri" pitchFamily="34" charset="-122"/>
                <a:cs typeface="Calibri" pitchFamily="34" charset="-120"/>
              </a:rPr>
              <a:t>And the merchant always has the final say.</a:t>
            </a:r>
            <a:endParaRPr lang="en-US" sz="2400" dirty="0"/>
          </a:p>
        </p:txBody>
      </p:sp>
      <p:sp>
        <p:nvSpPr>
          <p:cNvPr id="5" name="Shape 3"/>
          <p:cNvSpPr/>
          <p:nvPr/>
        </p:nvSpPr>
        <p:spPr>
          <a:xfrm>
            <a:off x="914400" y="4892040"/>
            <a:ext cx="6949440" cy="1051560"/>
          </a:xfrm>
          <a:prstGeom prst="roundRect">
            <a:avLst>
              <a:gd name="adj" fmla="val 10435"/>
            </a:avLst>
          </a:prstGeom>
          <a:solidFill>
            <a:srgbClr val="111831"/>
          </a:solidFill>
          <a:ln w="12700">
            <a:solidFill>
              <a:srgbClr val="26314F"/>
            </a:solidFill>
            <a:prstDash val="solid"/>
          </a:ln>
        </p:spPr>
      </p:sp>
      <p:sp>
        <p:nvSpPr>
          <p:cNvPr id="6" name="Shape 4"/>
          <p:cNvSpPr/>
          <p:nvPr/>
        </p:nvSpPr>
        <p:spPr>
          <a:xfrm>
            <a:off x="1143000" y="5074920"/>
            <a:ext cx="603504" cy="603504"/>
          </a:xfrm>
          <a:prstGeom prst="ellipse">
            <a:avLst/>
          </a:prstGeom>
          <a:solidFill>
            <a:srgbClr val="18213F"/>
          </a:solidFill>
          <a:ln w="12700">
            <a:solidFill>
              <a:srgbClr val="26314F"/>
            </a:solidFill>
            <a:prstDash val="solid"/>
          </a:ln>
        </p:spPr>
      </p:sp>
      <p:pic>
        <p:nvPicPr>
          <p:cNvPr id="7" name="Image 0" descr="store icon">    </p:cNvPr>
          <p:cNvPicPr>
            <a:picLocks noChangeAspect="1"/>
          </p:cNvPicPr>
          <p:nvPr/>
        </p:nvPicPr>
        <p:blipFill>
          <a:blip r:embed="rId1"/>
          <a:stretch>
            <a:fillRect/>
          </a:stretch>
        </p:blipFill>
        <p:spPr>
          <a:xfrm>
            <a:off x="1252728" y="5184648"/>
            <a:ext cx="384048" cy="384048"/>
          </a:xfrm>
          <a:prstGeom prst="rect">
            <a:avLst/>
          </a:prstGeom>
        </p:spPr>
      </p:pic>
      <p:sp>
        <p:nvSpPr>
          <p:cNvPr id="8" name="Text 5"/>
          <p:cNvSpPr txBox="1"/>
          <p:nvPr/>
        </p:nvSpPr>
        <p:spPr>
          <a:xfrm>
            <a:off x="1965960" y="4983480"/>
            <a:ext cx="5760720" cy="868680"/>
          </a:xfrm>
          <a:prstGeom prst="rect">
            <a:avLst/>
          </a:prstGeom>
          <a:noFill/>
          <a:ln/>
        </p:spPr>
        <p:txBody>
          <a:bodyPr wrap="square" lIns="0" tIns="0" rIns="0" bIns="0" rtlCol="0" anchor="ctr"/>
          <a:lstStyle/>
          <a:p>
            <a:pPr indent="0" marL="0">
              <a:buNone/>
            </a:pPr>
            <a:r>
              <a:rPr lang="en-US" sz="1800" b="1" dirty="0">
                <a:solidFill>
                  <a:srgbClr val="E7EBF3"/>
                </a:solidFill>
                <a:latin typeface="Calibri" pitchFamily="34" charset="0"/>
                <a:ea typeface="Calibri" pitchFamily="34" charset="-122"/>
                <a:cs typeface="Calibri" pitchFamily="34" charset="-120"/>
              </a:rPr>
              <a:t>DukaanPulse AI</a:t>
            </a:r>
            <a:endParaRPr lang="en-US" sz="1800" dirty="0"/>
          </a:p>
          <a:p>
            <a:pPr indent="0" marL="0">
              <a:buNone/>
            </a:pPr>
            <a:r>
              <a:rPr lang="en-US" sz="1200" dirty="0">
                <a:solidFill>
                  <a:srgbClr val="9AA4BD"/>
                </a:solidFill>
                <a:latin typeface="Calibri" pitchFamily="34" charset="0"/>
                <a:ea typeface="Calibri" pitchFamily="34" charset="-122"/>
                <a:cs typeface="Calibri" pitchFamily="34" charset="-120"/>
              </a:rPr>
              <a:t>Working prototype · synthetic data · local model + rules fallback · not affiliated with Paytm</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146304"/>
            <a:ext cx="7315200" cy="219456"/>
          </a:xfrm>
          <a:prstGeom prst="rect">
            <a:avLst/>
          </a:prstGeom>
          <a:noFill/>
          <a:ln/>
        </p:spPr>
        <p:txBody>
          <a:bodyPr wrap="square" lIns="0" tIns="0" rIns="0" bIns="0" rtlCol="0" anchor="t"/>
          <a:lstStyle/>
          <a:p>
            <a:pPr indent="0" marL="0">
              <a:buNone/>
            </a:pPr>
            <a:r>
              <a:rPr lang="en-US" sz="1000" b="1" spc="200" kern="0" dirty="0">
                <a:solidFill>
                  <a:srgbClr val="4C8DFF"/>
                </a:solidFill>
                <a:latin typeface="Calibri" pitchFamily="34" charset="0"/>
                <a:ea typeface="Calibri" pitchFamily="34" charset="-122"/>
                <a:cs typeface="Calibri" pitchFamily="34" charset="-120"/>
              </a:rPr>
              <a:t>APPENDIX</a:t>
            </a:r>
            <a:endParaRPr lang="en-US" sz="1000" dirty="0"/>
          </a:p>
        </p:txBody>
      </p:sp>
      <p:sp>
        <p:nvSpPr>
          <p:cNvPr id="3" name="Text 0"/>
          <p:cNvSpPr/>
          <p:nvPr>
            <p:ph idx="100" type="title" hasCustomPrompt="1"/>
          </p:nvPr>
        </p:nvSpPr>
        <p:spPr>
          <a:xfrm>
            <a:off x="548640" y="384048"/>
            <a:ext cx="11094415" cy="777240"/>
          </a:xfrm>
          <a:prstGeom prst="rect">
            <a:avLst/>
          </a:prstGeom>
          <a:noFill/>
          <a:ln/>
        </p:spPr>
        <p:txBody>
          <a:bodyPr wrap="square" lIns="0" tIns="0" rIns="0" bIns="0" rtlCol="0" anchor="t"/>
          <a:lstStyle/>
          <a:p>
            <a:pPr algn="l" indent="0" marL="0">
              <a:buNone/>
            </a:pPr>
            <a:r>
              <a:rPr lang="en-US" sz="2800" b="1" dirty="0">
                <a:solidFill>
                  <a:srgbClr val="E7EBF3"/>
                </a:solidFill>
                <a:latin typeface="Cambria" pitchFamily="34" charset="0"/>
                <a:ea typeface="Cambria" pitchFamily="34" charset="-122"/>
                <a:cs typeface="Cambria" pitchFamily="34" charset="-120"/>
              </a:rPr>
              <a:t>Appendix: where the numbers come from</a:t>
            </a:r>
            <a:endParaRPr lang="en-US" sz="28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3566160"/>
                <a:gridCol w="1188720"/>
                <a:gridCol w="6336792"/>
              </a:tblGrid>
              <a:tr h="566928">
                <a:tc>
                  <a:txBody>
                    <a:bodyPr/>
                    <a:lstStyle/>
                    <a:p>
                      <a:pPr indent="0" marL="0">
                        <a:buNone/>
                      </a:pPr>
                      <a:r>
                        <a:rPr lang="en-US" sz="1200" b="1" dirty="0">
                          <a:solidFill>
                            <a:srgbClr val="9AA4BD"/>
                          </a:solidFill>
                          <a:latin typeface="Calibri" pitchFamily="34" charset="0"/>
                          <a:ea typeface="Calibri" pitchFamily="34" charset="-122"/>
                          <a:cs typeface="Calibri" pitchFamily="34" charset="-120"/>
                        </a:rPr>
                        <a:t>Claim</a:t>
                      </a:r>
                      <a:endParaRPr lang="en-US" sz="1200" dirty="0">
                        <a:latin typeface="Calibri" charset="0"/>
                        <a:ea typeface="Calibri" charset="0"/>
                        <a:cs typeface="Calibri" charset="0"/>
                      </a:endParaRPr>
                    </a:p>
                  </a:txBody>
                  <a:tcPr marL="109728" marR="109728" marT="54864" marB="54864" anchor="ctr">
                    <a:lnL w="9525" cap="flat" cmpd="sng" algn="ctr">
                      <a:solidFill>
                        <a:srgbClr val="26314F"/>
                      </a:solidFill>
                      <a:prstDash val="solid"/>
                      <a:round/>
                      <a:headEnd type="none" w="med" len="med"/>
                      <a:tailEnd type="none" w="med" len="med"/>
                    </a:lnL>
                    <a:lnR w="9525" cap="flat" cmpd="sng" algn="ctr">
                      <a:solidFill>
                        <a:srgbClr val="26314F"/>
                      </a:solidFill>
                      <a:prstDash val="solid"/>
                      <a:round/>
                      <a:headEnd type="none" w="med" len="med"/>
                      <a:tailEnd type="none" w="med" len="med"/>
                    </a:lnR>
                    <a:lnT w="9525" cap="flat" cmpd="sng" algn="ctr">
                      <a:solidFill>
                        <a:srgbClr val="26314F"/>
                      </a:solidFill>
                      <a:prstDash val="solid"/>
                      <a:round/>
                      <a:headEnd type="none" w="med" len="med"/>
                      <a:tailEnd type="none" w="med" len="med"/>
                    </a:lnT>
                    <a:lnB w="9525" cap="flat" cmpd="sng" algn="ctr">
                      <a:solidFill>
                        <a:srgbClr val="26314F"/>
                      </a:solidFill>
                      <a:prstDash val="solid"/>
                      <a:round/>
                      <a:headEnd type="none" w="med" len="med"/>
                      <a:tailEnd type="none" w="med" len="med"/>
                    </a:lnB>
                    <a:solidFill>
                      <a:srgbClr val="111831"/>
                    </a:solidFill>
                  </a:tcPr>
                </a:tc>
                <a:tc>
                  <a:txBody>
                    <a:bodyPr/>
                    <a:lstStyle/>
                    <a:p>
                      <a:pPr indent="0" marL="0">
                        <a:buNone/>
                      </a:pPr>
                      <a:r>
                        <a:rPr lang="en-US" sz="1200" b="1" dirty="0">
                          <a:solidFill>
                            <a:srgbClr val="9AA4BD"/>
                          </a:solidFill>
                          <a:latin typeface="Calibri" pitchFamily="34" charset="0"/>
                          <a:ea typeface="Calibri" pitchFamily="34" charset="-122"/>
                          <a:cs typeface="Calibri" pitchFamily="34" charset="-120"/>
                        </a:rPr>
                        <a:t>Type</a:t>
                      </a:r>
                      <a:endParaRPr lang="en-US" sz="1200" dirty="0">
                        <a:latin typeface="Calibri" charset="0"/>
                        <a:ea typeface="Calibri" charset="0"/>
                        <a:cs typeface="Calibri" charset="0"/>
                      </a:endParaRPr>
                    </a:p>
                  </a:txBody>
                  <a:tcPr marL="109728" marR="109728" marT="54864" marB="54864" anchor="ctr">
                    <a:lnL w="9525" cap="flat" cmpd="sng" algn="ctr">
                      <a:solidFill>
                        <a:srgbClr val="26314F"/>
                      </a:solidFill>
                      <a:prstDash val="solid"/>
                      <a:round/>
                      <a:headEnd type="none" w="med" len="med"/>
                      <a:tailEnd type="none" w="med" len="med"/>
                    </a:lnL>
                    <a:lnR w="9525" cap="flat" cmpd="sng" algn="ctr">
                      <a:solidFill>
                        <a:srgbClr val="26314F"/>
                      </a:solidFill>
                      <a:prstDash val="solid"/>
                      <a:round/>
                      <a:headEnd type="none" w="med" len="med"/>
                      <a:tailEnd type="none" w="med" len="med"/>
                    </a:lnR>
                    <a:lnT w="9525" cap="flat" cmpd="sng" algn="ctr">
                      <a:solidFill>
                        <a:srgbClr val="26314F"/>
                      </a:solidFill>
                      <a:prstDash val="solid"/>
                      <a:round/>
                      <a:headEnd type="none" w="med" len="med"/>
                      <a:tailEnd type="none" w="med" len="med"/>
                    </a:lnT>
                    <a:lnB w="9525" cap="flat" cmpd="sng" algn="ctr">
                      <a:solidFill>
                        <a:srgbClr val="26314F"/>
                      </a:solidFill>
                      <a:prstDash val="solid"/>
                      <a:round/>
                      <a:headEnd type="none" w="med" len="med"/>
                      <a:tailEnd type="none" w="med" len="med"/>
                    </a:lnB>
                    <a:solidFill>
                      <a:srgbClr val="111831"/>
                    </a:solidFill>
                  </a:tcPr>
                </a:tc>
                <a:tc>
                  <a:txBody>
                    <a:bodyPr/>
                    <a:lstStyle/>
                    <a:p>
                      <a:pPr indent="0" marL="0">
                        <a:buNone/>
                      </a:pPr>
                      <a:r>
                        <a:rPr lang="en-US" sz="1200" b="1" dirty="0">
                          <a:solidFill>
                            <a:srgbClr val="9AA4BD"/>
                          </a:solidFill>
                          <a:latin typeface="Calibri" pitchFamily="34" charset="0"/>
                          <a:ea typeface="Calibri" pitchFamily="34" charset="-122"/>
                          <a:cs typeface="Calibri" pitchFamily="34" charset="-120"/>
                        </a:rPr>
                        <a:t>Source / method</a:t>
                      </a:r>
                      <a:endParaRPr lang="en-US" sz="1200" dirty="0">
                        <a:latin typeface="Calibri" charset="0"/>
                        <a:ea typeface="Calibri" charset="0"/>
                        <a:cs typeface="Calibri" charset="0"/>
                      </a:endParaRPr>
                    </a:p>
                  </a:txBody>
                  <a:tcPr marL="109728" marR="109728" marT="54864" marB="54864" anchor="ctr">
                    <a:lnL w="9525" cap="flat" cmpd="sng" algn="ctr">
                      <a:solidFill>
                        <a:srgbClr val="26314F"/>
                      </a:solidFill>
                      <a:prstDash val="solid"/>
                      <a:round/>
                      <a:headEnd type="none" w="med" len="med"/>
                      <a:tailEnd type="none" w="med" len="med"/>
                    </a:lnL>
                    <a:lnR w="9525" cap="flat" cmpd="sng" algn="ctr">
                      <a:solidFill>
                        <a:srgbClr val="26314F"/>
                      </a:solidFill>
                      <a:prstDash val="solid"/>
                      <a:round/>
                      <a:headEnd type="none" w="med" len="med"/>
                      <a:tailEnd type="none" w="med" len="med"/>
                    </a:lnR>
                    <a:lnT w="9525" cap="flat" cmpd="sng" algn="ctr">
                      <a:solidFill>
                        <a:srgbClr val="26314F"/>
                      </a:solidFill>
                      <a:prstDash val="solid"/>
                      <a:round/>
                      <a:headEnd type="none" w="med" len="med"/>
                      <a:tailEnd type="none" w="med" len="med"/>
                    </a:lnT>
                    <a:lnB w="9525" cap="flat" cmpd="sng" algn="ctr">
                      <a:solidFill>
                        <a:srgbClr val="26314F"/>
                      </a:solidFill>
                      <a:prstDash val="solid"/>
                      <a:round/>
                      <a:headEnd type="none" w="med" len="med"/>
                      <a:tailEnd type="none" w="med" len="med"/>
                    </a:lnB>
                    <a:solidFill>
                      <a:srgbClr val="111831"/>
                    </a:solidFill>
                  </a:tcPr>
                </a:tc>
              </a:tr>
              <a:tr h="566928">
                <a:tc>
                  <a:txBody>
                    <a:bodyPr/>
                    <a:lstStyle/>
                    <a:p>
                      <a:pPr indent="0" marL="0">
                        <a:buNone/>
                      </a:pPr>
                      <a:r>
                        <a:rPr lang="en-US" sz="1200" dirty="0">
                          <a:solidFill>
                            <a:srgbClr val="E7EBF3"/>
                          </a:solidFill>
                          <a:latin typeface="Calibri" pitchFamily="34" charset="0"/>
                          <a:ea typeface="Calibri" pitchFamily="34" charset="-122"/>
                          <a:cs typeface="Calibri" pitchFamily="34" charset="-120"/>
                        </a:rPr>
                        <a:t>Revenue −13.0%, morning −21.6%, 34 of 209 regulars</a:t>
                      </a:r>
                      <a:endParaRPr lang="en-US" sz="1200" dirty="0">
                        <a:latin typeface="Calibri" charset="0"/>
                        <a:ea typeface="Calibri" charset="0"/>
                        <a:cs typeface="Calibri" charset="0"/>
                      </a:endParaRPr>
                    </a:p>
                  </a:txBody>
                  <a:tcPr marL="109728" marR="109728" marT="54864" marB="54864" anchor="ctr">
                    <a:lnL w="9525" cap="flat" cmpd="sng" algn="ctr">
                      <a:solidFill>
                        <a:srgbClr val="26314F"/>
                      </a:solidFill>
                      <a:prstDash val="solid"/>
                      <a:round/>
                      <a:headEnd type="none" w="med" len="med"/>
                      <a:tailEnd type="none" w="med" len="med"/>
                    </a:lnL>
                    <a:lnR w="9525" cap="flat" cmpd="sng" algn="ctr">
                      <a:solidFill>
                        <a:srgbClr val="26314F"/>
                      </a:solidFill>
                      <a:prstDash val="solid"/>
                      <a:round/>
                      <a:headEnd type="none" w="med" len="med"/>
                      <a:tailEnd type="none" w="med" len="med"/>
                    </a:lnR>
                    <a:lnT w="9525" cap="flat" cmpd="sng" algn="ctr">
                      <a:solidFill>
                        <a:srgbClr val="26314F"/>
                      </a:solidFill>
                      <a:prstDash val="solid"/>
                      <a:round/>
                      <a:headEnd type="none" w="med" len="med"/>
                      <a:tailEnd type="none" w="med" len="med"/>
                    </a:lnT>
                    <a:lnB w="9525" cap="flat" cmpd="sng" algn="ctr">
                      <a:solidFill>
                        <a:srgbClr val="26314F"/>
                      </a:solidFill>
                      <a:prstDash val="solid"/>
                      <a:round/>
                      <a:headEnd type="none" w="med" len="med"/>
                      <a:tailEnd type="none" w="med" len="med"/>
                    </a:lnB>
                    <a:solidFill>
                      <a:srgbClr val="111831"/>
                    </a:solidFill>
                  </a:tcPr>
                </a:tc>
                <a:tc>
                  <a:txBody>
                    <a:bodyPr/>
                    <a:lstStyle/>
                    <a:p>
                      <a:pPr indent="0" marL="0">
                        <a:buNone/>
                      </a:pPr>
                      <a:r>
                        <a:rPr lang="en-US" sz="1200" b="1" dirty="0">
                          <a:solidFill>
                            <a:srgbClr val="4C8DFF"/>
                          </a:solidFill>
                          <a:latin typeface="Calibri" pitchFamily="34" charset="0"/>
                          <a:ea typeface="Calibri" pitchFamily="34" charset="-122"/>
                          <a:cs typeface="Calibri" pitchFamily="34" charset="-120"/>
                        </a:rPr>
                        <a:t>Observed</a:t>
                      </a:r>
                      <a:endParaRPr lang="en-US" sz="1200" dirty="0">
                        <a:latin typeface="Calibri" charset="0"/>
                        <a:ea typeface="Calibri" charset="0"/>
                        <a:cs typeface="Calibri" charset="0"/>
                      </a:endParaRPr>
                    </a:p>
                  </a:txBody>
                  <a:tcPr marL="109728" marR="109728" marT="54864" marB="54864" anchor="ctr">
                    <a:lnL w="9525" cap="flat" cmpd="sng" algn="ctr">
                      <a:solidFill>
                        <a:srgbClr val="26314F"/>
                      </a:solidFill>
                      <a:prstDash val="solid"/>
                      <a:round/>
                      <a:headEnd type="none" w="med" len="med"/>
                      <a:tailEnd type="none" w="med" len="med"/>
                    </a:lnL>
                    <a:lnR w="9525" cap="flat" cmpd="sng" algn="ctr">
                      <a:solidFill>
                        <a:srgbClr val="26314F"/>
                      </a:solidFill>
                      <a:prstDash val="solid"/>
                      <a:round/>
                      <a:headEnd type="none" w="med" len="med"/>
                      <a:tailEnd type="none" w="med" len="med"/>
                    </a:lnR>
                    <a:lnT w="9525" cap="flat" cmpd="sng" algn="ctr">
                      <a:solidFill>
                        <a:srgbClr val="26314F"/>
                      </a:solidFill>
                      <a:prstDash val="solid"/>
                      <a:round/>
                      <a:headEnd type="none" w="med" len="med"/>
                      <a:tailEnd type="none" w="med" len="med"/>
                    </a:lnT>
                    <a:lnB w="9525" cap="flat" cmpd="sng" algn="ctr">
                      <a:solidFill>
                        <a:srgbClr val="26314F"/>
                      </a:solidFill>
                      <a:prstDash val="solid"/>
                      <a:round/>
                      <a:headEnd type="none" w="med" len="med"/>
                      <a:tailEnd type="none" w="med" len="med"/>
                    </a:lnB>
                    <a:solidFill>
                      <a:srgbClr val="111831"/>
                    </a:solidFill>
                  </a:tcPr>
                </a:tc>
                <a:tc>
                  <a:txBody>
                    <a:bodyPr/>
                    <a:lstStyle/>
                    <a:p>
                      <a:pPr indent="0" marL="0">
                        <a:buNone/>
                      </a:pPr>
                      <a:r>
                        <a:rPr lang="en-US" sz="1200" dirty="0">
                          <a:solidFill>
                            <a:srgbClr val="9AA4BD"/>
                          </a:solidFill>
                          <a:latin typeface="Calibri" pitchFamily="34" charset="0"/>
                          <a:ea typeface="Calibri" pitchFamily="34" charset="-122"/>
                          <a:cs typeface="Calibri" pitchFamily="34" charset="-120"/>
                        </a:rPr>
                        <a:t>Seeded synthetic data (180 days, seed 20261020); comparePeriods, revenueByDaypart, lapse detector</a:t>
                      </a:r>
                      <a:endParaRPr lang="en-US" sz="1200" dirty="0">
                        <a:latin typeface="Calibri" charset="0"/>
                        <a:ea typeface="Calibri" charset="0"/>
                        <a:cs typeface="Calibri" charset="0"/>
                      </a:endParaRPr>
                    </a:p>
                  </a:txBody>
                  <a:tcPr marL="109728" marR="109728" marT="54864" marB="54864" anchor="ctr">
                    <a:lnL w="9525" cap="flat" cmpd="sng" algn="ctr">
                      <a:solidFill>
                        <a:srgbClr val="26314F"/>
                      </a:solidFill>
                      <a:prstDash val="solid"/>
                      <a:round/>
                      <a:headEnd type="none" w="med" len="med"/>
                      <a:tailEnd type="none" w="med" len="med"/>
                    </a:lnL>
                    <a:lnR w="9525" cap="flat" cmpd="sng" algn="ctr">
                      <a:solidFill>
                        <a:srgbClr val="26314F"/>
                      </a:solidFill>
                      <a:prstDash val="solid"/>
                      <a:round/>
                      <a:headEnd type="none" w="med" len="med"/>
                      <a:tailEnd type="none" w="med" len="med"/>
                    </a:lnR>
                    <a:lnT w="9525" cap="flat" cmpd="sng" algn="ctr">
                      <a:solidFill>
                        <a:srgbClr val="26314F"/>
                      </a:solidFill>
                      <a:prstDash val="solid"/>
                      <a:round/>
                      <a:headEnd type="none" w="med" len="med"/>
                      <a:tailEnd type="none" w="med" len="med"/>
                    </a:lnT>
                    <a:lnB w="9525" cap="flat" cmpd="sng" algn="ctr">
                      <a:solidFill>
                        <a:srgbClr val="26314F"/>
                      </a:solidFill>
                      <a:prstDash val="solid"/>
                      <a:round/>
                      <a:headEnd type="none" w="med" len="med"/>
                      <a:tailEnd type="none" w="med" len="med"/>
                    </a:lnB>
                    <a:solidFill>
                      <a:srgbClr val="111831"/>
                    </a:solidFill>
                  </a:tcPr>
                </a:tc>
              </a:tr>
              <a:tr h="566928">
                <a:tc>
                  <a:txBody>
                    <a:bodyPr/>
                    <a:lstStyle/>
                    <a:p>
                      <a:pPr indent="0" marL="0">
                        <a:buNone/>
                      </a:pPr>
                      <a:r>
                        <a:rPr lang="en-US" sz="1200" dirty="0">
                          <a:solidFill>
                            <a:srgbClr val="E7EBF3"/>
                          </a:solidFill>
                          <a:latin typeface="Calibri" pitchFamily="34" charset="0"/>
                          <a:ea typeface="Calibri" pitchFamily="34" charset="-122"/>
                          <a:cs typeface="Calibri" pitchFamily="34" charset="-120"/>
                        </a:rPr>
                        <a:t>₹92,700 · +27% (≈837 orders)</a:t>
                      </a:r>
                      <a:endParaRPr lang="en-US" sz="1200" dirty="0">
                        <a:latin typeface="Calibri" charset="0"/>
                        <a:ea typeface="Calibri" charset="0"/>
                        <a:cs typeface="Calibri" charset="0"/>
                      </a:endParaRPr>
                    </a:p>
                  </a:txBody>
                  <a:tcPr marL="109728" marR="109728" marT="54864" marB="54864" anchor="ctr">
                    <a:lnL w="9525" cap="flat" cmpd="sng" algn="ctr">
                      <a:solidFill>
                        <a:srgbClr val="26314F"/>
                      </a:solidFill>
                      <a:prstDash val="solid"/>
                      <a:round/>
                      <a:headEnd type="none" w="med" len="med"/>
                      <a:tailEnd type="none" w="med" len="med"/>
                    </a:lnL>
                    <a:lnR w="9525" cap="flat" cmpd="sng" algn="ctr">
                      <a:solidFill>
                        <a:srgbClr val="26314F"/>
                      </a:solidFill>
                      <a:prstDash val="solid"/>
                      <a:round/>
                      <a:headEnd type="none" w="med" len="med"/>
                      <a:tailEnd type="none" w="med" len="med"/>
                    </a:lnR>
                    <a:lnT w="9525" cap="flat" cmpd="sng" algn="ctr">
                      <a:solidFill>
                        <a:srgbClr val="26314F"/>
                      </a:solidFill>
                      <a:prstDash val="solid"/>
                      <a:round/>
                      <a:headEnd type="none" w="med" len="med"/>
                      <a:tailEnd type="none" w="med" len="med"/>
                    </a:lnT>
                    <a:lnB w="9525" cap="flat" cmpd="sng" algn="ctr">
                      <a:solidFill>
                        <a:srgbClr val="26314F"/>
                      </a:solidFill>
                      <a:prstDash val="solid"/>
                      <a:round/>
                      <a:headEnd type="none" w="med" len="med"/>
                      <a:tailEnd type="none" w="med" len="med"/>
                    </a:lnB>
                    <a:solidFill>
                      <a:srgbClr val="111831"/>
                    </a:solidFill>
                  </a:tcPr>
                </a:tc>
                <a:tc>
                  <a:txBody>
                    <a:bodyPr/>
                    <a:lstStyle/>
                    <a:p>
                      <a:pPr indent="0" marL="0">
                        <a:buNone/>
                      </a:pPr>
                      <a:r>
                        <a:rPr lang="en-US" sz="1200" b="1" dirty="0">
                          <a:solidFill>
                            <a:srgbClr val="9AA4BD"/>
                          </a:solidFill>
                          <a:latin typeface="Calibri" pitchFamily="34" charset="0"/>
                          <a:ea typeface="Calibri" pitchFamily="34" charset="-122"/>
                          <a:cs typeface="Calibri" pitchFamily="34" charset="-120"/>
                        </a:rPr>
                        <a:t>Estimate</a:t>
                      </a:r>
                      <a:endParaRPr lang="en-US" sz="1200" dirty="0">
                        <a:latin typeface="Calibri" charset="0"/>
                        <a:ea typeface="Calibri" charset="0"/>
                        <a:cs typeface="Calibri" charset="0"/>
                      </a:endParaRPr>
                    </a:p>
                  </a:txBody>
                  <a:tcPr marL="109728" marR="109728" marT="54864" marB="54864" anchor="ctr">
                    <a:lnL w="9525" cap="flat" cmpd="sng" algn="ctr">
                      <a:solidFill>
                        <a:srgbClr val="26314F"/>
                      </a:solidFill>
                      <a:prstDash val="solid"/>
                      <a:round/>
                      <a:headEnd type="none" w="med" len="med"/>
                      <a:tailEnd type="none" w="med" len="med"/>
                    </a:lnL>
                    <a:lnR w="9525" cap="flat" cmpd="sng" algn="ctr">
                      <a:solidFill>
                        <a:srgbClr val="26314F"/>
                      </a:solidFill>
                      <a:prstDash val="solid"/>
                      <a:round/>
                      <a:headEnd type="none" w="med" len="med"/>
                      <a:tailEnd type="none" w="med" len="med"/>
                    </a:lnR>
                    <a:lnT w="9525" cap="flat" cmpd="sng" algn="ctr">
                      <a:solidFill>
                        <a:srgbClr val="26314F"/>
                      </a:solidFill>
                      <a:prstDash val="solid"/>
                      <a:round/>
                      <a:headEnd type="none" w="med" len="med"/>
                      <a:tailEnd type="none" w="med" len="med"/>
                    </a:lnT>
                    <a:lnB w="9525" cap="flat" cmpd="sng" algn="ctr">
                      <a:solidFill>
                        <a:srgbClr val="26314F"/>
                      </a:solidFill>
                      <a:prstDash val="solid"/>
                      <a:round/>
                      <a:headEnd type="none" w="med" len="med"/>
                      <a:tailEnd type="none" w="med" len="med"/>
                    </a:lnB>
                    <a:solidFill>
                      <a:srgbClr val="111831"/>
                    </a:solidFill>
                  </a:tcPr>
                </a:tc>
                <a:tc>
                  <a:txBody>
                    <a:bodyPr/>
                    <a:lstStyle/>
                    <a:p>
                      <a:pPr indent="0" marL="0">
                        <a:buNone/>
                      </a:pPr>
                      <a:r>
                        <a:rPr lang="en-US" sz="1200" dirty="0">
                          <a:solidFill>
                            <a:srgbClr val="9AA4BD"/>
                          </a:solidFill>
                          <a:latin typeface="Calibri" pitchFamily="34" charset="0"/>
                          <a:ea typeface="Calibri" pitchFamily="34" charset="-122"/>
                          <a:cs typeface="Calibri" pitchFamily="34" charset="-120"/>
                        </a:rPr>
                        <a:t>3,090 orders × ₹30 if all redeem; break-even at ₹256 × 55% − ₹30 per extra order</a:t>
                      </a:r>
                      <a:endParaRPr lang="en-US" sz="1200" dirty="0">
                        <a:latin typeface="Calibri" charset="0"/>
                        <a:ea typeface="Calibri" charset="0"/>
                        <a:cs typeface="Calibri" charset="0"/>
                      </a:endParaRPr>
                    </a:p>
                  </a:txBody>
                  <a:tcPr marL="109728" marR="109728" marT="54864" marB="54864" anchor="ctr">
                    <a:lnL w="9525" cap="flat" cmpd="sng" algn="ctr">
                      <a:solidFill>
                        <a:srgbClr val="26314F"/>
                      </a:solidFill>
                      <a:prstDash val="solid"/>
                      <a:round/>
                      <a:headEnd type="none" w="med" len="med"/>
                      <a:tailEnd type="none" w="med" len="med"/>
                    </a:lnL>
                    <a:lnR w="9525" cap="flat" cmpd="sng" algn="ctr">
                      <a:solidFill>
                        <a:srgbClr val="26314F"/>
                      </a:solidFill>
                      <a:prstDash val="solid"/>
                      <a:round/>
                      <a:headEnd type="none" w="med" len="med"/>
                      <a:tailEnd type="none" w="med" len="med"/>
                    </a:lnR>
                    <a:lnT w="9525" cap="flat" cmpd="sng" algn="ctr">
                      <a:solidFill>
                        <a:srgbClr val="26314F"/>
                      </a:solidFill>
                      <a:prstDash val="solid"/>
                      <a:round/>
                      <a:headEnd type="none" w="med" len="med"/>
                      <a:tailEnd type="none" w="med" len="med"/>
                    </a:lnT>
                    <a:lnB w="9525" cap="flat" cmpd="sng" algn="ctr">
                      <a:solidFill>
                        <a:srgbClr val="26314F"/>
                      </a:solidFill>
                      <a:prstDash val="solid"/>
                      <a:round/>
                      <a:headEnd type="none" w="med" len="med"/>
                      <a:tailEnd type="none" w="med" len="med"/>
                    </a:lnB>
                    <a:solidFill>
                      <a:srgbClr val="111831"/>
                    </a:solidFill>
                  </a:tcPr>
                </a:tc>
              </a:tr>
              <a:tr h="566928">
                <a:tc>
                  <a:txBody>
                    <a:bodyPr/>
                    <a:lstStyle/>
                    <a:p>
                      <a:pPr indent="0" marL="0">
                        <a:buNone/>
                      </a:pPr>
                      <a:r>
                        <a:rPr lang="en-US" sz="1200" dirty="0">
                          <a:solidFill>
                            <a:srgbClr val="E7EBF3"/>
                          </a:solidFill>
                          <a:latin typeface="Calibri" pitchFamily="34" charset="0"/>
                          <a:ea typeface="Calibri" pitchFamily="34" charset="-122"/>
                          <a:cs typeface="Calibri" pitchFamily="34" charset="-120"/>
                        </a:rPr>
                        <a:t>+₹1,133 · ₹213 · 11% · +₹529</a:t>
                      </a:r>
                      <a:endParaRPr lang="en-US" sz="1200" dirty="0">
                        <a:latin typeface="Calibri" charset="0"/>
                        <a:ea typeface="Calibri" charset="0"/>
                        <a:cs typeface="Calibri" charset="0"/>
                      </a:endParaRPr>
                    </a:p>
                  </a:txBody>
                  <a:tcPr marL="109728" marR="109728" marT="54864" marB="54864" anchor="ctr">
                    <a:lnL w="9525" cap="flat" cmpd="sng" algn="ctr">
                      <a:solidFill>
                        <a:srgbClr val="26314F"/>
                      </a:solidFill>
                      <a:prstDash val="solid"/>
                      <a:round/>
                      <a:headEnd type="none" w="med" len="med"/>
                      <a:tailEnd type="none" w="med" len="med"/>
                    </a:lnL>
                    <a:lnR w="9525" cap="flat" cmpd="sng" algn="ctr">
                      <a:solidFill>
                        <a:srgbClr val="26314F"/>
                      </a:solidFill>
                      <a:prstDash val="solid"/>
                      <a:round/>
                      <a:headEnd type="none" w="med" len="med"/>
                      <a:tailEnd type="none" w="med" len="med"/>
                    </a:lnR>
                    <a:lnT w="9525" cap="flat" cmpd="sng" algn="ctr">
                      <a:solidFill>
                        <a:srgbClr val="26314F"/>
                      </a:solidFill>
                      <a:prstDash val="solid"/>
                      <a:round/>
                      <a:headEnd type="none" w="med" len="med"/>
                      <a:tailEnd type="none" w="med" len="med"/>
                    </a:lnT>
                    <a:lnB w="9525" cap="flat" cmpd="sng" algn="ctr">
                      <a:solidFill>
                        <a:srgbClr val="26314F"/>
                      </a:solidFill>
                      <a:prstDash val="solid"/>
                      <a:round/>
                      <a:headEnd type="none" w="med" len="med"/>
                      <a:tailEnd type="none" w="med" len="med"/>
                    </a:lnB>
                    <a:solidFill>
                      <a:srgbClr val="111831"/>
                    </a:solidFill>
                  </a:tcPr>
                </a:tc>
                <a:tc>
                  <a:txBody>
                    <a:bodyPr/>
                    <a:lstStyle/>
                    <a:p>
                      <a:pPr indent="0" marL="0">
                        <a:buNone/>
                      </a:pPr>
                      <a:r>
                        <a:rPr lang="en-US" sz="1200" b="1" dirty="0">
                          <a:solidFill>
                            <a:srgbClr val="9AA4BD"/>
                          </a:solidFill>
                          <a:latin typeface="Calibri" pitchFamily="34" charset="0"/>
                          <a:ea typeface="Calibri" pitchFamily="34" charset="-122"/>
                          <a:cs typeface="Calibri" pitchFamily="34" charset="-120"/>
                        </a:rPr>
                        <a:t>Estimate</a:t>
                      </a:r>
                      <a:endParaRPr lang="en-US" sz="1200" dirty="0">
                        <a:latin typeface="Calibri" charset="0"/>
                        <a:ea typeface="Calibri" charset="0"/>
                        <a:cs typeface="Calibri" charset="0"/>
                      </a:endParaRPr>
                    </a:p>
                  </a:txBody>
                  <a:tcPr marL="109728" marR="109728" marT="54864" marB="54864" anchor="ctr">
                    <a:lnL w="9525" cap="flat" cmpd="sng" algn="ctr">
                      <a:solidFill>
                        <a:srgbClr val="26314F"/>
                      </a:solidFill>
                      <a:prstDash val="solid"/>
                      <a:round/>
                      <a:headEnd type="none" w="med" len="med"/>
                      <a:tailEnd type="none" w="med" len="med"/>
                    </a:lnL>
                    <a:lnR w="9525" cap="flat" cmpd="sng" algn="ctr">
                      <a:solidFill>
                        <a:srgbClr val="26314F"/>
                      </a:solidFill>
                      <a:prstDash val="solid"/>
                      <a:round/>
                      <a:headEnd type="none" w="med" len="med"/>
                      <a:tailEnd type="none" w="med" len="med"/>
                    </a:lnR>
                    <a:lnT w="9525" cap="flat" cmpd="sng" algn="ctr">
                      <a:solidFill>
                        <a:srgbClr val="26314F"/>
                      </a:solidFill>
                      <a:prstDash val="solid"/>
                      <a:round/>
                      <a:headEnd type="none" w="med" len="med"/>
                      <a:tailEnd type="none" w="med" len="med"/>
                    </a:lnT>
                    <a:lnB w="9525" cap="flat" cmpd="sng" algn="ctr">
                      <a:solidFill>
                        <a:srgbClr val="26314F"/>
                      </a:solidFill>
                      <a:prstDash val="solid"/>
                      <a:round/>
                      <a:headEnd type="none" w="med" len="med"/>
                      <a:tailEnd type="none" w="med" len="med"/>
                    </a:lnB>
                    <a:solidFill>
                      <a:srgbClr val="111831"/>
                    </a:solidFill>
                  </a:tcPr>
                </a:tc>
                <a:tc>
                  <a:txBody>
                    <a:bodyPr/>
                    <a:lstStyle/>
                    <a:p>
                      <a:pPr indent="0" marL="0">
                        <a:buNone/>
                      </a:pPr>
                      <a:r>
                        <a:rPr lang="en-US" sz="1200" dirty="0">
                          <a:solidFill>
                            <a:srgbClr val="9AA4BD"/>
                          </a:solidFill>
                          <a:latin typeface="Calibri" pitchFamily="34" charset="0"/>
                          <a:ea typeface="Calibri" pitchFamily="34" charset="-122"/>
                          <a:cs typeface="Calibri" pitchFamily="34" charset="-120"/>
                        </a:rPr>
                        <a:t>campaignEconomics for 27 customers, 14 days; baseline 10%, uplift +20 pts, 85% redemption, 55% margin</a:t>
                      </a:r>
                      <a:endParaRPr lang="en-US" sz="1200" dirty="0">
                        <a:latin typeface="Calibri" charset="0"/>
                        <a:ea typeface="Calibri" charset="0"/>
                        <a:cs typeface="Calibri" charset="0"/>
                      </a:endParaRPr>
                    </a:p>
                  </a:txBody>
                  <a:tcPr marL="109728" marR="109728" marT="54864" marB="54864" anchor="ctr">
                    <a:lnL w="9525" cap="flat" cmpd="sng" algn="ctr">
                      <a:solidFill>
                        <a:srgbClr val="26314F"/>
                      </a:solidFill>
                      <a:prstDash val="solid"/>
                      <a:round/>
                      <a:headEnd type="none" w="med" len="med"/>
                      <a:tailEnd type="none" w="med" len="med"/>
                    </a:lnL>
                    <a:lnR w="9525" cap="flat" cmpd="sng" algn="ctr">
                      <a:solidFill>
                        <a:srgbClr val="26314F"/>
                      </a:solidFill>
                      <a:prstDash val="solid"/>
                      <a:round/>
                      <a:headEnd type="none" w="med" len="med"/>
                      <a:tailEnd type="none" w="med" len="med"/>
                    </a:lnR>
                    <a:lnT w="9525" cap="flat" cmpd="sng" algn="ctr">
                      <a:solidFill>
                        <a:srgbClr val="26314F"/>
                      </a:solidFill>
                      <a:prstDash val="solid"/>
                      <a:round/>
                      <a:headEnd type="none" w="med" len="med"/>
                      <a:tailEnd type="none" w="med" len="med"/>
                    </a:lnT>
                    <a:lnB w="9525" cap="flat" cmpd="sng" algn="ctr">
                      <a:solidFill>
                        <a:srgbClr val="26314F"/>
                      </a:solidFill>
                      <a:prstDash val="solid"/>
                      <a:round/>
                      <a:headEnd type="none" w="med" len="med"/>
                      <a:tailEnd type="none" w="med" len="med"/>
                    </a:lnB>
                    <a:solidFill>
                      <a:srgbClr val="111831"/>
                    </a:solidFill>
                  </a:tcPr>
                </a:tc>
              </a:tr>
              <a:tr h="566928">
                <a:tc>
                  <a:txBody>
                    <a:bodyPr/>
                    <a:lstStyle/>
                    <a:p>
                      <a:pPr indent="0" marL="0">
                        <a:buNone/>
                      </a:pPr>
                      <a:r>
                        <a:rPr lang="en-US" sz="1200" dirty="0">
                          <a:solidFill>
                            <a:srgbClr val="E7EBF3"/>
                          </a:solidFill>
                          <a:latin typeface="Calibri" pitchFamily="34" charset="0"/>
                          <a:ea typeface="Calibri" pitchFamily="34" charset="-122"/>
                          <a:cs typeface="Calibri" pitchFamily="34" charset="-120"/>
                        </a:rPr>
                        <a:t>4 of 27 vs 0 of 7 · +₹863</a:t>
                      </a:r>
                      <a:endParaRPr lang="en-US" sz="1200" dirty="0">
                        <a:latin typeface="Calibri" charset="0"/>
                        <a:ea typeface="Calibri" charset="0"/>
                        <a:cs typeface="Calibri" charset="0"/>
                      </a:endParaRPr>
                    </a:p>
                  </a:txBody>
                  <a:tcPr marL="109728" marR="109728" marT="54864" marB="54864" anchor="ctr">
                    <a:lnL w="9525" cap="flat" cmpd="sng" algn="ctr">
                      <a:solidFill>
                        <a:srgbClr val="26314F"/>
                      </a:solidFill>
                      <a:prstDash val="solid"/>
                      <a:round/>
                      <a:headEnd type="none" w="med" len="med"/>
                      <a:tailEnd type="none" w="med" len="med"/>
                    </a:lnL>
                    <a:lnR w="9525" cap="flat" cmpd="sng" algn="ctr">
                      <a:solidFill>
                        <a:srgbClr val="26314F"/>
                      </a:solidFill>
                      <a:prstDash val="solid"/>
                      <a:round/>
                      <a:headEnd type="none" w="med" len="med"/>
                      <a:tailEnd type="none" w="med" len="med"/>
                    </a:lnR>
                    <a:lnT w="9525" cap="flat" cmpd="sng" algn="ctr">
                      <a:solidFill>
                        <a:srgbClr val="26314F"/>
                      </a:solidFill>
                      <a:prstDash val="solid"/>
                      <a:round/>
                      <a:headEnd type="none" w="med" len="med"/>
                      <a:tailEnd type="none" w="med" len="med"/>
                    </a:lnT>
                    <a:lnB w="9525" cap="flat" cmpd="sng" algn="ctr">
                      <a:solidFill>
                        <a:srgbClr val="26314F"/>
                      </a:solidFill>
                      <a:prstDash val="solid"/>
                      <a:round/>
                      <a:headEnd type="none" w="med" len="med"/>
                      <a:tailEnd type="none" w="med" len="med"/>
                    </a:lnB>
                    <a:solidFill>
                      <a:srgbClr val="111831"/>
                    </a:solidFill>
                  </a:tcPr>
                </a:tc>
                <a:tc>
                  <a:txBody>
                    <a:bodyPr/>
                    <a:lstStyle/>
                    <a:p>
                      <a:pPr indent="0" marL="0">
                        <a:buNone/>
                      </a:pPr>
                      <a:r>
                        <a:rPr lang="en-US" sz="1200" b="1" dirty="0">
                          <a:solidFill>
                            <a:srgbClr val="B4A0FC"/>
                          </a:solidFill>
                          <a:latin typeface="Calibri" pitchFamily="34" charset="0"/>
                          <a:ea typeface="Calibri" pitchFamily="34" charset="-122"/>
                          <a:cs typeface="Calibri" pitchFamily="34" charset="-120"/>
                        </a:rPr>
                        <a:t>Simulated</a:t>
                      </a:r>
                      <a:endParaRPr lang="en-US" sz="1200" dirty="0">
                        <a:latin typeface="Calibri" charset="0"/>
                        <a:ea typeface="Calibri" charset="0"/>
                        <a:cs typeface="Calibri" charset="0"/>
                      </a:endParaRPr>
                    </a:p>
                  </a:txBody>
                  <a:tcPr marL="109728" marR="109728" marT="54864" marB="54864" anchor="ctr">
                    <a:lnL w="9525" cap="flat" cmpd="sng" algn="ctr">
                      <a:solidFill>
                        <a:srgbClr val="26314F"/>
                      </a:solidFill>
                      <a:prstDash val="solid"/>
                      <a:round/>
                      <a:headEnd type="none" w="med" len="med"/>
                      <a:tailEnd type="none" w="med" len="med"/>
                    </a:lnL>
                    <a:lnR w="9525" cap="flat" cmpd="sng" algn="ctr">
                      <a:solidFill>
                        <a:srgbClr val="26314F"/>
                      </a:solidFill>
                      <a:prstDash val="solid"/>
                      <a:round/>
                      <a:headEnd type="none" w="med" len="med"/>
                      <a:tailEnd type="none" w="med" len="med"/>
                    </a:lnR>
                    <a:lnT w="9525" cap="flat" cmpd="sng" algn="ctr">
                      <a:solidFill>
                        <a:srgbClr val="26314F"/>
                      </a:solidFill>
                      <a:prstDash val="solid"/>
                      <a:round/>
                      <a:headEnd type="none" w="med" len="med"/>
                      <a:tailEnd type="none" w="med" len="med"/>
                    </a:lnT>
                    <a:lnB w="9525" cap="flat" cmpd="sng" algn="ctr">
                      <a:solidFill>
                        <a:srgbClr val="26314F"/>
                      </a:solidFill>
                      <a:prstDash val="solid"/>
                      <a:round/>
                      <a:headEnd type="none" w="med" len="med"/>
                      <a:tailEnd type="none" w="med" len="med"/>
                    </a:lnB>
                    <a:solidFill>
                      <a:srgbClr val="111831"/>
                    </a:solidFill>
                  </a:tcPr>
                </a:tc>
                <a:tc>
                  <a:txBody>
                    <a:bodyPr/>
                    <a:lstStyle/>
                    <a:p>
                      <a:pPr indent="0" marL="0">
                        <a:buNone/>
                      </a:pPr>
                      <a:r>
                        <a:rPr lang="en-US" sz="1200" dirty="0">
                          <a:solidFill>
                            <a:srgbClr val="9AA4BD"/>
                          </a:solidFill>
                          <a:latin typeface="Calibri" pitchFamily="34" charset="0"/>
                          <a:ea typeface="Calibri" pitchFamily="34" charset="-122"/>
                          <a:cs typeface="Calibri" pitchFamily="34" charset="-120"/>
                        </a:rPr>
                        <a:t>Rehearsed in-app run (seeded by approved configuration); not real customers</a:t>
                      </a:r>
                      <a:endParaRPr lang="en-US" sz="1200" dirty="0">
                        <a:latin typeface="Calibri" charset="0"/>
                        <a:ea typeface="Calibri" charset="0"/>
                        <a:cs typeface="Calibri" charset="0"/>
                      </a:endParaRPr>
                    </a:p>
                  </a:txBody>
                  <a:tcPr marL="109728" marR="109728" marT="54864" marB="54864" anchor="ctr">
                    <a:lnL w="9525" cap="flat" cmpd="sng" algn="ctr">
                      <a:solidFill>
                        <a:srgbClr val="26314F"/>
                      </a:solidFill>
                      <a:prstDash val="solid"/>
                      <a:round/>
                      <a:headEnd type="none" w="med" len="med"/>
                      <a:tailEnd type="none" w="med" len="med"/>
                    </a:lnL>
                    <a:lnR w="9525" cap="flat" cmpd="sng" algn="ctr">
                      <a:solidFill>
                        <a:srgbClr val="26314F"/>
                      </a:solidFill>
                      <a:prstDash val="solid"/>
                      <a:round/>
                      <a:headEnd type="none" w="med" len="med"/>
                      <a:tailEnd type="none" w="med" len="med"/>
                    </a:lnR>
                    <a:lnT w="9525" cap="flat" cmpd="sng" algn="ctr">
                      <a:solidFill>
                        <a:srgbClr val="26314F"/>
                      </a:solidFill>
                      <a:prstDash val="solid"/>
                      <a:round/>
                      <a:headEnd type="none" w="med" len="med"/>
                      <a:tailEnd type="none" w="med" len="med"/>
                    </a:lnT>
                    <a:lnB w="9525" cap="flat" cmpd="sng" algn="ctr">
                      <a:solidFill>
                        <a:srgbClr val="26314F"/>
                      </a:solidFill>
                      <a:prstDash val="solid"/>
                      <a:round/>
                      <a:headEnd type="none" w="med" len="med"/>
                      <a:tailEnd type="none" w="med" len="med"/>
                    </a:lnB>
                    <a:solidFill>
                      <a:srgbClr val="111831"/>
                    </a:solidFill>
                  </a:tcPr>
                </a:tc>
              </a:tr>
              <a:tr h="566928">
                <a:tc>
                  <a:txBody>
                    <a:bodyPr/>
                    <a:lstStyle/>
                    <a:p>
                      <a:pPr indent="0" marL="0">
                        <a:buNone/>
                      </a:pPr>
                      <a:r>
                        <a:rPr lang="en-US" sz="1200" dirty="0">
                          <a:solidFill>
                            <a:srgbClr val="E7EBF3"/>
                          </a:solidFill>
                          <a:latin typeface="Calibri" pitchFamily="34" charset="0"/>
                          <a:ea typeface="Calibri" pitchFamily="34" charset="-122"/>
                          <a:cs typeface="Calibri" pitchFamily="34" charset="-120"/>
                        </a:rPr>
                        <a:t>~13% power · 62 per group</a:t>
                      </a:r>
                      <a:endParaRPr lang="en-US" sz="1200" dirty="0">
                        <a:latin typeface="Calibri" charset="0"/>
                        <a:ea typeface="Calibri" charset="0"/>
                        <a:cs typeface="Calibri" charset="0"/>
                      </a:endParaRPr>
                    </a:p>
                  </a:txBody>
                  <a:tcPr marL="109728" marR="109728" marT="54864" marB="54864" anchor="ctr">
                    <a:lnL w="9525" cap="flat" cmpd="sng" algn="ctr">
                      <a:solidFill>
                        <a:srgbClr val="26314F"/>
                      </a:solidFill>
                      <a:prstDash val="solid"/>
                      <a:round/>
                      <a:headEnd type="none" w="med" len="med"/>
                      <a:tailEnd type="none" w="med" len="med"/>
                    </a:lnL>
                    <a:lnR w="9525" cap="flat" cmpd="sng" algn="ctr">
                      <a:solidFill>
                        <a:srgbClr val="26314F"/>
                      </a:solidFill>
                      <a:prstDash val="solid"/>
                      <a:round/>
                      <a:headEnd type="none" w="med" len="med"/>
                      <a:tailEnd type="none" w="med" len="med"/>
                    </a:lnR>
                    <a:lnT w="9525" cap="flat" cmpd="sng" algn="ctr">
                      <a:solidFill>
                        <a:srgbClr val="26314F"/>
                      </a:solidFill>
                      <a:prstDash val="solid"/>
                      <a:round/>
                      <a:headEnd type="none" w="med" len="med"/>
                      <a:tailEnd type="none" w="med" len="med"/>
                    </a:lnT>
                    <a:lnB w="9525" cap="flat" cmpd="sng" algn="ctr">
                      <a:solidFill>
                        <a:srgbClr val="26314F"/>
                      </a:solidFill>
                      <a:prstDash val="solid"/>
                      <a:round/>
                      <a:headEnd type="none" w="med" len="med"/>
                      <a:tailEnd type="none" w="med" len="med"/>
                    </a:lnB>
                    <a:solidFill>
                      <a:srgbClr val="111831"/>
                    </a:solidFill>
                  </a:tcPr>
                </a:tc>
                <a:tc>
                  <a:txBody>
                    <a:bodyPr/>
                    <a:lstStyle/>
                    <a:p>
                      <a:pPr indent="0" marL="0">
                        <a:buNone/>
                      </a:pPr>
                      <a:r>
                        <a:rPr lang="en-US" sz="1200" b="1" dirty="0">
                          <a:solidFill>
                            <a:srgbClr val="9AA4BD"/>
                          </a:solidFill>
                          <a:latin typeface="Calibri" pitchFamily="34" charset="0"/>
                          <a:ea typeface="Calibri" pitchFamily="34" charset="-122"/>
                          <a:cs typeface="Calibri" pitchFamily="34" charset="-120"/>
                        </a:rPr>
                        <a:t>Estimate</a:t>
                      </a:r>
                      <a:endParaRPr lang="en-US" sz="1200" dirty="0">
                        <a:latin typeface="Calibri" charset="0"/>
                        <a:ea typeface="Calibri" charset="0"/>
                        <a:cs typeface="Calibri" charset="0"/>
                      </a:endParaRPr>
                    </a:p>
                  </a:txBody>
                  <a:tcPr marL="109728" marR="109728" marT="54864" marB="54864" anchor="ctr">
                    <a:lnL w="9525" cap="flat" cmpd="sng" algn="ctr">
                      <a:solidFill>
                        <a:srgbClr val="26314F"/>
                      </a:solidFill>
                      <a:prstDash val="solid"/>
                      <a:round/>
                      <a:headEnd type="none" w="med" len="med"/>
                      <a:tailEnd type="none" w="med" len="med"/>
                    </a:lnL>
                    <a:lnR w="9525" cap="flat" cmpd="sng" algn="ctr">
                      <a:solidFill>
                        <a:srgbClr val="26314F"/>
                      </a:solidFill>
                      <a:prstDash val="solid"/>
                      <a:round/>
                      <a:headEnd type="none" w="med" len="med"/>
                      <a:tailEnd type="none" w="med" len="med"/>
                    </a:lnR>
                    <a:lnT w="9525" cap="flat" cmpd="sng" algn="ctr">
                      <a:solidFill>
                        <a:srgbClr val="26314F"/>
                      </a:solidFill>
                      <a:prstDash val="solid"/>
                      <a:round/>
                      <a:headEnd type="none" w="med" len="med"/>
                      <a:tailEnd type="none" w="med" len="med"/>
                    </a:lnT>
                    <a:lnB w="9525" cap="flat" cmpd="sng" algn="ctr">
                      <a:solidFill>
                        <a:srgbClr val="26314F"/>
                      </a:solidFill>
                      <a:prstDash val="solid"/>
                      <a:round/>
                      <a:headEnd type="none" w="med" len="med"/>
                      <a:tailEnd type="none" w="med" len="med"/>
                    </a:lnB>
                    <a:solidFill>
                      <a:srgbClr val="111831"/>
                    </a:solidFill>
                  </a:tcPr>
                </a:tc>
                <a:tc>
                  <a:txBody>
                    <a:bodyPr/>
                    <a:lstStyle/>
                    <a:p>
                      <a:pPr indent="0" marL="0">
                        <a:buNone/>
                      </a:pPr>
                      <a:r>
                        <a:rPr lang="en-US" sz="1200" dirty="0">
                          <a:solidFill>
                            <a:srgbClr val="9AA4BD"/>
                          </a:solidFill>
                          <a:latin typeface="Calibri" pitchFamily="34" charset="0"/>
                          <a:ea typeface="Calibri" pitchFamily="34" charset="-122"/>
                          <a:cs typeface="Calibri" pitchFamily="34" charset="-120"/>
                        </a:rPr>
                        <a:t>Two-proportion normal approximation, 10% → 30%, α = 0.05, 80% power</a:t>
                      </a:r>
                      <a:endParaRPr lang="en-US" sz="1200" dirty="0">
                        <a:latin typeface="Calibri" charset="0"/>
                        <a:ea typeface="Calibri" charset="0"/>
                        <a:cs typeface="Calibri" charset="0"/>
                      </a:endParaRPr>
                    </a:p>
                  </a:txBody>
                  <a:tcPr marL="109728" marR="109728" marT="54864" marB="54864" anchor="ctr">
                    <a:lnL w="9525" cap="flat" cmpd="sng" algn="ctr">
                      <a:solidFill>
                        <a:srgbClr val="26314F"/>
                      </a:solidFill>
                      <a:prstDash val="solid"/>
                      <a:round/>
                      <a:headEnd type="none" w="med" len="med"/>
                      <a:tailEnd type="none" w="med" len="med"/>
                    </a:lnL>
                    <a:lnR w="9525" cap="flat" cmpd="sng" algn="ctr">
                      <a:solidFill>
                        <a:srgbClr val="26314F"/>
                      </a:solidFill>
                      <a:prstDash val="solid"/>
                      <a:round/>
                      <a:headEnd type="none" w="med" len="med"/>
                      <a:tailEnd type="none" w="med" len="med"/>
                    </a:lnR>
                    <a:lnT w="9525" cap="flat" cmpd="sng" algn="ctr">
                      <a:solidFill>
                        <a:srgbClr val="26314F"/>
                      </a:solidFill>
                      <a:prstDash val="solid"/>
                      <a:round/>
                      <a:headEnd type="none" w="med" len="med"/>
                      <a:tailEnd type="none" w="med" len="med"/>
                    </a:lnT>
                    <a:lnB w="9525" cap="flat" cmpd="sng" algn="ctr">
                      <a:solidFill>
                        <a:srgbClr val="26314F"/>
                      </a:solidFill>
                      <a:prstDash val="solid"/>
                      <a:round/>
                      <a:headEnd type="none" w="med" len="med"/>
                      <a:tailEnd type="none" w="med" len="med"/>
                    </a:lnB>
                    <a:solidFill>
                      <a:srgbClr val="111831"/>
                    </a:solidFill>
                  </a:tcPr>
                </a:tc>
              </a:tr>
              <a:tr h="566928">
                <a:tc>
                  <a:txBody>
                    <a:bodyPr/>
                    <a:lstStyle/>
                    <a:p>
                      <a:pPr indent="0" marL="0">
                        <a:buNone/>
                      </a:pPr>
                      <a:r>
                        <a:rPr lang="en-US" sz="1200" dirty="0">
                          <a:solidFill>
                            <a:srgbClr val="E7EBF3"/>
                          </a:solidFill>
                          <a:latin typeface="Calibri" pitchFamily="34" charset="0"/>
                          <a:ea typeface="Calibri" pitchFamily="34" charset="-122"/>
                          <a:cs typeface="Calibri" pitchFamily="34" charset="-120"/>
                        </a:rPr>
                        <a:t>414 · 73 · 12/12 · 12/12</a:t>
                      </a:r>
                      <a:endParaRPr lang="en-US" sz="1200" dirty="0">
                        <a:latin typeface="Calibri" charset="0"/>
                        <a:ea typeface="Calibri" charset="0"/>
                        <a:cs typeface="Calibri" charset="0"/>
                      </a:endParaRPr>
                    </a:p>
                  </a:txBody>
                  <a:tcPr marL="109728" marR="109728" marT="54864" marB="54864" anchor="ctr">
                    <a:lnL w="9525" cap="flat" cmpd="sng" algn="ctr">
                      <a:solidFill>
                        <a:srgbClr val="26314F"/>
                      </a:solidFill>
                      <a:prstDash val="solid"/>
                      <a:round/>
                      <a:headEnd type="none" w="med" len="med"/>
                      <a:tailEnd type="none" w="med" len="med"/>
                    </a:lnL>
                    <a:lnR w="9525" cap="flat" cmpd="sng" algn="ctr">
                      <a:solidFill>
                        <a:srgbClr val="26314F"/>
                      </a:solidFill>
                      <a:prstDash val="solid"/>
                      <a:round/>
                      <a:headEnd type="none" w="med" len="med"/>
                      <a:tailEnd type="none" w="med" len="med"/>
                    </a:lnR>
                    <a:lnT w="9525" cap="flat" cmpd="sng" algn="ctr">
                      <a:solidFill>
                        <a:srgbClr val="26314F"/>
                      </a:solidFill>
                      <a:prstDash val="solid"/>
                      <a:round/>
                      <a:headEnd type="none" w="med" len="med"/>
                      <a:tailEnd type="none" w="med" len="med"/>
                    </a:lnT>
                    <a:lnB w="9525" cap="flat" cmpd="sng" algn="ctr">
                      <a:solidFill>
                        <a:srgbClr val="26314F"/>
                      </a:solidFill>
                      <a:prstDash val="solid"/>
                      <a:round/>
                      <a:headEnd type="none" w="med" len="med"/>
                      <a:tailEnd type="none" w="med" len="med"/>
                    </a:lnB>
                    <a:solidFill>
                      <a:srgbClr val="111831"/>
                    </a:solidFill>
                  </a:tcPr>
                </a:tc>
                <a:tc>
                  <a:txBody>
                    <a:bodyPr/>
                    <a:lstStyle/>
                    <a:p>
                      <a:pPr indent="0" marL="0">
                        <a:buNone/>
                      </a:pPr>
                      <a:r>
                        <a:rPr lang="en-US" sz="1200" b="1" dirty="0">
                          <a:solidFill>
                            <a:srgbClr val="34D399"/>
                          </a:solidFill>
                          <a:latin typeface="Calibri" pitchFamily="34" charset="0"/>
                          <a:ea typeface="Calibri" pitchFamily="34" charset="-122"/>
                          <a:cs typeface="Calibri" pitchFamily="34" charset="-120"/>
                        </a:rPr>
                        <a:t>Test result</a:t>
                      </a:r>
                      <a:endParaRPr lang="en-US" sz="1200" dirty="0">
                        <a:latin typeface="Calibri" charset="0"/>
                        <a:ea typeface="Calibri" charset="0"/>
                        <a:cs typeface="Calibri" charset="0"/>
                      </a:endParaRPr>
                    </a:p>
                  </a:txBody>
                  <a:tcPr marL="109728" marR="109728" marT="54864" marB="54864" anchor="ctr">
                    <a:lnL w="9525" cap="flat" cmpd="sng" algn="ctr">
                      <a:solidFill>
                        <a:srgbClr val="26314F"/>
                      </a:solidFill>
                      <a:prstDash val="solid"/>
                      <a:round/>
                      <a:headEnd type="none" w="med" len="med"/>
                      <a:tailEnd type="none" w="med" len="med"/>
                    </a:lnL>
                    <a:lnR w="9525" cap="flat" cmpd="sng" algn="ctr">
                      <a:solidFill>
                        <a:srgbClr val="26314F"/>
                      </a:solidFill>
                      <a:prstDash val="solid"/>
                      <a:round/>
                      <a:headEnd type="none" w="med" len="med"/>
                      <a:tailEnd type="none" w="med" len="med"/>
                    </a:lnR>
                    <a:lnT w="9525" cap="flat" cmpd="sng" algn="ctr">
                      <a:solidFill>
                        <a:srgbClr val="26314F"/>
                      </a:solidFill>
                      <a:prstDash val="solid"/>
                      <a:round/>
                      <a:headEnd type="none" w="med" len="med"/>
                      <a:tailEnd type="none" w="med" len="med"/>
                    </a:lnT>
                    <a:lnB w="9525" cap="flat" cmpd="sng" algn="ctr">
                      <a:solidFill>
                        <a:srgbClr val="26314F"/>
                      </a:solidFill>
                      <a:prstDash val="solid"/>
                      <a:round/>
                      <a:headEnd type="none" w="med" len="med"/>
                      <a:tailEnd type="none" w="med" len="med"/>
                    </a:lnB>
                    <a:solidFill>
                      <a:srgbClr val="111831"/>
                    </a:solidFill>
                  </a:tcPr>
                </a:tc>
                <a:tc>
                  <a:txBody>
                    <a:bodyPr/>
                    <a:lstStyle/>
                    <a:p>
                      <a:pPr indent="0" marL="0">
                        <a:buNone/>
                      </a:pPr>
                      <a:r>
                        <a:rPr lang="en-US" sz="1200" dirty="0">
                          <a:solidFill>
                            <a:srgbClr val="9AA4BD"/>
                          </a:solidFill>
                          <a:latin typeface="Calibri" pitchFamily="34" charset="0"/>
                          <a:ea typeface="Calibri" pitchFamily="34" charset="-122"/>
                          <a:cs typeface="Calibri" pitchFamily="34" charset="-120"/>
                        </a:rPr>
                        <a:t>Re-run on the current commit; live cases are synthetic scenarios</a:t>
                      </a:r>
                      <a:endParaRPr lang="en-US" sz="1200" dirty="0">
                        <a:latin typeface="Calibri" charset="0"/>
                        <a:ea typeface="Calibri" charset="0"/>
                        <a:cs typeface="Calibri" charset="0"/>
                      </a:endParaRPr>
                    </a:p>
                  </a:txBody>
                  <a:tcPr marL="109728" marR="109728" marT="54864" marB="54864" anchor="ctr">
                    <a:lnL w="9525" cap="flat" cmpd="sng" algn="ctr">
                      <a:solidFill>
                        <a:srgbClr val="26314F"/>
                      </a:solidFill>
                      <a:prstDash val="solid"/>
                      <a:round/>
                      <a:headEnd type="none" w="med" len="med"/>
                      <a:tailEnd type="none" w="med" len="med"/>
                    </a:lnL>
                    <a:lnR w="9525" cap="flat" cmpd="sng" algn="ctr">
                      <a:solidFill>
                        <a:srgbClr val="26314F"/>
                      </a:solidFill>
                      <a:prstDash val="solid"/>
                      <a:round/>
                      <a:headEnd type="none" w="med" len="med"/>
                      <a:tailEnd type="none" w="med" len="med"/>
                    </a:lnR>
                    <a:lnT w="9525" cap="flat" cmpd="sng" algn="ctr">
                      <a:solidFill>
                        <a:srgbClr val="26314F"/>
                      </a:solidFill>
                      <a:prstDash val="solid"/>
                      <a:round/>
                      <a:headEnd type="none" w="med" len="med"/>
                      <a:tailEnd type="none" w="med" len="med"/>
                    </a:lnT>
                    <a:lnB w="9525" cap="flat" cmpd="sng" algn="ctr">
                      <a:solidFill>
                        <a:srgbClr val="26314F"/>
                      </a:solidFill>
                      <a:prstDash val="solid"/>
                      <a:round/>
                      <a:headEnd type="none" w="med" len="med"/>
                      <a:tailEnd type="none" w="med" len="med"/>
                    </a:lnB>
                    <a:solidFill>
                      <a:srgbClr val="111831"/>
                    </a:solidFill>
                  </a:tcPr>
                </a:tc>
              </a:tr>
            </a:tbl>
          </a:graphicData>
        </a:graphic>
      </p:graphicFrame>
      <p:sp>
        <p:nvSpPr>
          <p:cNvPr id="5" name="Text 2"/>
          <p:cNvSpPr txBox="1"/>
          <p:nvPr/>
        </p:nvSpPr>
        <p:spPr>
          <a:xfrm>
            <a:off x="548640" y="5715000"/>
            <a:ext cx="7315200" cy="274320"/>
          </a:xfrm>
          <a:prstGeom prst="rect">
            <a:avLst/>
          </a:prstGeom>
          <a:noFill/>
          <a:ln/>
        </p:spPr>
        <p:txBody>
          <a:bodyPr wrap="square" lIns="0" tIns="0" rIns="0" bIns="0" rtlCol="0" anchor="t"/>
          <a:lstStyle/>
          <a:p>
            <a:pPr indent="0" marL="0">
              <a:buNone/>
            </a:pPr>
            <a:r>
              <a:rPr lang="en-US" sz="1150" i="1" dirty="0">
                <a:solidFill>
                  <a:srgbClr val="9AA4BD"/>
                </a:solidFill>
                <a:latin typeface="Calibri" pitchFamily="34" charset="0"/>
                <a:ea typeface="Calibri" pitchFamily="34" charset="-122"/>
                <a:cs typeface="Calibri" pitchFamily="34" charset="-120"/>
              </a:rPr>
              <a:t>Full claim-by-claim mapping: Pitch_Sources_and_Claims.md</a:t>
            </a:r>
            <a:endParaRPr lang="en-US" sz="1150" dirty="0"/>
          </a:p>
        </p:txBody>
      </p:sp>
      <p:sp>
        <p:nvSpPr>
          <p:cNvPr id="25" name="Slide Number Placeholder 0"/>
          <p:cNvSpPr>
            <a:spLocks noGrp="1"/>
          </p:cNvSpPr>
          <p:nvPr>
            <p:ph type="sldNum" sz="quarter" idx="4294967295"/>
          </p:nvPr>
        </p:nvSpPr>
        <p:spPr>
          <a:xfrm>
            <a:off x="11185855" y="647395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AA4BD"/>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DukaanPulse Midnight">
  <a:themeElements>
    <a:clrScheme name="DukaanPulse Midnight">
      <a:dk1>
        <a:srgbClr val="0A0F1E"/>
      </a:dk1>
      <a:lt1>
        <a:srgbClr val="E7EBF3"/>
      </a:lt1>
      <a:dk2>
        <a:srgbClr val="111831"/>
      </a:dk2>
      <a:lt2>
        <a:srgbClr val="9AA4BD"/>
      </a:lt2>
      <a:accent1>
        <a:srgbClr val="4C8DFF"/>
      </a:accent1>
      <a:accent2>
        <a:srgbClr val="B4A0FC"/>
      </a:accent2>
      <a:accent3>
        <a:srgbClr val="F5B544"/>
      </a:accent3>
      <a:accent4>
        <a:srgbClr val="34D399"/>
      </a:accent4>
      <a:accent5>
        <a:srgbClr val="F87171"/>
      </a:accent5>
      <a:accent6>
        <a:srgbClr val="18213F"/>
      </a:accent6>
      <a:hlink>
        <a:srgbClr val="4C8DFF"/>
      </a:hlink>
      <a:folHlink>
        <a:srgbClr val="B4A0FC"/>
      </a:folHlink>
    </a:clrScheme>
    <a:fontScheme name="DukaanPulse Midnigh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DukaanPulse AI — Merchant Growth AI pitch</dc:title>
  <dc:subject>Paytm Build for India AI Hackathon, Merchant Growth AI track</dc:subject>
  <dc:creator>DukaanPulse AI team</dc:creator>
  <cp:lastModifiedBy>DukaanPulse AI team</cp:lastModifiedBy>
  <cp:revision>1</cp:revision>
  <dcterms:created xsi:type="dcterms:W3CDTF">2026-10-26T01:26:30Z</dcterms:created>
  <dcterms:modified xsi:type="dcterms:W3CDTF">2026-10-26T01:26:30Z</dcterms:modified>
</cp:coreProperties>
</file>